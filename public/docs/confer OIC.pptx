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8.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2" r:id="rId1"/>
    <p:sldMasterId id="2147484014" r:id="rId2"/>
    <p:sldMasterId id="2147484181" r:id="rId3"/>
    <p:sldMasterId id="2147484193" r:id="rId4"/>
    <p:sldMasterId id="2147484205" r:id="rId5"/>
    <p:sldMasterId id="2147484217" r:id="rId6"/>
    <p:sldMasterId id="2147484264" r:id="rId7"/>
    <p:sldMasterId id="2147484288" r:id="rId8"/>
    <p:sldMasterId id="2147484341" r:id="rId9"/>
  </p:sldMasterIdLst>
  <p:notesMasterIdLst>
    <p:notesMasterId r:id="rId32"/>
  </p:notesMasterIdLst>
  <p:sldIdLst>
    <p:sldId id="351" r:id="rId10"/>
    <p:sldId id="308" r:id="rId11"/>
    <p:sldId id="318" r:id="rId12"/>
    <p:sldId id="347" r:id="rId13"/>
    <p:sldId id="348" r:id="rId14"/>
    <p:sldId id="349" r:id="rId15"/>
    <p:sldId id="325" r:id="rId16"/>
    <p:sldId id="337" r:id="rId17"/>
    <p:sldId id="314" r:id="rId18"/>
    <p:sldId id="339" r:id="rId19"/>
    <p:sldId id="331" r:id="rId20"/>
    <p:sldId id="340" r:id="rId21"/>
    <p:sldId id="320" r:id="rId22"/>
    <p:sldId id="321" r:id="rId23"/>
    <p:sldId id="322" r:id="rId24"/>
    <p:sldId id="323" r:id="rId25"/>
    <p:sldId id="324" r:id="rId26"/>
    <p:sldId id="341" r:id="rId27"/>
    <p:sldId id="342" r:id="rId28"/>
    <p:sldId id="343" r:id="rId29"/>
    <p:sldId id="344" r:id="rId30"/>
    <p:sldId id="312" r:id="rId31"/>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NE ALARCON AYALA" initials="RAA" lastIdx="2" clrIdx="0">
    <p:extLst>
      <p:ext uri="{19B8F6BF-5375-455C-9EA6-DF929625EA0E}">
        <p15:presenceInfo xmlns:p15="http://schemas.microsoft.com/office/powerpoint/2012/main" userId="RENE ALARCON AYA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4" autoAdjust="0"/>
    <p:restoredTop sz="90585" autoAdjust="0"/>
  </p:normalViewPr>
  <p:slideViewPr>
    <p:cSldViewPr snapToGrid="0">
      <p:cViewPr varScale="1">
        <p:scale>
          <a:sx n="73" d="100"/>
          <a:sy n="73" d="100"/>
        </p:scale>
        <p:origin x="9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21" Type="http://schemas.openxmlformats.org/officeDocument/2006/relationships/slide" Target="slides/slide12.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0D9505-190C-4CA2-A25A-0F982ED0500E}"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s-BO"/>
        </a:p>
      </dgm:t>
    </dgm:pt>
    <dgm:pt modelId="{AC925217-EC9A-4368-9953-9223A9D1437F}">
      <dgm:prSet phldrT="[Texto]"/>
      <dgm:spPr/>
      <dgm:t>
        <a:bodyPr/>
        <a:lstStyle/>
        <a:p>
          <a:pPr>
            <a:buClrTx/>
            <a:buSzTx/>
            <a:buFont typeface="+mj-lt"/>
            <a:buAutoNum type="arabicPeriod"/>
          </a:pPr>
          <a:r>
            <a:rPr kumimoji="0" lang="es-MX" b="0" i="0" u="none" strike="noStrike" cap="none" spc="0" normalizeH="0" baseline="0" noProof="0" dirty="0">
              <a:ln>
                <a:noFill/>
              </a:ln>
              <a:solidFill>
                <a:srgbClr val="000000"/>
              </a:solidFill>
              <a:effectLst/>
              <a:uLnTx/>
              <a:uFillTx/>
              <a:latin typeface="Cambria" panose="02040503050406030204" pitchFamily="18" charset="0"/>
              <a:ea typeface="+mn-ea"/>
              <a:cs typeface="+mn-cs"/>
            </a:rPr>
            <a:t>1. Fundamentos y principios teóricos que sustentan el protocolo </a:t>
          </a:r>
          <a:endParaRPr lang="es-BO" dirty="0"/>
        </a:p>
      </dgm:t>
    </dgm:pt>
    <dgm:pt modelId="{576A3961-10DF-4E26-A1AC-BA694C193C54}" type="parTrans" cxnId="{9F368CDB-1FA0-422C-AA0F-9F4FE0907DF0}">
      <dgm:prSet/>
      <dgm:spPr/>
      <dgm:t>
        <a:bodyPr/>
        <a:lstStyle/>
        <a:p>
          <a:endParaRPr lang="es-BO"/>
        </a:p>
      </dgm:t>
    </dgm:pt>
    <dgm:pt modelId="{0F8C4D93-74D1-4096-8A64-91687B12CE20}" type="sibTrans" cxnId="{9F368CDB-1FA0-422C-AA0F-9F4FE0907DF0}">
      <dgm:prSet/>
      <dgm:spPr/>
      <dgm:t>
        <a:bodyPr/>
        <a:lstStyle/>
        <a:p>
          <a:endParaRPr lang="es-BO"/>
        </a:p>
      </dgm:t>
    </dgm:pt>
    <dgm:pt modelId="{4B2280A7-9CD3-42BB-9398-B4EC501526AA}">
      <dgm:prSet phldrT="[Texto]"/>
      <dgm:spPr/>
      <dgm:t>
        <a:bodyPr/>
        <a:lstStyle/>
        <a:p>
          <a:pPr>
            <a:buClrTx/>
            <a:buSzTx/>
            <a:buFont typeface="+mj-lt"/>
            <a:buAutoNum type="arabicPeriod"/>
          </a:pPr>
          <a:r>
            <a:rPr kumimoji="0" lang="es-MX" b="0" i="0" u="none" strike="noStrike" cap="none" spc="0" normalizeH="0" baseline="0" noProof="0" dirty="0">
              <a:ln>
                <a:noFill/>
              </a:ln>
              <a:solidFill>
                <a:srgbClr val="000000"/>
              </a:solidFill>
              <a:effectLst/>
              <a:uLnTx/>
              <a:uFillTx/>
              <a:latin typeface="Cambria" panose="02040503050406030204" pitchFamily="18" charset="0"/>
              <a:ea typeface="+mn-ea"/>
              <a:cs typeface="+mn-cs"/>
            </a:rPr>
            <a:t>2. Lineamientos generales de coordinación y cooperación con la JIOC </a:t>
          </a:r>
          <a:endParaRPr lang="es-BO" dirty="0"/>
        </a:p>
      </dgm:t>
    </dgm:pt>
    <dgm:pt modelId="{67489609-74FA-4701-9698-C908DD60ED4E}" type="parTrans" cxnId="{12A1E43D-B6BC-4919-BF23-53A6472C6211}">
      <dgm:prSet/>
      <dgm:spPr/>
      <dgm:t>
        <a:bodyPr/>
        <a:lstStyle/>
        <a:p>
          <a:endParaRPr lang="es-BO"/>
        </a:p>
      </dgm:t>
    </dgm:pt>
    <dgm:pt modelId="{009BE713-3A0F-4010-A99A-F0D7A2D144E1}" type="sibTrans" cxnId="{12A1E43D-B6BC-4919-BF23-53A6472C6211}">
      <dgm:prSet/>
      <dgm:spPr/>
      <dgm:t>
        <a:bodyPr/>
        <a:lstStyle/>
        <a:p>
          <a:endParaRPr lang="es-BO"/>
        </a:p>
      </dgm:t>
    </dgm:pt>
    <dgm:pt modelId="{E42147F2-2AF0-439C-A4DF-38F8FBA62473}">
      <dgm:prSet phldrT="[Texto]"/>
      <dgm:spPr/>
      <dgm:t>
        <a:bodyPr/>
        <a:lstStyle/>
        <a:p>
          <a:pPr>
            <a:buClrTx/>
            <a:buSzTx/>
            <a:buFont typeface="+mj-lt"/>
            <a:buAutoNum type="arabicPeriod"/>
          </a:pPr>
          <a:r>
            <a:rPr kumimoji="0" lang="es-MX" b="0" i="0" u="none" strike="noStrike" cap="none" spc="0" normalizeH="0" baseline="0" noProof="0" dirty="0">
              <a:ln>
                <a:noFill/>
              </a:ln>
              <a:solidFill>
                <a:srgbClr val="000000"/>
              </a:solidFill>
              <a:effectLst/>
              <a:uLnTx/>
              <a:uFillTx/>
              <a:latin typeface="Cambria" panose="02040503050406030204" pitchFamily="18" charset="0"/>
              <a:ea typeface="+mn-ea"/>
              <a:cs typeface="+mn-cs"/>
            </a:rPr>
            <a:t>3, Lineamientos específicos para casos y situaciones concretas </a:t>
          </a:r>
          <a:endParaRPr lang="es-BO" dirty="0"/>
        </a:p>
      </dgm:t>
    </dgm:pt>
    <dgm:pt modelId="{D00EA355-60ED-49B8-A9ED-776352456CCA}" type="parTrans" cxnId="{5867C4AB-E153-4543-BE5C-7B45553CEFD4}">
      <dgm:prSet/>
      <dgm:spPr/>
      <dgm:t>
        <a:bodyPr/>
        <a:lstStyle/>
        <a:p>
          <a:endParaRPr lang="es-BO"/>
        </a:p>
      </dgm:t>
    </dgm:pt>
    <dgm:pt modelId="{FF825FEB-8F0F-4E2B-BAD1-484C0CA36A21}" type="sibTrans" cxnId="{5867C4AB-E153-4543-BE5C-7B45553CEFD4}">
      <dgm:prSet/>
      <dgm:spPr/>
      <dgm:t>
        <a:bodyPr/>
        <a:lstStyle/>
        <a:p>
          <a:endParaRPr lang="es-BO"/>
        </a:p>
      </dgm:t>
    </dgm:pt>
    <dgm:pt modelId="{10E6C731-0C0B-400A-B33B-BBF81E08974C}" type="pres">
      <dgm:prSet presAssocID="{670D9505-190C-4CA2-A25A-0F982ED0500E}" presName="rootnode" presStyleCnt="0">
        <dgm:presLayoutVars>
          <dgm:chMax/>
          <dgm:chPref/>
          <dgm:dir/>
          <dgm:animLvl val="lvl"/>
        </dgm:presLayoutVars>
      </dgm:prSet>
      <dgm:spPr/>
    </dgm:pt>
    <dgm:pt modelId="{52D46DAA-2280-433A-8C12-578E7DEA06F0}" type="pres">
      <dgm:prSet presAssocID="{AC925217-EC9A-4368-9953-9223A9D1437F}" presName="composite" presStyleCnt="0"/>
      <dgm:spPr/>
    </dgm:pt>
    <dgm:pt modelId="{5153F868-D073-42E2-BDC0-090AB13F9FFE}" type="pres">
      <dgm:prSet presAssocID="{AC925217-EC9A-4368-9953-9223A9D1437F}" presName="LShape" presStyleLbl="alignNode1" presStyleIdx="0" presStyleCnt="5"/>
      <dgm:spPr>
        <a:solidFill>
          <a:srgbClr val="FF0000"/>
        </a:solidFill>
      </dgm:spPr>
    </dgm:pt>
    <dgm:pt modelId="{01CC097F-6282-4E19-8042-3D8507756626}" type="pres">
      <dgm:prSet presAssocID="{AC925217-EC9A-4368-9953-9223A9D1437F}" presName="ParentText" presStyleLbl="revTx" presStyleIdx="0" presStyleCnt="3">
        <dgm:presLayoutVars>
          <dgm:chMax val="0"/>
          <dgm:chPref val="0"/>
          <dgm:bulletEnabled val="1"/>
        </dgm:presLayoutVars>
      </dgm:prSet>
      <dgm:spPr/>
    </dgm:pt>
    <dgm:pt modelId="{F615ADE9-5AC3-4ADC-AAC9-EA892FCD404F}" type="pres">
      <dgm:prSet presAssocID="{AC925217-EC9A-4368-9953-9223A9D1437F}" presName="Triangle" presStyleLbl="alignNode1" presStyleIdx="1" presStyleCnt="5"/>
      <dgm:spPr>
        <a:solidFill>
          <a:srgbClr val="FF0000"/>
        </a:solidFill>
        <a:ln>
          <a:solidFill>
            <a:srgbClr val="FF0000"/>
          </a:solidFill>
        </a:ln>
      </dgm:spPr>
    </dgm:pt>
    <dgm:pt modelId="{C1DA70AF-9D1C-4800-8A6B-DEC8EC49C815}" type="pres">
      <dgm:prSet presAssocID="{0F8C4D93-74D1-4096-8A64-91687B12CE20}" presName="sibTrans" presStyleCnt="0"/>
      <dgm:spPr/>
    </dgm:pt>
    <dgm:pt modelId="{ECC0E425-1C1C-4877-8523-5055603DD5CB}" type="pres">
      <dgm:prSet presAssocID="{0F8C4D93-74D1-4096-8A64-91687B12CE20}" presName="space" presStyleCnt="0"/>
      <dgm:spPr/>
    </dgm:pt>
    <dgm:pt modelId="{B9A85867-6CE7-469F-8137-6F0FF4BF6179}" type="pres">
      <dgm:prSet presAssocID="{4B2280A7-9CD3-42BB-9398-B4EC501526AA}" presName="composite" presStyleCnt="0"/>
      <dgm:spPr/>
    </dgm:pt>
    <dgm:pt modelId="{A2971825-8945-46EE-A3FE-7BC50DE150B1}" type="pres">
      <dgm:prSet presAssocID="{4B2280A7-9CD3-42BB-9398-B4EC501526AA}" presName="LShape" presStyleLbl="alignNode1" presStyleIdx="2" presStyleCnt="5"/>
      <dgm:spPr>
        <a:solidFill>
          <a:schemeClr val="tx1"/>
        </a:solidFill>
        <a:ln>
          <a:solidFill>
            <a:schemeClr val="tx1"/>
          </a:solidFill>
        </a:ln>
      </dgm:spPr>
    </dgm:pt>
    <dgm:pt modelId="{97BDA1AC-9745-4B44-B549-AF2B1FF21C1F}" type="pres">
      <dgm:prSet presAssocID="{4B2280A7-9CD3-42BB-9398-B4EC501526AA}" presName="ParentText" presStyleLbl="revTx" presStyleIdx="1" presStyleCnt="3">
        <dgm:presLayoutVars>
          <dgm:chMax val="0"/>
          <dgm:chPref val="0"/>
          <dgm:bulletEnabled val="1"/>
        </dgm:presLayoutVars>
      </dgm:prSet>
      <dgm:spPr/>
    </dgm:pt>
    <dgm:pt modelId="{6BECAB51-4235-48A3-A84B-330DD02A1B0F}" type="pres">
      <dgm:prSet presAssocID="{4B2280A7-9CD3-42BB-9398-B4EC501526AA}" presName="Triangle" presStyleLbl="alignNode1" presStyleIdx="3" presStyleCnt="5"/>
      <dgm:spPr>
        <a:solidFill>
          <a:srgbClr val="FFFF00"/>
        </a:solidFill>
        <a:ln>
          <a:solidFill>
            <a:srgbClr val="FFFF00"/>
          </a:solidFill>
        </a:ln>
      </dgm:spPr>
    </dgm:pt>
    <dgm:pt modelId="{3527B332-2159-418E-8C26-DEE78731281A}" type="pres">
      <dgm:prSet presAssocID="{009BE713-3A0F-4010-A99A-F0D7A2D144E1}" presName="sibTrans" presStyleCnt="0"/>
      <dgm:spPr/>
    </dgm:pt>
    <dgm:pt modelId="{DB8BB9FB-B221-4BE5-A0A3-6F16CF0EB6C3}" type="pres">
      <dgm:prSet presAssocID="{009BE713-3A0F-4010-A99A-F0D7A2D144E1}" presName="space" presStyleCnt="0"/>
      <dgm:spPr/>
    </dgm:pt>
    <dgm:pt modelId="{EADF1E2B-1956-4907-87B5-9B0EFFF8E23E}" type="pres">
      <dgm:prSet presAssocID="{E42147F2-2AF0-439C-A4DF-38F8FBA62473}" presName="composite" presStyleCnt="0"/>
      <dgm:spPr/>
    </dgm:pt>
    <dgm:pt modelId="{9FD5B004-83EE-4116-8FD6-9100EEA9F1EB}" type="pres">
      <dgm:prSet presAssocID="{E42147F2-2AF0-439C-A4DF-38F8FBA62473}" presName="LShape" presStyleLbl="alignNode1" presStyleIdx="4" presStyleCnt="5"/>
      <dgm:spPr>
        <a:solidFill>
          <a:srgbClr val="00B050"/>
        </a:solidFill>
        <a:ln>
          <a:solidFill>
            <a:srgbClr val="00B050"/>
          </a:solidFill>
        </a:ln>
      </dgm:spPr>
    </dgm:pt>
    <dgm:pt modelId="{E52159C7-F8A5-4E30-AC23-D646E960D21A}" type="pres">
      <dgm:prSet presAssocID="{E42147F2-2AF0-439C-A4DF-38F8FBA62473}" presName="ParentText" presStyleLbl="revTx" presStyleIdx="2" presStyleCnt="3">
        <dgm:presLayoutVars>
          <dgm:chMax val="0"/>
          <dgm:chPref val="0"/>
          <dgm:bulletEnabled val="1"/>
        </dgm:presLayoutVars>
      </dgm:prSet>
      <dgm:spPr/>
    </dgm:pt>
  </dgm:ptLst>
  <dgm:cxnLst>
    <dgm:cxn modelId="{12A1E43D-B6BC-4919-BF23-53A6472C6211}" srcId="{670D9505-190C-4CA2-A25A-0F982ED0500E}" destId="{4B2280A7-9CD3-42BB-9398-B4EC501526AA}" srcOrd="1" destOrd="0" parTransId="{67489609-74FA-4701-9698-C908DD60ED4E}" sibTransId="{009BE713-3A0F-4010-A99A-F0D7A2D144E1}"/>
    <dgm:cxn modelId="{2A4D4C72-BEAD-48EC-B4EE-C2710124A5EE}" type="presOf" srcId="{AC925217-EC9A-4368-9953-9223A9D1437F}" destId="{01CC097F-6282-4E19-8042-3D8507756626}" srcOrd="0" destOrd="0" presId="urn:microsoft.com/office/officeart/2009/3/layout/StepUpProcess"/>
    <dgm:cxn modelId="{9D71E855-2E7C-4CBA-9008-9329D13D443C}" type="presOf" srcId="{E42147F2-2AF0-439C-A4DF-38F8FBA62473}" destId="{E52159C7-F8A5-4E30-AC23-D646E960D21A}" srcOrd="0" destOrd="0" presId="urn:microsoft.com/office/officeart/2009/3/layout/StepUpProcess"/>
    <dgm:cxn modelId="{4977B97C-DD99-4E82-AB96-FBEF2B03A114}" type="presOf" srcId="{670D9505-190C-4CA2-A25A-0F982ED0500E}" destId="{10E6C731-0C0B-400A-B33B-BBF81E08974C}" srcOrd="0" destOrd="0" presId="urn:microsoft.com/office/officeart/2009/3/layout/StepUpProcess"/>
    <dgm:cxn modelId="{3D0779AA-C849-4440-A202-66FA5CCEDFDC}" type="presOf" srcId="{4B2280A7-9CD3-42BB-9398-B4EC501526AA}" destId="{97BDA1AC-9745-4B44-B549-AF2B1FF21C1F}" srcOrd="0" destOrd="0" presId="urn:microsoft.com/office/officeart/2009/3/layout/StepUpProcess"/>
    <dgm:cxn modelId="{5867C4AB-E153-4543-BE5C-7B45553CEFD4}" srcId="{670D9505-190C-4CA2-A25A-0F982ED0500E}" destId="{E42147F2-2AF0-439C-A4DF-38F8FBA62473}" srcOrd="2" destOrd="0" parTransId="{D00EA355-60ED-49B8-A9ED-776352456CCA}" sibTransId="{FF825FEB-8F0F-4E2B-BAD1-484C0CA36A21}"/>
    <dgm:cxn modelId="{9F368CDB-1FA0-422C-AA0F-9F4FE0907DF0}" srcId="{670D9505-190C-4CA2-A25A-0F982ED0500E}" destId="{AC925217-EC9A-4368-9953-9223A9D1437F}" srcOrd="0" destOrd="0" parTransId="{576A3961-10DF-4E26-A1AC-BA694C193C54}" sibTransId="{0F8C4D93-74D1-4096-8A64-91687B12CE20}"/>
    <dgm:cxn modelId="{401CE1D8-1C9C-4826-95F2-5C3E3F6F8F2D}" type="presParOf" srcId="{10E6C731-0C0B-400A-B33B-BBF81E08974C}" destId="{52D46DAA-2280-433A-8C12-578E7DEA06F0}" srcOrd="0" destOrd="0" presId="urn:microsoft.com/office/officeart/2009/3/layout/StepUpProcess"/>
    <dgm:cxn modelId="{7EA78D6A-6094-4150-8788-FB86AC1BF961}" type="presParOf" srcId="{52D46DAA-2280-433A-8C12-578E7DEA06F0}" destId="{5153F868-D073-42E2-BDC0-090AB13F9FFE}" srcOrd="0" destOrd="0" presId="urn:microsoft.com/office/officeart/2009/3/layout/StepUpProcess"/>
    <dgm:cxn modelId="{3F3B02A8-FA11-44B3-AB6A-CC2B3C9CA4A0}" type="presParOf" srcId="{52D46DAA-2280-433A-8C12-578E7DEA06F0}" destId="{01CC097F-6282-4E19-8042-3D8507756626}" srcOrd="1" destOrd="0" presId="urn:microsoft.com/office/officeart/2009/3/layout/StepUpProcess"/>
    <dgm:cxn modelId="{388151AA-31F7-4F16-B07A-C7EE7C4169BC}" type="presParOf" srcId="{52D46DAA-2280-433A-8C12-578E7DEA06F0}" destId="{F615ADE9-5AC3-4ADC-AAC9-EA892FCD404F}" srcOrd="2" destOrd="0" presId="urn:microsoft.com/office/officeart/2009/3/layout/StepUpProcess"/>
    <dgm:cxn modelId="{B636D3C4-0F5B-473D-BB02-D8322E8FBDE7}" type="presParOf" srcId="{10E6C731-0C0B-400A-B33B-BBF81E08974C}" destId="{C1DA70AF-9D1C-4800-8A6B-DEC8EC49C815}" srcOrd="1" destOrd="0" presId="urn:microsoft.com/office/officeart/2009/3/layout/StepUpProcess"/>
    <dgm:cxn modelId="{25450F51-8B4A-4A34-8103-A2C10E998A42}" type="presParOf" srcId="{C1DA70AF-9D1C-4800-8A6B-DEC8EC49C815}" destId="{ECC0E425-1C1C-4877-8523-5055603DD5CB}" srcOrd="0" destOrd="0" presId="urn:microsoft.com/office/officeart/2009/3/layout/StepUpProcess"/>
    <dgm:cxn modelId="{BC0F35FF-B847-4F02-9FD4-748DB75D9DA4}" type="presParOf" srcId="{10E6C731-0C0B-400A-B33B-BBF81E08974C}" destId="{B9A85867-6CE7-469F-8137-6F0FF4BF6179}" srcOrd="2" destOrd="0" presId="urn:microsoft.com/office/officeart/2009/3/layout/StepUpProcess"/>
    <dgm:cxn modelId="{095ABBD4-D0C7-4BA5-938F-4D61F570667F}" type="presParOf" srcId="{B9A85867-6CE7-469F-8137-6F0FF4BF6179}" destId="{A2971825-8945-46EE-A3FE-7BC50DE150B1}" srcOrd="0" destOrd="0" presId="urn:microsoft.com/office/officeart/2009/3/layout/StepUpProcess"/>
    <dgm:cxn modelId="{5DAAB5FC-86E0-427F-8C55-D97F169E063C}" type="presParOf" srcId="{B9A85867-6CE7-469F-8137-6F0FF4BF6179}" destId="{97BDA1AC-9745-4B44-B549-AF2B1FF21C1F}" srcOrd="1" destOrd="0" presId="urn:microsoft.com/office/officeart/2009/3/layout/StepUpProcess"/>
    <dgm:cxn modelId="{AD83E253-D9D9-441B-8739-0E11CD436FD7}" type="presParOf" srcId="{B9A85867-6CE7-469F-8137-6F0FF4BF6179}" destId="{6BECAB51-4235-48A3-A84B-330DD02A1B0F}" srcOrd="2" destOrd="0" presId="urn:microsoft.com/office/officeart/2009/3/layout/StepUpProcess"/>
    <dgm:cxn modelId="{01983898-2D60-4E26-BE9D-F7DDB08B8446}" type="presParOf" srcId="{10E6C731-0C0B-400A-B33B-BBF81E08974C}" destId="{3527B332-2159-418E-8C26-DEE78731281A}" srcOrd="3" destOrd="0" presId="urn:microsoft.com/office/officeart/2009/3/layout/StepUpProcess"/>
    <dgm:cxn modelId="{5111F02A-CB52-4CBB-B90F-91366A61405F}" type="presParOf" srcId="{3527B332-2159-418E-8C26-DEE78731281A}" destId="{DB8BB9FB-B221-4BE5-A0A3-6F16CF0EB6C3}" srcOrd="0" destOrd="0" presId="urn:microsoft.com/office/officeart/2009/3/layout/StepUpProcess"/>
    <dgm:cxn modelId="{B975623C-7F6B-4FC4-B42E-8726A280B9FB}" type="presParOf" srcId="{10E6C731-0C0B-400A-B33B-BBF81E08974C}" destId="{EADF1E2B-1956-4907-87B5-9B0EFFF8E23E}" srcOrd="4" destOrd="0" presId="urn:microsoft.com/office/officeart/2009/3/layout/StepUpProcess"/>
    <dgm:cxn modelId="{ABBABA3C-98EE-4B2C-9DC0-9D2380133F3E}" type="presParOf" srcId="{EADF1E2B-1956-4907-87B5-9B0EFFF8E23E}" destId="{9FD5B004-83EE-4116-8FD6-9100EEA9F1EB}" srcOrd="0" destOrd="0" presId="urn:microsoft.com/office/officeart/2009/3/layout/StepUpProcess"/>
    <dgm:cxn modelId="{0E6BC8C8-C257-482B-ABD8-E1DBA0F218FD}" type="presParOf" srcId="{EADF1E2B-1956-4907-87B5-9B0EFFF8E23E}" destId="{E52159C7-F8A5-4E30-AC23-D646E960D21A}" srcOrd="1" destOrd="0" presId="urn:microsoft.com/office/officeart/2009/3/layout/StepUpProcess"/>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5C5506-C1E6-45B6-9DFD-ED47E31BC4D2}"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s-BO"/>
        </a:p>
      </dgm:t>
    </dgm:pt>
    <dgm:pt modelId="{BD1BE9FD-1416-4CC3-BACD-964DF50C35D4}">
      <dgm:prSet phldrT="[Texto]" custT="1"/>
      <dgm:spPr>
        <a:solidFill>
          <a:schemeClr val="tx2">
            <a:lumMod val="10000"/>
            <a:lumOff val="90000"/>
          </a:schemeClr>
        </a:solidFill>
        <a:ln>
          <a:solidFill>
            <a:srgbClr val="FF0000"/>
          </a:solidFill>
        </a:ln>
      </dgm:spPr>
      <dgm:t>
        <a:bodyPr/>
        <a:lstStyle/>
        <a:p>
          <a:r>
            <a:rPr lang="es-BO"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Esta parte del presente documento es metodológica</a:t>
          </a:r>
          <a:r>
            <a:rPr lang="es-BO"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BO" sz="1600" dirty="0">
            <a:solidFill>
              <a:schemeClr val="tx1"/>
            </a:solidFill>
          </a:endParaRPr>
        </a:p>
      </dgm:t>
    </dgm:pt>
    <dgm:pt modelId="{919E0CDA-F691-4EB9-B08C-AD42BD1E66E2}" type="parTrans" cxnId="{4ED3967F-821E-466B-AF44-E54BECAA5D92}">
      <dgm:prSet/>
      <dgm:spPr/>
      <dgm:t>
        <a:bodyPr/>
        <a:lstStyle/>
        <a:p>
          <a:endParaRPr lang="es-BO"/>
        </a:p>
      </dgm:t>
    </dgm:pt>
    <dgm:pt modelId="{93AEC0CD-35FD-4C32-9AA4-C6D8C25DFA7A}" type="sibTrans" cxnId="{4ED3967F-821E-466B-AF44-E54BECAA5D92}">
      <dgm:prSet/>
      <dgm:spPr/>
      <dgm:t>
        <a:bodyPr/>
        <a:lstStyle/>
        <a:p>
          <a:endParaRPr lang="es-BO"/>
        </a:p>
      </dgm:t>
    </dgm:pt>
    <dgm:pt modelId="{D9FA8383-EA6D-4DA4-93C3-35AF0B8ED72B}">
      <dgm:prSet phldrT="[Texto]" phldr="1"/>
      <dgm:spPr/>
      <dgm:t>
        <a:bodyPr/>
        <a:lstStyle/>
        <a:p>
          <a:endParaRPr lang="es-BO"/>
        </a:p>
      </dgm:t>
    </dgm:pt>
    <dgm:pt modelId="{C7A7C413-F87C-4CB5-BFA4-D87B5458ED62}" type="parTrans" cxnId="{FDEED837-CA5A-4230-8D95-1F46FE6F27AD}">
      <dgm:prSet/>
      <dgm:spPr/>
      <dgm:t>
        <a:bodyPr/>
        <a:lstStyle/>
        <a:p>
          <a:endParaRPr lang="es-BO"/>
        </a:p>
      </dgm:t>
    </dgm:pt>
    <dgm:pt modelId="{3889B1C8-8472-48F0-90A9-F77DEF31CE77}" type="sibTrans" cxnId="{FDEED837-CA5A-4230-8D95-1F46FE6F27AD}">
      <dgm:prSet/>
      <dgm:spPr/>
      <dgm:t>
        <a:bodyPr/>
        <a:lstStyle/>
        <a:p>
          <a:endParaRPr lang="es-BO"/>
        </a:p>
      </dgm:t>
    </dgm:pt>
    <dgm:pt modelId="{872A3C80-44FA-40C9-A649-2BF22ABF9AD5}">
      <dgm:prSet phldrT="[Texto]" custT="1"/>
      <dgm:spPr>
        <a:solidFill>
          <a:srgbClr val="FFFF00"/>
        </a:solidFill>
      </dgm:spPr>
      <dgm:t>
        <a:bodyPr/>
        <a:lstStyle/>
        <a:p>
          <a:r>
            <a:rPr lang="es-BO"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porque está constituida por las pautas que deben ser seguidas por las autoridades jurisdiccionales a efecto de actuar</a:t>
          </a:r>
          <a:endParaRPr lang="es-BO" sz="1600" dirty="0">
            <a:solidFill>
              <a:schemeClr val="tx1"/>
            </a:solidFill>
            <a:latin typeface="Arial" panose="020B0604020202020204" pitchFamily="34" charset="0"/>
            <a:cs typeface="Arial" panose="020B0604020202020204" pitchFamily="34" charset="0"/>
          </a:endParaRPr>
        </a:p>
      </dgm:t>
    </dgm:pt>
    <dgm:pt modelId="{20302BA2-16DC-414A-BB2F-F820F7D80125}" type="parTrans" cxnId="{FFEB0E09-0158-46F5-B9CF-46845307E347}">
      <dgm:prSet/>
      <dgm:spPr/>
      <dgm:t>
        <a:bodyPr/>
        <a:lstStyle/>
        <a:p>
          <a:endParaRPr lang="es-BO"/>
        </a:p>
      </dgm:t>
    </dgm:pt>
    <dgm:pt modelId="{D59381C2-C590-4585-AB57-7271DE8DF95B}" type="sibTrans" cxnId="{FFEB0E09-0158-46F5-B9CF-46845307E347}">
      <dgm:prSet/>
      <dgm:spPr/>
      <dgm:t>
        <a:bodyPr/>
        <a:lstStyle/>
        <a:p>
          <a:endParaRPr lang="es-BO"/>
        </a:p>
      </dgm:t>
    </dgm:pt>
    <dgm:pt modelId="{B456B5CE-86D7-4171-916C-FF358A759210}">
      <dgm:prSet phldrT="[Texto]" phldr="1"/>
      <dgm:spPr/>
      <dgm:t>
        <a:bodyPr/>
        <a:lstStyle/>
        <a:p>
          <a:endParaRPr lang="es-BO" dirty="0"/>
        </a:p>
      </dgm:t>
    </dgm:pt>
    <dgm:pt modelId="{5F9B1416-70CB-46F0-8912-2CC2BAA77465}" type="parTrans" cxnId="{D2A54982-E160-4100-AEE4-184B04F2657E}">
      <dgm:prSet/>
      <dgm:spPr/>
      <dgm:t>
        <a:bodyPr/>
        <a:lstStyle/>
        <a:p>
          <a:endParaRPr lang="es-BO"/>
        </a:p>
      </dgm:t>
    </dgm:pt>
    <dgm:pt modelId="{413107DC-4B9E-49A1-9C00-6C5742DA95A2}" type="sibTrans" cxnId="{D2A54982-E160-4100-AEE4-184B04F2657E}">
      <dgm:prSet/>
      <dgm:spPr/>
      <dgm:t>
        <a:bodyPr/>
        <a:lstStyle/>
        <a:p>
          <a:endParaRPr lang="es-BO"/>
        </a:p>
      </dgm:t>
    </dgm:pt>
    <dgm:pt modelId="{6B89337D-909A-4E49-BEE9-A92C432666F4}">
      <dgm:prSet phldrT="[Texto]" custT="1"/>
      <dgm:spPr>
        <a:solidFill>
          <a:schemeClr val="accent3">
            <a:lumMod val="40000"/>
            <a:lumOff val="60000"/>
          </a:schemeClr>
        </a:solidFill>
      </dgm:spPr>
      <dgm:t>
        <a:bodyPr/>
        <a:lstStyle/>
        <a:p>
          <a:r>
            <a:rPr lang="es-MX"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en el marco de los principios y valores plurales, y el respeto a los derechos de las NPIOC </a:t>
          </a:r>
          <a:endParaRPr lang="es-BO" sz="1600" dirty="0">
            <a:solidFill>
              <a:schemeClr val="tx1"/>
            </a:solidFill>
            <a:latin typeface="Arial" panose="020B0604020202020204" pitchFamily="34" charset="0"/>
            <a:cs typeface="Arial" panose="020B0604020202020204" pitchFamily="34" charset="0"/>
          </a:endParaRPr>
        </a:p>
      </dgm:t>
    </dgm:pt>
    <dgm:pt modelId="{62D7872E-8E64-4083-8BCA-4F6DFB4B3687}" type="parTrans" cxnId="{AB88D769-3B17-49C7-9019-07419E2C61BC}">
      <dgm:prSet/>
      <dgm:spPr/>
      <dgm:t>
        <a:bodyPr/>
        <a:lstStyle/>
        <a:p>
          <a:endParaRPr lang="es-BO"/>
        </a:p>
      </dgm:t>
    </dgm:pt>
    <dgm:pt modelId="{AC70422B-644C-41F7-A176-D7067FE4D512}" type="sibTrans" cxnId="{AB88D769-3B17-49C7-9019-07419E2C61BC}">
      <dgm:prSet/>
      <dgm:spPr/>
      <dgm:t>
        <a:bodyPr/>
        <a:lstStyle/>
        <a:p>
          <a:endParaRPr lang="es-BO"/>
        </a:p>
      </dgm:t>
    </dgm:pt>
    <dgm:pt modelId="{DE2E753B-1D75-4487-AF5C-F55E159B2585}">
      <dgm:prSet phldrT="[Texto]" phldr="1"/>
      <dgm:spPr/>
      <dgm:t>
        <a:bodyPr/>
        <a:lstStyle/>
        <a:p>
          <a:endParaRPr lang="es-BO" dirty="0"/>
        </a:p>
      </dgm:t>
    </dgm:pt>
    <dgm:pt modelId="{553AE5AF-CC8B-40E9-BCDC-8F3404819154}" type="parTrans" cxnId="{8F7670EF-765B-41C7-B1E8-C449300361BA}">
      <dgm:prSet/>
      <dgm:spPr/>
      <dgm:t>
        <a:bodyPr/>
        <a:lstStyle/>
        <a:p>
          <a:endParaRPr lang="es-BO"/>
        </a:p>
      </dgm:t>
    </dgm:pt>
    <dgm:pt modelId="{AD18E919-F062-4E65-81AB-0D8DA803E8FF}" type="sibTrans" cxnId="{8F7670EF-765B-41C7-B1E8-C449300361BA}">
      <dgm:prSet/>
      <dgm:spPr/>
      <dgm:t>
        <a:bodyPr/>
        <a:lstStyle/>
        <a:p>
          <a:endParaRPr lang="es-BO"/>
        </a:p>
      </dgm:t>
    </dgm:pt>
    <dgm:pt modelId="{CBF6CF4B-32AE-487D-8CC1-41A0AA12C470}" type="pres">
      <dgm:prSet presAssocID="{615C5506-C1E6-45B6-9DFD-ED47E31BC4D2}" presName="rootnode" presStyleCnt="0">
        <dgm:presLayoutVars>
          <dgm:chMax/>
          <dgm:chPref/>
          <dgm:dir/>
          <dgm:animLvl val="lvl"/>
        </dgm:presLayoutVars>
      </dgm:prSet>
      <dgm:spPr/>
    </dgm:pt>
    <dgm:pt modelId="{BD0730B4-6B27-4F4F-850A-03502E8CB840}" type="pres">
      <dgm:prSet presAssocID="{BD1BE9FD-1416-4CC3-BACD-964DF50C35D4}" presName="composite" presStyleCnt="0"/>
      <dgm:spPr/>
    </dgm:pt>
    <dgm:pt modelId="{591792B2-7CD3-4D1B-A729-B9EC6A2F357E}" type="pres">
      <dgm:prSet presAssocID="{BD1BE9FD-1416-4CC3-BACD-964DF50C35D4}" presName="bentUpArrow1" presStyleLbl="alignImgPlace1" presStyleIdx="0" presStyleCnt="2" custLinFactNeighborX="-33355" custLinFactNeighborY="3783"/>
      <dgm:spPr>
        <a:solidFill>
          <a:srgbClr val="FF0000"/>
        </a:solidFill>
      </dgm:spPr>
    </dgm:pt>
    <dgm:pt modelId="{78BD24DC-AD34-4F6B-AF85-513E91529590}" type="pres">
      <dgm:prSet presAssocID="{BD1BE9FD-1416-4CC3-BACD-964DF50C35D4}" presName="ParentText" presStyleLbl="node1" presStyleIdx="0" presStyleCnt="3" custLinFactNeighborX="-60374" custLinFactNeighborY="-1882">
        <dgm:presLayoutVars>
          <dgm:chMax val="1"/>
          <dgm:chPref val="1"/>
          <dgm:bulletEnabled val="1"/>
        </dgm:presLayoutVars>
      </dgm:prSet>
      <dgm:spPr/>
    </dgm:pt>
    <dgm:pt modelId="{6B73BFCA-F606-43D5-9135-418572FBDCEB}" type="pres">
      <dgm:prSet presAssocID="{BD1BE9FD-1416-4CC3-BACD-964DF50C35D4}" presName="ChildText" presStyleLbl="revTx" presStyleIdx="0" presStyleCnt="3">
        <dgm:presLayoutVars>
          <dgm:chMax val="0"/>
          <dgm:chPref val="0"/>
          <dgm:bulletEnabled val="1"/>
        </dgm:presLayoutVars>
      </dgm:prSet>
      <dgm:spPr/>
    </dgm:pt>
    <dgm:pt modelId="{9CEA955C-36E1-4884-A484-23FCC7B0F40E}" type="pres">
      <dgm:prSet presAssocID="{93AEC0CD-35FD-4C32-9AA4-C6D8C25DFA7A}" presName="sibTrans" presStyleCnt="0"/>
      <dgm:spPr/>
    </dgm:pt>
    <dgm:pt modelId="{05D82925-6E51-4719-BCDC-3118A69BCE8E}" type="pres">
      <dgm:prSet presAssocID="{872A3C80-44FA-40C9-A649-2BF22ABF9AD5}" presName="composite" presStyleCnt="0"/>
      <dgm:spPr/>
    </dgm:pt>
    <dgm:pt modelId="{6E89632E-A06E-4A9E-BDBA-DA80FF964EAE}" type="pres">
      <dgm:prSet presAssocID="{872A3C80-44FA-40C9-A649-2BF22ABF9AD5}" presName="bentUpArrow1" presStyleLbl="alignImgPlace1" presStyleIdx="1" presStyleCnt="2" custScaleX="173311" custScaleY="81985" custLinFactNeighborX="-1637" custLinFactNeighborY="1240"/>
      <dgm:spPr>
        <a:solidFill>
          <a:srgbClr val="FF0000"/>
        </a:solidFill>
      </dgm:spPr>
    </dgm:pt>
    <dgm:pt modelId="{7C9D09E5-3B5E-4737-A2A6-071736BED228}" type="pres">
      <dgm:prSet presAssocID="{872A3C80-44FA-40C9-A649-2BF22ABF9AD5}" presName="ParentText" presStyleLbl="node1" presStyleIdx="1" presStyleCnt="3" custScaleX="165380" custScaleY="117101" custLinFactNeighborX="-31845" custLinFactNeighborY="-3792">
        <dgm:presLayoutVars>
          <dgm:chMax val="1"/>
          <dgm:chPref val="1"/>
          <dgm:bulletEnabled val="1"/>
        </dgm:presLayoutVars>
      </dgm:prSet>
      <dgm:spPr/>
    </dgm:pt>
    <dgm:pt modelId="{88BC219C-7A50-4688-AABD-F264498CA38E}" type="pres">
      <dgm:prSet presAssocID="{872A3C80-44FA-40C9-A649-2BF22ABF9AD5}" presName="ChildText" presStyleLbl="revTx" presStyleIdx="1" presStyleCnt="3" custLinFactNeighborX="31015" custLinFactNeighborY="-3518">
        <dgm:presLayoutVars>
          <dgm:chMax val="0"/>
          <dgm:chPref val="0"/>
          <dgm:bulletEnabled val="1"/>
        </dgm:presLayoutVars>
      </dgm:prSet>
      <dgm:spPr/>
    </dgm:pt>
    <dgm:pt modelId="{48B07A9C-D624-4216-AFA9-2B10FF3F1429}" type="pres">
      <dgm:prSet presAssocID="{D59381C2-C590-4585-AB57-7271DE8DF95B}" presName="sibTrans" presStyleCnt="0"/>
      <dgm:spPr/>
    </dgm:pt>
    <dgm:pt modelId="{CB56DDD3-9D0C-451E-8216-059B92674156}" type="pres">
      <dgm:prSet presAssocID="{6B89337D-909A-4E49-BEE9-A92C432666F4}" presName="composite" presStyleCnt="0"/>
      <dgm:spPr/>
    </dgm:pt>
    <dgm:pt modelId="{7561260F-9F38-41F3-B2ED-A4945F51D6A0}" type="pres">
      <dgm:prSet presAssocID="{6B89337D-909A-4E49-BEE9-A92C432666F4}" presName="ParentText" presStyleLbl="node1" presStyleIdx="2" presStyleCnt="3" custScaleX="148739" custScaleY="108492" custLinFactNeighborX="48330" custLinFactNeighborY="-10769">
        <dgm:presLayoutVars>
          <dgm:chMax val="1"/>
          <dgm:chPref val="1"/>
          <dgm:bulletEnabled val="1"/>
        </dgm:presLayoutVars>
      </dgm:prSet>
      <dgm:spPr/>
    </dgm:pt>
    <dgm:pt modelId="{80E8F401-7799-4D1B-89B1-587F422B2D5F}" type="pres">
      <dgm:prSet presAssocID="{6B89337D-909A-4E49-BEE9-A92C432666F4}" presName="FinalChildText" presStyleLbl="revTx" presStyleIdx="2" presStyleCnt="3" custLinFactX="14593" custLinFactNeighborX="100000" custLinFactNeighborY="-1416">
        <dgm:presLayoutVars>
          <dgm:chMax val="0"/>
          <dgm:chPref val="0"/>
          <dgm:bulletEnabled val="1"/>
        </dgm:presLayoutVars>
      </dgm:prSet>
      <dgm:spPr/>
    </dgm:pt>
  </dgm:ptLst>
  <dgm:cxnLst>
    <dgm:cxn modelId="{FFEB0E09-0158-46F5-B9CF-46845307E347}" srcId="{615C5506-C1E6-45B6-9DFD-ED47E31BC4D2}" destId="{872A3C80-44FA-40C9-A649-2BF22ABF9AD5}" srcOrd="1" destOrd="0" parTransId="{20302BA2-16DC-414A-BB2F-F820F7D80125}" sibTransId="{D59381C2-C590-4585-AB57-7271DE8DF95B}"/>
    <dgm:cxn modelId="{91EEFE36-A5A7-4384-8BF9-EAACEAAA4C24}" type="presOf" srcId="{615C5506-C1E6-45B6-9DFD-ED47E31BC4D2}" destId="{CBF6CF4B-32AE-487D-8CC1-41A0AA12C470}" srcOrd="0" destOrd="0" presId="urn:microsoft.com/office/officeart/2005/8/layout/StepDownProcess"/>
    <dgm:cxn modelId="{FDEED837-CA5A-4230-8D95-1F46FE6F27AD}" srcId="{BD1BE9FD-1416-4CC3-BACD-964DF50C35D4}" destId="{D9FA8383-EA6D-4DA4-93C3-35AF0B8ED72B}" srcOrd="0" destOrd="0" parTransId="{C7A7C413-F87C-4CB5-BFA4-D87B5458ED62}" sibTransId="{3889B1C8-8472-48F0-90A9-F77DEF31CE77}"/>
    <dgm:cxn modelId="{AB88D769-3B17-49C7-9019-07419E2C61BC}" srcId="{615C5506-C1E6-45B6-9DFD-ED47E31BC4D2}" destId="{6B89337D-909A-4E49-BEE9-A92C432666F4}" srcOrd="2" destOrd="0" parTransId="{62D7872E-8E64-4083-8BCA-4F6DFB4B3687}" sibTransId="{AC70422B-644C-41F7-A176-D7067FE4D512}"/>
    <dgm:cxn modelId="{C569FE4A-2353-4AB1-A4E3-363E138CF4E5}" type="presOf" srcId="{872A3C80-44FA-40C9-A649-2BF22ABF9AD5}" destId="{7C9D09E5-3B5E-4737-A2A6-071736BED228}" srcOrd="0" destOrd="0" presId="urn:microsoft.com/office/officeart/2005/8/layout/StepDownProcess"/>
    <dgm:cxn modelId="{E9AD7870-70E2-4061-A1F9-FB818BEC6CCC}" type="presOf" srcId="{DE2E753B-1D75-4487-AF5C-F55E159B2585}" destId="{80E8F401-7799-4D1B-89B1-587F422B2D5F}" srcOrd="0" destOrd="0" presId="urn:microsoft.com/office/officeart/2005/8/layout/StepDownProcess"/>
    <dgm:cxn modelId="{DC812176-4020-4478-BD5E-DA4CE12734E4}" type="presOf" srcId="{D9FA8383-EA6D-4DA4-93C3-35AF0B8ED72B}" destId="{6B73BFCA-F606-43D5-9135-418572FBDCEB}" srcOrd="0" destOrd="0" presId="urn:microsoft.com/office/officeart/2005/8/layout/StepDownProcess"/>
    <dgm:cxn modelId="{4ED3967F-821E-466B-AF44-E54BECAA5D92}" srcId="{615C5506-C1E6-45B6-9DFD-ED47E31BC4D2}" destId="{BD1BE9FD-1416-4CC3-BACD-964DF50C35D4}" srcOrd="0" destOrd="0" parTransId="{919E0CDA-F691-4EB9-B08C-AD42BD1E66E2}" sibTransId="{93AEC0CD-35FD-4C32-9AA4-C6D8C25DFA7A}"/>
    <dgm:cxn modelId="{D2A54982-E160-4100-AEE4-184B04F2657E}" srcId="{872A3C80-44FA-40C9-A649-2BF22ABF9AD5}" destId="{B456B5CE-86D7-4171-916C-FF358A759210}" srcOrd="0" destOrd="0" parTransId="{5F9B1416-70CB-46F0-8912-2CC2BAA77465}" sibTransId="{413107DC-4B9E-49A1-9C00-6C5742DA95A2}"/>
    <dgm:cxn modelId="{F5216B95-9B35-44F2-A7A5-455439A25DB3}" type="presOf" srcId="{B456B5CE-86D7-4171-916C-FF358A759210}" destId="{88BC219C-7A50-4688-AABD-F264498CA38E}" srcOrd="0" destOrd="0" presId="urn:microsoft.com/office/officeart/2005/8/layout/StepDownProcess"/>
    <dgm:cxn modelId="{F3961B97-98C9-4C7C-8105-2BCDBDD8DACF}" type="presOf" srcId="{6B89337D-909A-4E49-BEE9-A92C432666F4}" destId="{7561260F-9F38-41F3-B2ED-A4945F51D6A0}" srcOrd="0" destOrd="0" presId="urn:microsoft.com/office/officeart/2005/8/layout/StepDownProcess"/>
    <dgm:cxn modelId="{8F7670EF-765B-41C7-B1E8-C449300361BA}" srcId="{6B89337D-909A-4E49-BEE9-A92C432666F4}" destId="{DE2E753B-1D75-4487-AF5C-F55E159B2585}" srcOrd="0" destOrd="0" parTransId="{553AE5AF-CC8B-40E9-BCDC-8F3404819154}" sibTransId="{AD18E919-F062-4E65-81AB-0D8DA803E8FF}"/>
    <dgm:cxn modelId="{828463F8-597F-4DE3-89AC-090B7D41F353}" type="presOf" srcId="{BD1BE9FD-1416-4CC3-BACD-964DF50C35D4}" destId="{78BD24DC-AD34-4F6B-AF85-513E91529590}" srcOrd="0" destOrd="0" presId="urn:microsoft.com/office/officeart/2005/8/layout/StepDownProcess"/>
    <dgm:cxn modelId="{12CBB750-286E-42B2-84D2-CFA4247E3121}" type="presParOf" srcId="{CBF6CF4B-32AE-487D-8CC1-41A0AA12C470}" destId="{BD0730B4-6B27-4F4F-850A-03502E8CB840}" srcOrd="0" destOrd="0" presId="urn:microsoft.com/office/officeart/2005/8/layout/StepDownProcess"/>
    <dgm:cxn modelId="{4ACEE6AC-76BF-4881-B8AB-25755F0CA8AD}" type="presParOf" srcId="{BD0730B4-6B27-4F4F-850A-03502E8CB840}" destId="{591792B2-7CD3-4D1B-A729-B9EC6A2F357E}" srcOrd="0" destOrd="0" presId="urn:microsoft.com/office/officeart/2005/8/layout/StepDownProcess"/>
    <dgm:cxn modelId="{FEE87AA0-9E0F-45A8-9018-30B603FDB999}" type="presParOf" srcId="{BD0730B4-6B27-4F4F-850A-03502E8CB840}" destId="{78BD24DC-AD34-4F6B-AF85-513E91529590}" srcOrd="1" destOrd="0" presId="urn:microsoft.com/office/officeart/2005/8/layout/StepDownProcess"/>
    <dgm:cxn modelId="{56B8ACBC-9B7C-4FE9-B81C-1BB3B274D212}" type="presParOf" srcId="{BD0730B4-6B27-4F4F-850A-03502E8CB840}" destId="{6B73BFCA-F606-43D5-9135-418572FBDCEB}" srcOrd="2" destOrd="0" presId="urn:microsoft.com/office/officeart/2005/8/layout/StepDownProcess"/>
    <dgm:cxn modelId="{3E519DA4-BE20-49A7-91CD-8E0F5297F0E2}" type="presParOf" srcId="{CBF6CF4B-32AE-487D-8CC1-41A0AA12C470}" destId="{9CEA955C-36E1-4884-A484-23FCC7B0F40E}" srcOrd="1" destOrd="0" presId="urn:microsoft.com/office/officeart/2005/8/layout/StepDownProcess"/>
    <dgm:cxn modelId="{1150E2AB-AF8F-4328-8573-5BA96622EB4E}" type="presParOf" srcId="{CBF6CF4B-32AE-487D-8CC1-41A0AA12C470}" destId="{05D82925-6E51-4719-BCDC-3118A69BCE8E}" srcOrd="2" destOrd="0" presId="urn:microsoft.com/office/officeart/2005/8/layout/StepDownProcess"/>
    <dgm:cxn modelId="{BC32130E-0497-4175-98F1-8BAA4D739D79}" type="presParOf" srcId="{05D82925-6E51-4719-BCDC-3118A69BCE8E}" destId="{6E89632E-A06E-4A9E-BDBA-DA80FF964EAE}" srcOrd="0" destOrd="0" presId="urn:microsoft.com/office/officeart/2005/8/layout/StepDownProcess"/>
    <dgm:cxn modelId="{4FCCED2F-2F2F-4674-979A-E07E7B64E064}" type="presParOf" srcId="{05D82925-6E51-4719-BCDC-3118A69BCE8E}" destId="{7C9D09E5-3B5E-4737-A2A6-071736BED228}" srcOrd="1" destOrd="0" presId="urn:microsoft.com/office/officeart/2005/8/layout/StepDownProcess"/>
    <dgm:cxn modelId="{A425B8D6-AB9C-4ADF-B44A-734848E525F5}" type="presParOf" srcId="{05D82925-6E51-4719-BCDC-3118A69BCE8E}" destId="{88BC219C-7A50-4688-AABD-F264498CA38E}" srcOrd="2" destOrd="0" presId="urn:microsoft.com/office/officeart/2005/8/layout/StepDownProcess"/>
    <dgm:cxn modelId="{D43B0BF2-6A68-4611-B30D-249714E6AA7E}" type="presParOf" srcId="{CBF6CF4B-32AE-487D-8CC1-41A0AA12C470}" destId="{48B07A9C-D624-4216-AFA9-2B10FF3F1429}" srcOrd="3" destOrd="0" presId="urn:microsoft.com/office/officeart/2005/8/layout/StepDownProcess"/>
    <dgm:cxn modelId="{90C02CE9-949A-4573-95B9-A9AFEFBC7089}" type="presParOf" srcId="{CBF6CF4B-32AE-487D-8CC1-41A0AA12C470}" destId="{CB56DDD3-9D0C-451E-8216-059B92674156}" srcOrd="4" destOrd="0" presId="urn:microsoft.com/office/officeart/2005/8/layout/StepDownProcess"/>
    <dgm:cxn modelId="{496CD2CA-081B-4B17-938A-7DE67C9C0001}" type="presParOf" srcId="{CB56DDD3-9D0C-451E-8216-059B92674156}" destId="{7561260F-9F38-41F3-B2ED-A4945F51D6A0}" srcOrd="0" destOrd="0" presId="urn:microsoft.com/office/officeart/2005/8/layout/StepDownProcess"/>
    <dgm:cxn modelId="{AF58F8A4-C6FC-400F-BEDD-651CA08E061C}" type="presParOf" srcId="{CB56DDD3-9D0C-451E-8216-059B92674156}" destId="{80E8F401-7799-4D1B-89B1-587F422B2D5F}" srcOrd="1" destOrd="0" presId="urn:microsoft.com/office/officeart/2005/8/layout/StepDownProcess"/>
  </dgm:cxnLst>
  <dgm:bg>
    <a:solidFill>
      <a:schemeClr val="accent3"/>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6EF141-3A74-446A-9035-CEE4A8A442B3}"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s-BO"/>
        </a:p>
      </dgm:t>
    </dgm:pt>
    <dgm:pt modelId="{983A3EAD-C548-4AAD-AE88-ED4815A31786}">
      <dgm:prSet phldrT="[Texto]" custT="1"/>
      <dgm:spPr>
        <a:solidFill>
          <a:srgbClr val="FFFF00"/>
        </a:solidFill>
      </dgm:spPr>
      <dgm:t>
        <a:bodyPr/>
        <a:lstStyle/>
        <a:p>
          <a:pPr algn="just"/>
          <a:r>
            <a:rPr lang="es-BO" sz="1600" dirty="0">
              <a:solidFill>
                <a:schemeClr val="tx1"/>
              </a:solidFill>
              <a:latin typeface="Arial" panose="020B0604020202020204" pitchFamily="34" charset="0"/>
              <a:cs typeface="Arial" panose="020B0604020202020204" pitchFamily="34" charset="0"/>
            </a:rPr>
            <a:t>1</a:t>
          </a:r>
          <a:r>
            <a:rPr lang="es-BO" sz="1600" baseline="30000" dirty="0">
              <a:solidFill>
                <a:schemeClr val="tx1"/>
              </a:solidFill>
              <a:latin typeface="Arial" panose="020B0604020202020204" pitchFamily="34" charset="0"/>
              <a:cs typeface="Arial" panose="020B0604020202020204" pitchFamily="34" charset="0"/>
            </a:rPr>
            <a:t>ero</a:t>
          </a:r>
          <a:r>
            <a:rPr lang="es-BO" sz="1600" dirty="0">
              <a:solidFill>
                <a:schemeClr val="tx1"/>
              </a:solidFill>
              <a:latin typeface="Arial" panose="020B0604020202020204" pitchFamily="34" charset="0"/>
              <a:cs typeface="Arial" panose="020B0604020202020204" pitchFamily="34" charset="0"/>
            </a:rPr>
            <a:t> efectuar la construcción de </a:t>
          </a:r>
          <a:r>
            <a:rPr lang="es-BO" sz="1600" b="1" i="1" u="sng" dirty="0">
              <a:solidFill>
                <a:srgbClr val="FF0000"/>
              </a:solidFill>
              <a:latin typeface="Arial" panose="020B0604020202020204" pitchFamily="34" charset="0"/>
              <a:cs typeface="Arial" panose="020B0604020202020204" pitchFamily="34" charset="0"/>
            </a:rPr>
            <a:t>relaciones de igualdad y respeto </a:t>
          </a:r>
          <a:r>
            <a:rPr lang="es-BO" sz="1600" dirty="0">
              <a:solidFill>
                <a:schemeClr val="tx1"/>
              </a:solidFill>
              <a:latin typeface="Arial" panose="020B0604020202020204" pitchFamily="34" charset="0"/>
              <a:cs typeface="Arial" panose="020B0604020202020204" pitchFamily="34" charset="0"/>
            </a:rPr>
            <a:t>con las autoridades de la jurisdicción IOC y recabar la información básica.</a:t>
          </a:r>
        </a:p>
        <a:p>
          <a:pPr algn="ctr"/>
          <a:r>
            <a:rPr lang="es-BO" sz="1600" dirty="0">
              <a:solidFill>
                <a:schemeClr val="tx1"/>
              </a:solidFill>
              <a:latin typeface="Arial" panose="020B0604020202020204" pitchFamily="34" charset="0"/>
              <a:cs typeface="Arial" panose="020B0604020202020204" pitchFamily="34" charset="0"/>
            </a:rPr>
            <a:t>Autoridades jurisdiccionales cuando </a:t>
          </a:r>
          <a:r>
            <a:rPr lang="es-BO" sz="1600" b="1" i="1" dirty="0">
              <a:solidFill>
                <a:srgbClr val="FF0000"/>
              </a:solidFill>
              <a:latin typeface="Arial" panose="020B0604020202020204" pitchFamily="34" charset="0"/>
              <a:cs typeface="Arial" panose="020B0604020202020204" pitchFamily="34" charset="0"/>
            </a:rPr>
            <a:t>asumen funciones, en lugares próximos a la jurisdicción </a:t>
          </a:r>
          <a:r>
            <a:rPr lang="es-BO" sz="1600" dirty="0">
              <a:solidFill>
                <a:schemeClr val="tx1"/>
              </a:solidFill>
              <a:latin typeface="Arial" panose="020B0604020202020204" pitchFamily="34" charset="0"/>
              <a:cs typeface="Arial" panose="020B0604020202020204" pitchFamily="34" charset="0"/>
            </a:rPr>
            <a:t>de NPIOC. </a:t>
          </a:r>
        </a:p>
      </dgm:t>
    </dgm:pt>
    <dgm:pt modelId="{CD0D72F0-D04D-4306-9F57-0259DA2657B5}" type="parTrans" cxnId="{F3C0DB16-318D-40C4-B183-95CD93B2432F}">
      <dgm:prSet/>
      <dgm:spPr/>
      <dgm:t>
        <a:bodyPr/>
        <a:lstStyle/>
        <a:p>
          <a:endParaRPr lang="es-BO"/>
        </a:p>
      </dgm:t>
    </dgm:pt>
    <dgm:pt modelId="{B4136F81-C6CC-46BD-B9D3-5620B3D7E9C3}" type="sibTrans" cxnId="{F3C0DB16-318D-40C4-B183-95CD93B2432F}">
      <dgm:prSet/>
      <dgm:spPr/>
      <dgm:t>
        <a:bodyPr/>
        <a:lstStyle/>
        <a:p>
          <a:endParaRPr lang="es-BO"/>
        </a:p>
      </dgm:t>
    </dgm:pt>
    <dgm:pt modelId="{675AE4DB-1469-40EF-A10C-9FC24DBCFB76}">
      <dgm:prSet phldrT="[Texto]" custT="1"/>
      <dgm:spPr>
        <a:solidFill>
          <a:schemeClr val="bg1">
            <a:lumMod val="95000"/>
          </a:schemeClr>
        </a:solidFill>
      </dgm:spPr>
      <dgm:t>
        <a:bodyPr/>
        <a:lstStyle/>
        <a:p>
          <a:pPr>
            <a:buFont typeface="Symbol" panose="05050102010706020507" pitchFamily="18" charset="2"/>
            <a:buChar char=""/>
          </a:pPr>
          <a:r>
            <a:rPr lang="es-BO" sz="1600" dirty="0">
              <a:solidFill>
                <a:schemeClr val="tx1"/>
              </a:solidFill>
              <a:latin typeface="Arial" panose="020B0604020202020204" pitchFamily="34" charset="0"/>
              <a:cs typeface="Arial" panose="020B0604020202020204" pitchFamily="34" charset="0"/>
            </a:rPr>
            <a:t>2</a:t>
          </a:r>
          <a:r>
            <a:rPr lang="es-BO" sz="1600" baseline="30000" dirty="0">
              <a:solidFill>
                <a:schemeClr val="tx1"/>
              </a:solidFill>
              <a:latin typeface="Arial" panose="020B0604020202020204" pitchFamily="34" charset="0"/>
              <a:cs typeface="Arial" panose="020B0604020202020204" pitchFamily="34" charset="0"/>
            </a:rPr>
            <a:t>da</a:t>
          </a:r>
          <a:r>
            <a:rPr lang="es-BO" sz="1600" dirty="0">
              <a:solidFill>
                <a:schemeClr val="tx1"/>
              </a:solidFill>
              <a:latin typeface="Arial" panose="020B0604020202020204" pitchFamily="34" charset="0"/>
              <a:cs typeface="Arial" panose="020B0604020202020204" pitchFamily="34" charset="0"/>
            </a:rPr>
            <a:t> Lineamientos en procesos de jurisdicción ordinaria o agroambiental </a:t>
          </a:r>
          <a:r>
            <a:rPr lang="es-BO" sz="1600" b="1" i="1" dirty="0">
              <a:solidFill>
                <a:srgbClr val="FF0000"/>
              </a:solidFill>
              <a:latin typeface="Arial" panose="020B0604020202020204" pitchFamily="34" charset="0"/>
              <a:cs typeface="Arial" panose="020B0604020202020204" pitchFamily="34" charset="0"/>
            </a:rPr>
            <a:t>que involucren a miembros de NPIOC, </a:t>
          </a:r>
        </a:p>
        <a:p>
          <a:pPr>
            <a:buFont typeface="Symbol" panose="05050102010706020507" pitchFamily="18" charset="2"/>
            <a:buChar char=""/>
          </a:pPr>
          <a:r>
            <a:rPr lang="es-BO" sz="1600" dirty="0">
              <a:solidFill>
                <a:schemeClr val="tx1"/>
              </a:solidFill>
              <a:latin typeface="Arial" panose="020B0604020202020204" pitchFamily="34" charset="0"/>
              <a:cs typeface="Arial" panose="020B0604020202020204" pitchFamily="34" charset="0"/>
            </a:rPr>
            <a:t>y se ha construido a partir de </a:t>
          </a:r>
          <a:r>
            <a:rPr lang="es-BO" sz="1600" i="1" u="sng" dirty="0">
              <a:solidFill>
                <a:srgbClr val="FF0000"/>
              </a:solidFill>
              <a:latin typeface="Arial" panose="020B0604020202020204" pitchFamily="34" charset="0"/>
              <a:cs typeface="Arial" panose="020B0604020202020204" pitchFamily="34" charset="0"/>
            </a:rPr>
            <a:t>preguntas que tendría que formularse la autoridad jurisdiccional </a:t>
          </a:r>
          <a:r>
            <a:rPr lang="es-BO" sz="1600" dirty="0">
              <a:solidFill>
                <a:schemeClr val="tx1"/>
              </a:solidFill>
              <a:latin typeface="Arial" panose="020B0604020202020204" pitchFamily="34" charset="0"/>
              <a:cs typeface="Arial" panose="020B0604020202020204" pitchFamily="34" charset="0"/>
            </a:rPr>
            <a:t>a efecto de: </a:t>
          </a:r>
        </a:p>
      </dgm:t>
    </dgm:pt>
    <dgm:pt modelId="{3333EDED-5CCF-44AE-90D4-0FEE85BB31AA}" type="parTrans" cxnId="{6998033B-C5D5-409E-98A4-8B8653F8645D}">
      <dgm:prSet/>
      <dgm:spPr/>
      <dgm:t>
        <a:bodyPr/>
        <a:lstStyle/>
        <a:p>
          <a:endParaRPr lang="es-BO"/>
        </a:p>
      </dgm:t>
    </dgm:pt>
    <dgm:pt modelId="{AC5F3F63-D6FF-4278-83D9-4AB4711D47EB}" type="sibTrans" cxnId="{6998033B-C5D5-409E-98A4-8B8653F8645D}">
      <dgm:prSet/>
      <dgm:spPr/>
      <dgm:t>
        <a:bodyPr/>
        <a:lstStyle/>
        <a:p>
          <a:endParaRPr lang="es-BO"/>
        </a:p>
      </dgm:t>
    </dgm:pt>
    <dgm:pt modelId="{75699836-FA10-4FB6-AFE6-05BA7C34F746}">
      <dgm:prSet phldrT="[Texto]" custT="1"/>
      <dgm:spPr>
        <a:solidFill>
          <a:schemeClr val="accent2">
            <a:lumMod val="60000"/>
            <a:lumOff val="40000"/>
          </a:schemeClr>
        </a:solidFill>
      </dgm:spPr>
      <dgm:t>
        <a:bodyPr/>
        <a:lstStyle/>
        <a:p>
          <a:pPr>
            <a:buFont typeface="Symbol" panose="05050102010706020507" pitchFamily="18" charset="2"/>
            <a:buChar char=""/>
          </a:pPr>
          <a:r>
            <a:rPr lang="es-BO" sz="1400" b="1" dirty="0">
              <a:solidFill>
                <a:schemeClr val="tx1"/>
              </a:solidFill>
              <a:latin typeface="Arial" panose="020B0604020202020204" pitchFamily="34" charset="0"/>
              <a:cs typeface="Arial" panose="020B0604020202020204" pitchFamily="34" charset="0"/>
            </a:rPr>
            <a:t>3</a:t>
          </a:r>
          <a:r>
            <a:rPr lang="es-BO" sz="1400" b="1" baseline="30000" dirty="0">
              <a:solidFill>
                <a:schemeClr val="tx1"/>
              </a:solidFill>
              <a:latin typeface="Arial" panose="020B0604020202020204" pitchFamily="34" charset="0"/>
              <a:cs typeface="Arial" panose="020B0604020202020204" pitchFamily="34" charset="0"/>
            </a:rPr>
            <a:t>era</a:t>
          </a:r>
          <a:r>
            <a:rPr lang="es-BO" sz="1400" b="1" dirty="0">
              <a:solidFill>
                <a:schemeClr val="tx1"/>
              </a:solidFill>
              <a:latin typeface="Arial" panose="020B0604020202020204" pitchFamily="34" charset="0"/>
              <a:cs typeface="Arial" panose="020B0604020202020204" pitchFamily="34" charset="0"/>
            </a:rPr>
            <a:t> lineamientos, cuando se alegue lesión a derechos y garantías a través de las acciones de defensa, las cuales son conocidas por jueces y tribunales que si bien actúan como jueces constitucionales, provienen de la jurisdicción ordinaria y, en consecuencia, es necesario otorgar las herramientas necesarias para: </a:t>
          </a:r>
        </a:p>
      </dgm:t>
    </dgm:pt>
    <dgm:pt modelId="{057CE374-CF5B-4FD9-8D01-F897C050FA77}" type="parTrans" cxnId="{2D26A566-6171-4072-A4EB-66628F073219}">
      <dgm:prSet/>
      <dgm:spPr/>
      <dgm:t>
        <a:bodyPr/>
        <a:lstStyle/>
        <a:p>
          <a:endParaRPr lang="es-BO"/>
        </a:p>
      </dgm:t>
    </dgm:pt>
    <dgm:pt modelId="{F4D68D45-DC37-4DD6-9C4F-A1AB367FAF78}" type="sibTrans" cxnId="{2D26A566-6171-4072-A4EB-66628F073219}">
      <dgm:prSet/>
      <dgm:spPr/>
      <dgm:t>
        <a:bodyPr/>
        <a:lstStyle/>
        <a:p>
          <a:endParaRPr lang="es-BO"/>
        </a:p>
      </dgm:t>
    </dgm:pt>
    <dgm:pt modelId="{8C911F97-AE48-4F5F-BEDA-72C2AE7CBB73}">
      <dgm:prSet phldrT="[Texto]"/>
      <dgm:spPr/>
      <dgm:t>
        <a:bodyPr/>
        <a:lstStyle/>
        <a:p>
          <a:pPr>
            <a:buFont typeface="Symbol" panose="05050102010706020507" pitchFamily="18" charset="2"/>
            <a:buChar char=""/>
          </a:pPr>
          <a:r>
            <a:rPr lang="es-BO" dirty="0">
              <a:solidFill>
                <a:schemeClr val="tx1"/>
              </a:solidFill>
              <a:latin typeface="Arial" panose="020B0604020202020204" pitchFamily="34" charset="0"/>
              <a:cs typeface="Arial" panose="020B0604020202020204" pitchFamily="34" charset="0"/>
            </a:rPr>
            <a:t>4</a:t>
          </a:r>
          <a:r>
            <a:rPr lang="es-BO" baseline="30000" dirty="0">
              <a:solidFill>
                <a:schemeClr val="tx1"/>
              </a:solidFill>
              <a:latin typeface="Arial" panose="020B0604020202020204" pitchFamily="34" charset="0"/>
              <a:cs typeface="Arial" panose="020B0604020202020204" pitchFamily="34" charset="0"/>
            </a:rPr>
            <a:t>ta</a:t>
          </a:r>
          <a:r>
            <a:rPr lang="es-BO" dirty="0">
              <a:solidFill>
                <a:schemeClr val="tx1"/>
              </a:solidFill>
              <a:latin typeface="Arial" panose="020B0604020202020204" pitchFamily="34" charset="0"/>
              <a:cs typeface="Arial" panose="020B0604020202020204" pitchFamily="34" charset="0"/>
            </a:rPr>
            <a:t> fijar lineamientos que deben ser considerados para hacer efectiva la cooperación entre la jurisdicción IOC, la ordinaria y la agroambiental</a:t>
          </a:r>
        </a:p>
      </dgm:t>
    </dgm:pt>
    <dgm:pt modelId="{D7622FCE-918B-4CC3-AD86-D28A25DED04A}" type="parTrans" cxnId="{93018D45-513C-4E1D-BD9C-A82ACC247DBB}">
      <dgm:prSet/>
      <dgm:spPr/>
      <dgm:t>
        <a:bodyPr/>
        <a:lstStyle/>
        <a:p>
          <a:endParaRPr lang="es-BO"/>
        </a:p>
      </dgm:t>
    </dgm:pt>
    <dgm:pt modelId="{F9A4EEC0-9CBB-4768-8BD2-D2EE49D1F0C2}" type="sibTrans" cxnId="{93018D45-513C-4E1D-BD9C-A82ACC247DBB}">
      <dgm:prSet/>
      <dgm:spPr/>
      <dgm:t>
        <a:bodyPr/>
        <a:lstStyle/>
        <a:p>
          <a:endParaRPr lang="es-BO"/>
        </a:p>
      </dgm:t>
    </dgm:pt>
    <dgm:pt modelId="{232BE787-5010-4EB7-A666-9378FE309DCE}" type="pres">
      <dgm:prSet presAssocID="{046EF141-3A74-446A-9035-CEE4A8A442B3}" presName="CompostProcess" presStyleCnt="0">
        <dgm:presLayoutVars>
          <dgm:dir/>
          <dgm:resizeHandles val="exact"/>
        </dgm:presLayoutVars>
      </dgm:prSet>
      <dgm:spPr/>
    </dgm:pt>
    <dgm:pt modelId="{8F6D3EFB-ED28-4C1F-99EF-C63676C41C6D}" type="pres">
      <dgm:prSet presAssocID="{046EF141-3A74-446A-9035-CEE4A8A442B3}" presName="arrow" presStyleLbl="bgShp" presStyleIdx="0" presStyleCnt="1" custScaleX="117647" custLinFactNeighborY="-313"/>
      <dgm:spPr>
        <a:solidFill>
          <a:srgbClr val="00B050"/>
        </a:solidFill>
      </dgm:spPr>
    </dgm:pt>
    <dgm:pt modelId="{FF2CC9AF-8C33-40D8-AAF5-F318F5205FB4}" type="pres">
      <dgm:prSet presAssocID="{046EF141-3A74-446A-9035-CEE4A8A442B3}" presName="linearProcess" presStyleCnt="0"/>
      <dgm:spPr/>
    </dgm:pt>
    <dgm:pt modelId="{B800551E-2102-45A8-AA22-81C0C13C26CE}" type="pres">
      <dgm:prSet presAssocID="{983A3EAD-C548-4AAD-AE88-ED4815A31786}" presName="textNode" presStyleLbl="node1" presStyleIdx="0" presStyleCnt="4" custScaleX="126425" custScaleY="106585" custLinFactNeighborX="6985" custLinFactNeighborY="-2841">
        <dgm:presLayoutVars>
          <dgm:bulletEnabled val="1"/>
        </dgm:presLayoutVars>
      </dgm:prSet>
      <dgm:spPr/>
    </dgm:pt>
    <dgm:pt modelId="{3A927A01-1C3A-413B-B0BD-52444E48B172}" type="pres">
      <dgm:prSet presAssocID="{B4136F81-C6CC-46BD-B9D3-5620B3D7E9C3}" presName="sibTrans" presStyleCnt="0"/>
      <dgm:spPr/>
    </dgm:pt>
    <dgm:pt modelId="{01AE1659-2707-4DE9-B68E-0C833138BA71}" type="pres">
      <dgm:prSet presAssocID="{675AE4DB-1469-40EF-A10C-9FC24DBCFB76}" presName="textNode" presStyleLbl="node1" presStyleIdx="1" presStyleCnt="4">
        <dgm:presLayoutVars>
          <dgm:bulletEnabled val="1"/>
        </dgm:presLayoutVars>
      </dgm:prSet>
      <dgm:spPr/>
    </dgm:pt>
    <dgm:pt modelId="{B699D5D3-4339-43F2-9AB1-D0AC7A47B8EE}" type="pres">
      <dgm:prSet presAssocID="{AC5F3F63-D6FF-4278-83D9-4AB4711D47EB}" presName="sibTrans" presStyleCnt="0"/>
      <dgm:spPr/>
    </dgm:pt>
    <dgm:pt modelId="{9991826B-9FAE-4D63-8E52-F5F52E4B80D5}" type="pres">
      <dgm:prSet presAssocID="{75699836-FA10-4FB6-AFE6-05BA7C34F746}" presName="textNode" presStyleLbl="node1" presStyleIdx="2" presStyleCnt="4" custScaleY="111285">
        <dgm:presLayoutVars>
          <dgm:bulletEnabled val="1"/>
        </dgm:presLayoutVars>
      </dgm:prSet>
      <dgm:spPr/>
    </dgm:pt>
    <dgm:pt modelId="{D77E019B-5FBA-4D8A-A74B-6AF74AAB1568}" type="pres">
      <dgm:prSet presAssocID="{F4D68D45-DC37-4DD6-9C4F-A1AB367FAF78}" presName="sibTrans" presStyleCnt="0"/>
      <dgm:spPr/>
    </dgm:pt>
    <dgm:pt modelId="{6FB693CE-445D-46D1-9CBA-E15B6CF2EDEB}" type="pres">
      <dgm:prSet presAssocID="{8C911F97-AE48-4F5F-BEDA-72C2AE7CBB73}" presName="textNode" presStyleLbl="node1" presStyleIdx="3" presStyleCnt="4">
        <dgm:presLayoutVars>
          <dgm:bulletEnabled val="1"/>
        </dgm:presLayoutVars>
      </dgm:prSet>
      <dgm:spPr/>
    </dgm:pt>
  </dgm:ptLst>
  <dgm:cxnLst>
    <dgm:cxn modelId="{F3C0DB16-318D-40C4-B183-95CD93B2432F}" srcId="{046EF141-3A74-446A-9035-CEE4A8A442B3}" destId="{983A3EAD-C548-4AAD-AE88-ED4815A31786}" srcOrd="0" destOrd="0" parTransId="{CD0D72F0-D04D-4306-9F57-0259DA2657B5}" sibTransId="{B4136F81-C6CC-46BD-B9D3-5620B3D7E9C3}"/>
    <dgm:cxn modelId="{6998033B-C5D5-409E-98A4-8B8653F8645D}" srcId="{046EF141-3A74-446A-9035-CEE4A8A442B3}" destId="{675AE4DB-1469-40EF-A10C-9FC24DBCFB76}" srcOrd="1" destOrd="0" parTransId="{3333EDED-5CCF-44AE-90D4-0FEE85BB31AA}" sibTransId="{AC5F3F63-D6FF-4278-83D9-4AB4711D47EB}"/>
    <dgm:cxn modelId="{93018D45-513C-4E1D-BD9C-A82ACC247DBB}" srcId="{046EF141-3A74-446A-9035-CEE4A8A442B3}" destId="{8C911F97-AE48-4F5F-BEDA-72C2AE7CBB73}" srcOrd="3" destOrd="0" parTransId="{D7622FCE-918B-4CC3-AD86-D28A25DED04A}" sibTransId="{F9A4EEC0-9CBB-4768-8BD2-D2EE49D1F0C2}"/>
    <dgm:cxn modelId="{2D26A566-6171-4072-A4EB-66628F073219}" srcId="{046EF141-3A74-446A-9035-CEE4A8A442B3}" destId="{75699836-FA10-4FB6-AFE6-05BA7C34F746}" srcOrd="2" destOrd="0" parTransId="{057CE374-CF5B-4FD9-8D01-F897C050FA77}" sibTransId="{F4D68D45-DC37-4DD6-9C4F-A1AB367FAF78}"/>
    <dgm:cxn modelId="{BD553567-5D73-4831-94DA-E15FF0C14A9E}" type="presOf" srcId="{983A3EAD-C548-4AAD-AE88-ED4815A31786}" destId="{B800551E-2102-45A8-AA22-81C0C13C26CE}" srcOrd="0" destOrd="0" presId="urn:microsoft.com/office/officeart/2005/8/layout/hProcess9"/>
    <dgm:cxn modelId="{1EF0CA74-9595-44CE-BA04-DB50AF3DFEB7}" type="presOf" srcId="{75699836-FA10-4FB6-AFE6-05BA7C34F746}" destId="{9991826B-9FAE-4D63-8E52-F5F52E4B80D5}" srcOrd="0" destOrd="0" presId="urn:microsoft.com/office/officeart/2005/8/layout/hProcess9"/>
    <dgm:cxn modelId="{D1385791-98D9-4DF9-8D8F-BCA265AE5402}" type="presOf" srcId="{675AE4DB-1469-40EF-A10C-9FC24DBCFB76}" destId="{01AE1659-2707-4DE9-B68E-0C833138BA71}" srcOrd="0" destOrd="0" presId="urn:microsoft.com/office/officeart/2005/8/layout/hProcess9"/>
    <dgm:cxn modelId="{57412BAB-09CB-417F-B2E4-AE0E9FF44368}" type="presOf" srcId="{8C911F97-AE48-4F5F-BEDA-72C2AE7CBB73}" destId="{6FB693CE-445D-46D1-9CBA-E15B6CF2EDEB}" srcOrd="0" destOrd="0" presId="urn:microsoft.com/office/officeart/2005/8/layout/hProcess9"/>
    <dgm:cxn modelId="{A136D1DC-5ED3-4652-BC8F-7F931B39F602}" type="presOf" srcId="{046EF141-3A74-446A-9035-CEE4A8A442B3}" destId="{232BE787-5010-4EB7-A666-9378FE309DCE}" srcOrd="0" destOrd="0" presId="urn:microsoft.com/office/officeart/2005/8/layout/hProcess9"/>
    <dgm:cxn modelId="{876EE103-1BC1-4BDF-828E-E3B54020776D}" type="presParOf" srcId="{232BE787-5010-4EB7-A666-9378FE309DCE}" destId="{8F6D3EFB-ED28-4C1F-99EF-C63676C41C6D}" srcOrd="0" destOrd="0" presId="urn:microsoft.com/office/officeart/2005/8/layout/hProcess9"/>
    <dgm:cxn modelId="{A34622A7-D4A8-416D-9266-2167FCBC5540}" type="presParOf" srcId="{232BE787-5010-4EB7-A666-9378FE309DCE}" destId="{FF2CC9AF-8C33-40D8-AAF5-F318F5205FB4}" srcOrd="1" destOrd="0" presId="urn:microsoft.com/office/officeart/2005/8/layout/hProcess9"/>
    <dgm:cxn modelId="{BA970B36-4A8A-42E5-87F8-3F6B57F1D33C}" type="presParOf" srcId="{FF2CC9AF-8C33-40D8-AAF5-F318F5205FB4}" destId="{B800551E-2102-45A8-AA22-81C0C13C26CE}" srcOrd="0" destOrd="0" presId="urn:microsoft.com/office/officeart/2005/8/layout/hProcess9"/>
    <dgm:cxn modelId="{C4815DD5-58D5-4D3D-872A-D05FF9629F33}" type="presParOf" srcId="{FF2CC9AF-8C33-40D8-AAF5-F318F5205FB4}" destId="{3A927A01-1C3A-413B-B0BD-52444E48B172}" srcOrd="1" destOrd="0" presId="urn:microsoft.com/office/officeart/2005/8/layout/hProcess9"/>
    <dgm:cxn modelId="{1E06C55B-631C-4919-B78E-72AA0B1A2979}" type="presParOf" srcId="{FF2CC9AF-8C33-40D8-AAF5-F318F5205FB4}" destId="{01AE1659-2707-4DE9-B68E-0C833138BA71}" srcOrd="2" destOrd="0" presId="urn:microsoft.com/office/officeart/2005/8/layout/hProcess9"/>
    <dgm:cxn modelId="{83C55C2D-8F82-4305-86CD-E9F82EC0F793}" type="presParOf" srcId="{FF2CC9AF-8C33-40D8-AAF5-F318F5205FB4}" destId="{B699D5D3-4339-43F2-9AB1-D0AC7A47B8EE}" srcOrd="3" destOrd="0" presId="urn:microsoft.com/office/officeart/2005/8/layout/hProcess9"/>
    <dgm:cxn modelId="{3E451989-F340-4AD2-BB6D-80EEBED5CCD3}" type="presParOf" srcId="{FF2CC9AF-8C33-40D8-AAF5-F318F5205FB4}" destId="{9991826B-9FAE-4D63-8E52-F5F52E4B80D5}" srcOrd="4" destOrd="0" presId="urn:microsoft.com/office/officeart/2005/8/layout/hProcess9"/>
    <dgm:cxn modelId="{F8F12B99-D5C5-4592-88D4-6C9A856E0B95}" type="presParOf" srcId="{FF2CC9AF-8C33-40D8-AAF5-F318F5205FB4}" destId="{D77E019B-5FBA-4D8A-A74B-6AF74AAB1568}" srcOrd="5" destOrd="0" presId="urn:microsoft.com/office/officeart/2005/8/layout/hProcess9"/>
    <dgm:cxn modelId="{C77265EA-D115-4AEC-A458-BC961EE04997}" type="presParOf" srcId="{FF2CC9AF-8C33-40D8-AAF5-F318F5205FB4}" destId="{6FB693CE-445D-46D1-9CBA-E15B6CF2EDEB}"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6D478F-00DD-44B2-B4CD-EB90651B9F7E}" type="doc">
      <dgm:prSet loTypeId="urn:microsoft.com/office/officeart/2005/8/layout/hProcess9" loCatId="process" qsTypeId="urn:microsoft.com/office/officeart/2005/8/quickstyle/simple1" qsCatId="simple" csTypeId="urn:microsoft.com/office/officeart/2005/8/colors/accent1_2" csCatId="accent1" phldr="1"/>
      <dgm:spPr/>
    </dgm:pt>
    <dgm:pt modelId="{2ABD8F40-DB08-441A-B2E9-4899FA025EFB}">
      <dgm:prSet phldrT="[Texto]" custT="1"/>
      <dgm:spPr>
        <a:solidFill>
          <a:schemeClr val="bg1"/>
        </a:solidFill>
        <a:ln w="57150">
          <a:solidFill>
            <a:srgbClr val="FF0000"/>
          </a:solidFill>
        </a:ln>
      </dgm:spPr>
      <dgm:t>
        <a:bodyPr/>
        <a:lstStyle/>
        <a:p>
          <a:pPr>
            <a:buClrTx/>
            <a:buSzTx/>
            <a:buFontTx/>
            <a:buNone/>
          </a:pPr>
          <a:r>
            <a:rPr kumimoji="0" lang="es-BO" sz="1400" b="0" i="0" u="none" strike="noStrike"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El Órgano Judicial es un órgano del poder público, </a:t>
          </a:r>
          <a:r>
            <a:rPr kumimoji="0" lang="es-BO" sz="1400" b="1" i="1" u="none" strike="noStrike"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se funda en la pluralidad y el pluralismo </a:t>
          </a:r>
          <a:r>
            <a:rPr kumimoji="0" lang="es-BO" sz="1400" b="1" i="0" u="none" strike="noStrike"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jurídico</a:t>
          </a:r>
          <a:r>
            <a:rPr kumimoji="0" lang="es-BO" sz="1400" b="0" i="0" u="none" strike="noStrike"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tiene igual jerarquía constitucional que los Órganos Legislativo, Ejecutivo y Electoral y se relaciona sobre la base de </a:t>
          </a:r>
          <a:r>
            <a:rPr kumimoji="0" lang="es-BO" sz="1400" b="1" i="1" u="none" strike="noStrike"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Times New Roman" panose="02020603050405020304" pitchFamily="18" charset="0"/>
            </a:rPr>
            <a:t>independencia, separación, </a:t>
          </a:r>
          <a:r>
            <a:rPr kumimoji="0" lang="es-BO" sz="1300" b="1" i="1" u="none" strike="noStrike"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Times New Roman" panose="02020603050405020304" pitchFamily="18" charset="0"/>
            </a:rPr>
            <a:t>coordinación y cooperación</a:t>
          </a:r>
          <a:r>
            <a:rPr kumimoji="0" lang="es-MX" sz="1300" b="1" i="0" u="none" strike="noStrike"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 </a:t>
          </a:r>
        </a:p>
        <a:p>
          <a:pPr>
            <a:buClrTx/>
            <a:buSzTx/>
            <a:buFontTx/>
            <a:buNone/>
          </a:pPr>
          <a:r>
            <a:rPr kumimoji="0" lang="es-MX" sz="1200" b="1" i="0" u="none" strike="noStrike"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Art.2</a:t>
          </a:r>
          <a:endParaRPr lang="es-BO" sz="1200" dirty="0"/>
        </a:p>
      </dgm:t>
    </dgm:pt>
    <dgm:pt modelId="{72FF9B99-87AA-483F-A530-B2698AE040C5}" type="parTrans" cxnId="{D1BBAAD0-2364-49D4-82A1-330BD4881C1D}">
      <dgm:prSet/>
      <dgm:spPr/>
      <dgm:t>
        <a:bodyPr/>
        <a:lstStyle/>
        <a:p>
          <a:endParaRPr lang="es-BO"/>
        </a:p>
      </dgm:t>
    </dgm:pt>
    <dgm:pt modelId="{82048D45-5434-4E32-B79A-463DF66051D9}" type="sibTrans" cxnId="{D1BBAAD0-2364-49D4-82A1-330BD4881C1D}">
      <dgm:prSet/>
      <dgm:spPr/>
      <dgm:t>
        <a:bodyPr/>
        <a:lstStyle/>
        <a:p>
          <a:endParaRPr lang="es-BO"/>
        </a:p>
      </dgm:t>
    </dgm:pt>
    <dgm:pt modelId="{CAB49B92-95AB-45E0-880A-A495AC2A0BD4}">
      <dgm:prSet phldrT="[Texto]" custT="1"/>
      <dgm:spPr>
        <a:solidFill>
          <a:schemeClr val="bg1"/>
        </a:solidFill>
        <a:ln w="57150">
          <a:solidFill>
            <a:srgbClr val="FFFF00"/>
          </a:solidFill>
        </a:ln>
      </dgm:spPr>
      <dgm:t>
        <a:bodyPr/>
        <a:lstStyle/>
        <a:p>
          <a:pPr>
            <a:buFontTx/>
            <a:buAutoNum type="arabicPeriod"/>
          </a:pPr>
          <a:r>
            <a:rPr kumimoji="0" lang="es-MX" sz="1400" b="0" i="0" u="none" strike="noStrike" cap="none" spc="0" normalizeH="0" baseline="0" noProof="0" dirty="0">
              <a:ln>
                <a:noFill/>
              </a:ln>
              <a:solidFill>
                <a:prstClr val="black"/>
              </a:solidFill>
              <a:effectLst/>
              <a:uLnTx/>
              <a:uFillTx/>
              <a:latin typeface="Gill Sans MT" panose="020B0502020104020203"/>
            </a:rPr>
            <a:t>La función judicial es única en todo el territorio del Estado Plurinacional y se ejerce por medio del Órgano Judicial a través de: </a:t>
          </a:r>
        </a:p>
        <a:p>
          <a:pPr>
            <a:buFontTx/>
            <a:buAutoNum type="arabicPeriod"/>
          </a:pPr>
          <a:r>
            <a:rPr kumimoji="0" lang="es-MX" sz="1400" b="0" i="0" u="none" strike="noStrike" cap="none" spc="0" normalizeH="0" baseline="0" noProof="0" dirty="0">
              <a:ln>
                <a:noFill/>
              </a:ln>
              <a:solidFill>
                <a:prstClr val="black"/>
              </a:solidFill>
              <a:effectLst/>
              <a:uLnTx/>
              <a:uFillTx/>
              <a:latin typeface="Gill Sans MT" panose="020B0502020104020203"/>
            </a:rPr>
            <a:t>1.La Jurisdicción Ordinaria, </a:t>
          </a:r>
        </a:p>
        <a:p>
          <a:pPr>
            <a:buFontTx/>
            <a:buAutoNum type="arabicPeriod"/>
          </a:pPr>
          <a:r>
            <a:rPr kumimoji="0" lang="es-MX" sz="1400" b="0" i="0" u="none" strike="noStrike" cap="none" spc="0" normalizeH="0" baseline="0" noProof="0" dirty="0">
              <a:ln>
                <a:noFill/>
              </a:ln>
              <a:solidFill>
                <a:prstClr val="black"/>
              </a:solidFill>
              <a:effectLst/>
              <a:uLnTx/>
              <a:uFillTx/>
              <a:latin typeface="Gill Sans MT" panose="020B0502020104020203"/>
            </a:rPr>
            <a:t>2. La Jurisdicción Agroambiental, </a:t>
          </a:r>
        </a:p>
        <a:p>
          <a:pPr>
            <a:buFontTx/>
            <a:buAutoNum type="arabicPeriod"/>
          </a:pPr>
          <a:r>
            <a:rPr kumimoji="0" lang="es-MX" sz="1400" b="0" i="0" u="none" strike="noStrike" cap="none" spc="0" normalizeH="0" baseline="0" noProof="0" dirty="0">
              <a:ln>
                <a:noFill/>
              </a:ln>
              <a:solidFill>
                <a:prstClr val="black"/>
              </a:solidFill>
              <a:effectLst/>
              <a:uLnTx/>
              <a:uFillTx/>
              <a:latin typeface="Gill Sans MT" panose="020B0502020104020203"/>
            </a:rPr>
            <a:t>3. Las Jurisdicciones Especiales reguladas por ley; y </a:t>
          </a:r>
        </a:p>
        <a:p>
          <a:pPr>
            <a:buFontTx/>
            <a:buAutoNum type="arabicPeriod"/>
          </a:pPr>
          <a:r>
            <a:rPr kumimoji="0" lang="es-MX" sz="1400" b="1" i="1" u="none" strike="noStrike"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4. La Jurisdicción Indígena Originaria Campesina, por sus propias autoridades, según sus normas y procedimientos propios</a:t>
          </a:r>
          <a:r>
            <a:rPr kumimoji="0" lang="es-MX" sz="1000" b="1" i="1" u="none" strike="noStrike"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a:t>
          </a:r>
          <a:r>
            <a:rPr kumimoji="0" lang="es-MX" sz="1000" b="0" i="0" u="none" strike="noStrike" cap="none" spc="0" normalizeH="0" baseline="0" noProof="0" dirty="0">
              <a:ln>
                <a:noFill/>
              </a:ln>
              <a:solidFill>
                <a:prstClr val="black"/>
              </a:solidFill>
              <a:effectLst/>
              <a:uLnTx/>
              <a:uFillTx/>
              <a:latin typeface="Gill Sans MT" panose="020B0502020104020203"/>
            </a:rPr>
            <a:t> </a:t>
          </a:r>
        </a:p>
        <a:p>
          <a:pPr>
            <a:buFontTx/>
            <a:buAutoNum type="arabicPeriod"/>
          </a:pPr>
          <a:r>
            <a:rPr kumimoji="0" lang="es-MX" sz="1200" b="0" i="0" u="none" strike="noStrike" cap="none" spc="0" normalizeH="0" baseline="0" noProof="0" dirty="0">
              <a:ln>
                <a:noFill/>
              </a:ln>
              <a:solidFill>
                <a:prstClr val="black"/>
              </a:solidFill>
              <a:effectLst/>
              <a:uLnTx/>
              <a:uFillTx/>
              <a:latin typeface="Gill Sans MT" panose="020B0502020104020203"/>
            </a:rPr>
            <a:t>Artículo 4</a:t>
          </a:r>
          <a:r>
            <a:rPr kumimoji="0" lang="es-MX" sz="1000" b="0" i="0" u="none" strike="noStrike" cap="none" spc="0" normalizeH="0" baseline="0" noProof="0" dirty="0">
              <a:ln>
                <a:noFill/>
              </a:ln>
              <a:solidFill>
                <a:prstClr val="black"/>
              </a:solidFill>
              <a:effectLst/>
              <a:uLnTx/>
              <a:uFillTx/>
              <a:latin typeface="Gill Sans MT" panose="020B0502020104020203"/>
            </a:rPr>
            <a:t>. </a:t>
          </a:r>
          <a:endParaRPr lang="es-BO" sz="1000" dirty="0"/>
        </a:p>
      </dgm:t>
    </dgm:pt>
    <dgm:pt modelId="{473C60E9-8AC4-41EA-9354-2C4B52715172}" type="parTrans" cxnId="{CC3E3023-E4F2-4FB7-AB1F-09E451BC437C}">
      <dgm:prSet/>
      <dgm:spPr/>
      <dgm:t>
        <a:bodyPr/>
        <a:lstStyle/>
        <a:p>
          <a:endParaRPr lang="es-BO"/>
        </a:p>
      </dgm:t>
    </dgm:pt>
    <dgm:pt modelId="{5CD7305C-1464-410A-8330-10197F763E43}" type="sibTrans" cxnId="{CC3E3023-E4F2-4FB7-AB1F-09E451BC437C}">
      <dgm:prSet/>
      <dgm:spPr/>
      <dgm:t>
        <a:bodyPr/>
        <a:lstStyle/>
        <a:p>
          <a:endParaRPr lang="es-BO"/>
        </a:p>
      </dgm:t>
    </dgm:pt>
    <dgm:pt modelId="{83396676-7BB9-46B2-B06F-45AF8D5AA812}">
      <dgm:prSet phldrT="[Texto]" custT="1"/>
      <dgm:spPr>
        <a:solidFill>
          <a:schemeClr val="bg1"/>
        </a:solidFill>
        <a:ln>
          <a:solidFill>
            <a:srgbClr val="00B050"/>
          </a:solidFill>
        </a:ln>
      </dgm:spPr>
      <dgm:t>
        <a:bodyPr/>
        <a:lstStyle/>
        <a:p>
          <a:pPr>
            <a:buClrTx/>
            <a:buSzTx/>
            <a:buFontTx/>
            <a:buNone/>
          </a:pPr>
          <a:r>
            <a:rPr kumimoji="0" lang="es-MX" sz="1600" b="0" i="0" u="none" strike="noStrike"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(JURISDICCIÓN). </a:t>
          </a:r>
        </a:p>
        <a:p>
          <a:pPr>
            <a:buClrTx/>
            <a:buSzTx/>
            <a:buFontTx/>
            <a:buNone/>
          </a:pPr>
          <a:r>
            <a:rPr kumimoji="0" lang="es-MX" sz="1600" b="0" i="0" u="none" strike="noStrike"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 la potestad que tiene el Estado Plurinacional de administrar justicia; emana del pueblo boliviano y </a:t>
          </a:r>
          <a:r>
            <a:rPr kumimoji="0" lang="es-MX" sz="1600" b="1" i="1" u="sng" strike="noStrike"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se ejerce por medio de las autoridades jurisdiccionales del Órgano Judicial</a:t>
          </a:r>
          <a:r>
            <a:rPr kumimoji="0" lang="es-MX" sz="1600" b="0" i="0" u="none" strike="noStrike"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p>
        <a:p>
          <a:pPr>
            <a:buClrTx/>
            <a:buSzTx/>
            <a:buFontTx/>
            <a:buNone/>
          </a:pPr>
          <a:r>
            <a:rPr kumimoji="0" lang="es-MX" sz="1200" b="0" i="0" u="none" strike="noStrike"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Artículo 11</a:t>
          </a:r>
          <a:endParaRPr lang="es-BO" sz="1200" dirty="0">
            <a:latin typeface="Arial" panose="020B0604020202020204" pitchFamily="34" charset="0"/>
            <a:cs typeface="Arial" panose="020B0604020202020204" pitchFamily="34" charset="0"/>
          </a:endParaRPr>
        </a:p>
      </dgm:t>
    </dgm:pt>
    <dgm:pt modelId="{4C9C9244-731F-49F9-84E0-D8D6EC4B9BD7}" type="parTrans" cxnId="{15CCF39F-71A4-4503-9A28-81DE8809F904}">
      <dgm:prSet/>
      <dgm:spPr/>
      <dgm:t>
        <a:bodyPr/>
        <a:lstStyle/>
        <a:p>
          <a:endParaRPr lang="es-BO"/>
        </a:p>
      </dgm:t>
    </dgm:pt>
    <dgm:pt modelId="{190B448D-52AF-45C5-8569-E91299674E83}" type="sibTrans" cxnId="{15CCF39F-71A4-4503-9A28-81DE8809F904}">
      <dgm:prSet/>
      <dgm:spPr/>
      <dgm:t>
        <a:bodyPr/>
        <a:lstStyle/>
        <a:p>
          <a:endParaRPr lang="es-BO"/>
        </a:p>
      </dgm:t>
    </dgm:pt>
    <dgm:pt modelId="{83A9E04D-07C9-45B3-82EF-A56C50E53CD3}">
      <dgm:prSet phldrT="[Texto]" custT="1"/>
      <dgm:spPr>
        <a:solidFill>
          <a:schemeClr val="bg1"/>
        </a:solidFill>
        <a:ln w="57150">
          <a:solidFill>
            <a:srgbClr val="7030A0"/>
          </a:solidFill>
        </a:ln>
      </dgm:spPr>
      <dgm:t>
        <a:bodyPr/>
        <a:lstStyle/>
        <a:p>
          <a:pPr>
            <a:buClrTx/>
            <a:buSzTx/>
            <a:buFontTx/>
            <a:buNone/>
          </a:pPr>
          <a:r>
            <a:rPr kumimoji="0" lang="es-MX" sz="1400" b="0" i="0" u="none" strike="noStrike" cap="none" spc="0" normalizeH="0" baseline="0" noProof="0" dirty="0">
              <a:ln>
                <a:noFill/>
              </a:ln>
              <a:solidFill>
                <a:prstClr val="black"/>
              </a:solidFill>
              <a:effectLst/>
              <a:uLnTx/>
              <a:uFillTx/>
              <a:latin typeface="Gill Sans MT" panose="020B0502020104020203"/>
            </a:rPr>
            <a:t>. (COMPETENCIA). </a:t>
          </a:r>
        </a:p>
        <a:p>
          <a:pPr>
            <a:buClrTx/>
            <a:buSzTx/>
            <a:buFontTx/>
            <a:buNone/>
          </a:pPr>
          <a:r>
            <a:rPr kumimoji="0" lang="es-MX" sz="1400" b="1" i="1" u="sng" strike="noStrike"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Es la facultad que tiene </a:t>
          </a:r>
          <a:r>
            <a:rPr kumimoji="0" lang="es-MX" sz="1400" b="0" i="0" u="none" strike="noStrike" cap="none" spc="0" normalizeH="0" baseline="0" noProof="0" dirty="0">
              <a:ln>
                <a:noFill/>
              </a:ln>
              <a:solidFill>
                <a:prstClr val="black"/>
              </a:solidFill>
              <a:effectLst/>
              <a:uLnTx/>
              <a:uFillTx/>
              <a:latin typeface="Gill Sans MT" panose="020B0502020104020203"/>
            </a:rPr>
            <a:t>una magistrada o magistrado, una o un vocal, una jueza o un juez, </a:t>
          </a:r>
          <a:r>
            <a:rPr kumimoji="0" lang="es-MX" sz="1400" b="1" i="1" u="sng" strike="noStrike"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o autoridad indígena originaria campesina para ejercer la jurisdicción en un determinado asunto. </a:t>
          </a:r>
        </a:p>
        <a:p>
          <a:pPr>
            <a:buClrTx/>
            <a:buSzTx/>
            <a:buFontTx/>
            <a:buNone/>
          </a:pPr>
          <a:r>
            <a:rPr kumimoji="0" lang="es-MX" sz="1000" b="0" i="0" u="none" strike="noStrike"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Artículo 12</a:t>
          </a:r>
          <a:endParaRPr lang="es-BO" sz="1000" dirty="0"/>
        </a:p>
      </dgm:t>
    </dgm:pt>
    <dgm:pt modelId="{508CD6A6-4100-4915-9D1F-522ABE5624A2}" type="parTrans" cxnId="{38FD730E-889B-433B-AC92-F1555259CD73}">
      <dgm:prSet/>
      <dgm:spPr/>
      <dgm:t>
        <a:bodyPr/>
        <a:lstStyle/>
        <a:p>
          <a:endParaRPr lang="es-BO"/>
        </a:p>
      </dgm:t>
    </dgm:pt>
    <dgm:pt modelId="{433BDFF1-4D60-4D5E-B184-9DCFD87B1232}" type="sibTrans" cxnId="{38FD730E-889B-433B-AC92-F1555259CD73}">
      <dgm:prSet/>
      <dgm:spPr/>
      <dgm:t>
        <a:bodyPr/>
        <a:lstStyle/>
        <a:p>
          <a:endParaRPr lang="es-BO"/>
        </a:p>
      </dgm:t>
    </dgm:pt>
    <dgm:pt modelId="{AB5FBED7-655B-45E6-AB21-F8C8AACA42A5}" type="pres">
      <dgm:prSet presAssocID="{8D6D478F-00DD-44B2-B4CD-EB90651B9F7E}" presName="CompostProcess" presStyleCnt="0">
        <dgm:presLayoutVars>
          <dgm:dir/>
          <dgm:resizeHandles val="exact"/>
        </dgm:presLayoutVars>
      </dgm:prSet>
      <dgm:spPr/>
    </dgm:pt>
    <dgm:pt modelId="{F3FD5F9A-24F6-41BF-A513-961E899D04E8}" type="pres">
      <dgm:prSet presAssocID="{8D6D478F-00DD-44B2-B4CD-EB90651B9F7E}" presName="arrow" presStyleLbl="bgShp" presStyleIdx="0" presStyleCnt="1" custLinFactNeighborX="-3158"/>
      <dgm:spPr/>
    </dgm:pt>
    <dgm:pt modelId="{E6C96884-927B-4944-A8D7-6AFB7AECE8F3}" type="pres">
      <dgm:prSet presAssocID="{8D6D478F-00DD-44B2-B4CD-EB90651B9F7E}" presName="linearProcess" presStyleCnt="0"/>
      <dgm:spPr/>
    </dgm:pt>
    <dgm:pt modelId="{4931B02B-F653-4BF0-AE74-E5A435B4DAAC}" type="pres">
      <dgm:prSet presAssocID="{2ABD8F40-DB08-441A-B2E9-4899FA025EFB}" presName="textNode" presStyleLbl="node1" presStyleIdx="0" presStyleCnt="4" custScaleX="75555" custScaleY="132139">
        <dgm:presLayoutVars>
          <dgm:bulletEnabled val="1"/>
        </dgm:presLayoutVars>
      </dgm:prSet>
      <dgm:spPr/>
    </dgm:pt>
    <dgm:pt modelId="{37FAD20A-6957-4811-ADF3-A0982A903CB6}" type="pres">
      <dgm:prSet presAssocID="{82048D45-5434-4E32-B79A-463DF66051D9}" presName="sibTrans" presStyleCnt="0"/>
      <dgm:spPr/>
    </dgm:pt>
    <dgm:pt modelId="{5756427D-452D-4FA1-BBA4-98C149416487}" type="pres">
      <dgm:prSet presAssocID="{CAB49B92-95AB-45E0-880A-A495AC2A0BD4}" presName="textNode" presStyleLbl="node1" presStyleIdx="1" presStyleCnt="4" custScaleY="171417" custLinFactNeighborX="-79269" custLinFactNeighborY="1939">
        <dgm:presLayoutVars>
          <dgm:bulletEnabled val="1"/>
        </dgm:presLayoutVars>
      </dgm:prSet>
      <dgm:spPr/>
    </dgm:pt>
    <dgm:pt modelId="{BC6FD4B5-8124-408C-9B0C-983DF0EE93D5}" type="pres">
      <dgm:prSet presAssocID="{5CD7305C-1464-410A-8330-10197F763E43}" presName="sibTrans" presStyleCnt="0"/>
      <dgm:spPr/>
    </dgm:pt>
    <dgm:pt modelId="{F828F556-307D-45D6-B6FC-6FD79D037DF0}" type="pres">
      <dgm:prSet presAssocID="{83396676-7BB9-46B2-B06F-45AF8D5AA812}" presName="textNode" presStyleLbl="node1" presStyleIdx="2" presStyleCnt="4" custScaleX="79677" custScaleY="147172" custLinFactX="-5071" custLinFactNeighborX="-100000" custLinFactNeighborY="7273">
        <dgm:presLayoutVars>
          <dgm:bulletEnabled val="1"/>
        </dgm:presLayoutVars>
      </dgm:prSet>
      <dgm:spPr/>
    </dgm:pt>
    <dgm:pt modelId="{02709F50-E44E-40F7-9A2A-B16229765629}" type="pres">
      <dgm:prSet presAssocID="{190B448D-52AF-45C5-8569-E91299674E83}" presName="sibTrans" presStyleCnt="0"/>
      <dgm:spPr/>
    </dgm:pt>
    <dgm:pt modelId="{C52C842D-4FC4-4C68-922C-44445F0B5FD9}" type="pres">
      <dgm:prSet presAssocID="{83A9E04D-07C9-45B3-82EF-A56C50E53CD3}" presName="textNode" presStyleLbl="node1" presStyleIdx="3" presStyleCnt="4" custScaleX="63952" custScaleY="137958" custLinFactX="-10729" custLinFactNeighborX="-100000" custLinFactNeighborY="1455">
        <dgm:presLayoutVars>
          <dgm:bulletEnabled val="1"/>
        </dgm:presLayoutVars>
      </dgm:prSet>
      <dgm:spPr/>
    </dgm:pt>
  </dgm:ptLst>
  <dgm:cxnLst>
    <dgm:cxn modelId="{01DE4B05-26BF-4686-B465-6C3500FB7045}" type="presOf" srcId="{2ABD8F40-DB08-441A-B2E9-4899FA025EFB}" destId="{4931B02B-F653-4BF0-AE74-E5A435B4DAAC}" srcOrd="0" destOrd="0" presId="urn:microsoft.com/office/officeart/2005/8/layout/hProcess9"/>
    <dgm:cxn modelId="{38FD730E-889B-433B-AC92-F1555259CD73}" srcId="{8D6D478F-00DD-44B2-B4CD-EB90651B9F7E}" destId="{83A9E04D-07C9-45B3-82EF-A56C50E53CD3}" srcOrd="3" destOrd="0" parTransId="{508CD6A6-4100-4915-9D1F-522ABE5624A2}" sibTransId="{433BDFF1-4D60-4D5E-B184-9DCFD87B1232}"/>
    <dgm:cxn modelId="{CC3E3023-E4F2-4FB7-AB1F-09E451BC437C}" srcId="{8D6D478F-00DD-44B2-B4CD-EB90651B9F7E}" destId="{CAB49B92-95AB-45E0-880A-A495AC2A0BD4}" srcOrd="1" destOrd="0" parTransId="{473C60E9-8AC4-41EA-9354-2C4B52715172}" sibTransId="{5CD7305C-1464-410A-8330-10197F763E43}"/>
    <dgm:cxn modelId="{AADF3D48-4716-4747-A6E4-E78796D91AA6}" type="presOf" srcId="{83A9E04D-07C9-45B3-82EF-A56C50E53CD3}" destId="{C52C842D-4FC4-4C68-922C-44445F0B5FD9}" srcOrd="0" destOrd="0" presId="urn:microsoft.com/office/officeart/2005/8/layout/hProcess9"/>
    <dgm:cxn modelId="{9C4CCF4A-9193-470E-9EB8-2F97E7CB4250}" type="presOf" srcId="{83396676-7BB9-46B2-B06F-45AF8D5AA812}" destId="{F828F556-307D-45D6-B6FC-6FD79D037DF0}" srcOrd="0" destOrd="0" presId="urn:microsoft.com/office/officeart/2005/8/layout/hProcess9"/>
    <dgm:cxn modelId="{15CCF39F-71A4-4503-9A28-81DE8809F904}" srcId="{8D6D478F-00DD-44B2-B4CD-EB90651B9F7E}" destId="{83396676-7BB9-46B2-B06F-45AF8D5AA812}" srcOrd="2" destOrd="0" parTransId="{4C9C9244-731F-49F9-84E0-D8D6EC4B9BD7}" sibTransId="{190B448D-52AF-45C5-8569-E91299674E83}"/>
    <dgm:cxn modelId="{D1BBAAD0-2364-49D4-82A1-330BD4881C1D}" srcId="{8D6D478F-00DD-44B2-B4CD-EB90651B9F7E}" destId="{2ABD8F40-DB08-441A-B2E9-4899FA025EFB}" srcOrd="0" destOrd="0" parTransId="{72FF9B99-87AA-483F-A530-B2698AE040C5}" sibTransId="{82048D45-5434-4E32-B79A-463DF66051D9}"/>
    <dgm:cxn modelId="{D4E263D1-172D-4283-9FE5-85314E38CFBE}" type="presOf" srcId="{8D6D478F-00DD-44B2-B4CD-EB90651B9F7E}" destId="{AB5FBED7-655B-45E6-AB21-F8C8AACA42A5}" srcOrd="0" destOrd="0" presId="urn:microsoft.com/office/officeart/2005/8/layout/hProcess9"/>
    <dgm:cxn modelId="{B7866CDE-8652-47AE-AF9B-7FE18D9587F7}" type="presOf" srcId="{CAB49B92-95AB-45E0-880A-A495AC2A0BD4}" destId="{5756427D-452D-4FA1-BBA4-98C149416487}" srcOrd="0" destOrd="0" presId="urn:microsoft.com/office/officeart/2005/8/layout/hProcess9"/>
    <dgm:cxn modelId="{F75A364F-BD9D-4E74-BD3F-69BD1732F3B3}" type="presParOf" srcId="{AB5FBED7-655B-45E6-AB21-F8C8AACA42A5}" destId="{F3FD5F9A-24F6-41BF-A513-961E899D04E8}" srcOrd="0" destOrd="0" presId="urn:microsoft.com/office/officeart/2005/8/layout/hProcess9"/>
    <dgm:cxn modelId="{E0413737-1F4D-45FB-8C14-FFAB20CA8A03}" type="presParOf" srcId="{AB5FBED7-655B-45E6-AB21-F8C8AACA42A5}" destId="{E6C96884-927B-4944-A8D7-6AFB7AECE8F3}" srcOrd="1" destOrd="0" presId="urn:microsoft.com/office/officeart/2005/8/layout/hProcess9"/>
    <dgm:cxn modelId="{30BA91B7-459E-47A8-9CBF-43B1EEFE4833}" type="presParOf" srcId="{E6C96884-927B-4944-A8D7-6AFB7AECE8F3}" destId="{4931B02B-F653-4BF0-AE74-E5A435B4DAAC}" srcOrd="0" destOrd="0" presId="urn:microsoft.com/office/officeart/2005/8/layout/hProcess9"/>
    <dgm:cxn modelId="{C417A6A1-E097-4D00-B1D7-B7DCC92A2805}" type="presParOf" srcId="{E6C96884-927B-4944-A8D7-6AFB7AECE8F3}" destId="{37FAD20A-6957-4811-ADF3-A0982A903CB6}" srcOrd="1" destOrd="0" presId="urn:microsoft.com/office/officeart/2005/8/layout/hProcess9"/>
    <dgm:cxn modelId="{F454921F-7DF4-4056-8425-44F9CF0431BA}" type="presParOf" srcId="{E6C96884-927B-4944-A8D7-6AFB7AECE8F3}" destId="{5756427D-452D-4FA1-BBA4-98C149416487}" srcOrd="2" destOrd="0" presId="urn:microsoft.com/office/officeart/2005/8/layout/hProcess9"/>
    <dgm:cxn modelId="{77911AEF-5A85-4704-8624-492306A2EA58}" type="presParOf" srcId="{E6C96884-927B-4944-A8D7-6AFB7AECE8F3}" destId="{BC6FD4B5-8124-408C-9B0C-983DF0EE93D5}" srcOrd="3" destOrd="0" presId="urn:microsoft.com/office/officeart/2005/8/layout/hProcess9"/>
    <dgm:cxn modelId="{770B9DA1-B787-4235-85CE-C2F581190638}" type="presParOf" srcId="{E6C96884-927B-4944-A8D7-6AFB7AECE8F3}" destId="{F828F556-307D-45D6-B6FC-6FD79D037DF0}" srcOrd="4" destOrd="0" presId="urn:microsoft.com/office/officeart/2005/8/layout/hProcess9"/>
    <dgm:cxn modelId="{77871326-918D-4232-8BFF-825B57706F08}" type="presParOf" srcId="{E6C96884-927B-4944-A8D7-6AFB7AECE8F3}" destId="{02709F50-E44E-40F7-9A2A-B16229765629}" srcOrd="5" destOrd="0" presId="urn:microsoft.com/office/officeart/2005/8/layout/hProcess9"/>
    <dgm:cxn modelId="{E2DA1827-1E38-47DE-96C0-B5A2D7886CCF}" type="presParOf" srcId="{E6C96884-927B-4944-A8D7-6AFB7AECE8F3}" destId="{C52C842D-4FC4-4C68-922C-44445F0B5FD9}"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4BC0FE6-52B8-484D-8442-358F39053A8F}"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s-BO"/>
        </a:p>
      </dgm:t>
    </dgm:pt>
    <dgm:pt modelId="{749C4F42-8980-475C-9731-114B68343C5D}">
      <dgm:prSet phldrT="[Texto]" custT="1"/>
      <dgm:spPr>
        <a:solidFill>
          <a:schemeClr val="bg2"/>
        </a:solidFill>
        <a:ln>
          <a:solidFill>
            <a:schemeClr val="accent5">
              <a:lumMod val="75000"/>
            </a:schemeClr>
          </a:solidFill>
        </a:ln>
      </dgm:spPr>
      <dgm:t>
        <a:bodyPr/>
        <a:lstStyle/>
        <a:p>
          <a:r>
            <a:rPr lang="es-MX" sz="1600" b="1" i="0" u="none" strike="noStrike" baseline="0" dirty="0">
              <a:solidFill>
                <a:schemeClr val="tx1"/>
              </a:solidFill>
              <a:latin typeface="Arial" panose="020B0604020202020204" pitchFamily="34" charset="0"/>
              <a:cs typeface="Arial" panose="020B0604020202020204" pitchFamily="34" charset="0"/>
            </a:rPr>
            <a:t>¿Intervienen en el caso NPIOC</a:t>
          </a:r>
          <a:r>
            <a:rPr lang="es-MX" sz="1600" b="0" i="0" u="none" strike="noStrike" baseline="0" dirty="0">
              <a:solidFill>
                <a:schemeClr val="tx1"/>
              </a:solidFill>
              <a:latin typeface="Arial" panose="020B0604020202020204" pitchFamily="34" charset="0"/>
              <a:cs typeface="Arial" panose="020B0604020202020204" pitchFamily="34" charset="0"/>
            </a:rPr>
            <a:t> </a:t>
          </a:r>
          <a:r>
            <a:rPr lang="es-MX" sz="1600" b="1" i="0" u="none" strike="noStrike" baseline="0" dirty="0">
              <a:solidFill>
                <a:schemeClr val="tx1"/>
              </a:solidFill>
              <a:latin typeface="Arial" panose="020B0604020202020204" pitchFamily="34" charset="0"/>
              <a:cs typeface="Arial" panose="020B0604020202020204" pitchFamily="34" charset="0"/>
            </a:rPr>
            <a:t>o algunos de sus miembros, </a:t>
          </a:r>
        </a:p>
        <a:p>
          <a:r>
            <a:rPr lang="es-MX" sz="1600" b="1" i="0" u="none" strike="noStrike" baseline="0" dirty="0">
              <a:solidFill>
                <a:schemeClr val="tx1"/>
              </a:solidFill>
              <a:latin typeface="Arial" panose="020B0604020202020204" pitchFamily="34" charset="0"/>
              <a:cs typeface="Arial" panose="020B0604020202020204" pitchFamily="34" charset="0"/>
            </a:rPr>
            <a:t>sea como demandantes, demandados, imputados, querellantes o víctimas? </a:t>
          </a:r>
          <a:endParaRPr lang="es-BO" sz="1600" dirty="0">
            <a:solidFill>
              <a:schemeClr val="tx1"/>
            </a:solidFill>
            <a:latin typeface="Arial" panose="020B0604020202020204" pitchFamily="34" charset="0"/>
            <a:cs typeface="Arial" panose="020B0604020202020204" pitchFamily="34" charset="0"/>
          </a:endParaRPr>
        </a:p>
      </dgm:t>
    </dgm:pt>
    <dgm:pt modelId="{BB102FEF-435B-469B-94A4-A2833781D00A}" type="parTrans" cxnId="{D2DBD0F5-A648-40F5-B103-4E73012229B5}">
      <dgm:prSet/>
      <dgm:spPr/>
      <dgm:t>
        <a:bodyPr/>
        <a:lstStyle/>
        <a:p>
          <a:endParaRPr lang="es-BO"/>
        </a:p>
      </dgm:t>
    </dgm:pt>
    <dgm:pt modelId="{850AE486-A8AD-499A-AADD-4A78CEF243F6}" type="sibTrans" cxnId="{D2DBD0F5-A648-40F5-B103-4E73012229B5}">
      <dgm:prSet/>
      <dgm:spPr/>
      <dgm:t>
        <a:bodyPr/>
        <a:lstStyle/>
        <a:p>
          <a:endParaRPr lang="es-BO"/>
        </a:p>
      </dgm:t>
    </dgm:pt>
    <dgm:pt modelId="{E4906367-F99C-477A-986D-7953656171F7}">
      <dgm:prSet phldrT="[Texto]" custT="1"/>
      <dgm:spPr>
        <a:ln>
          <a:solidFill>
            <a:srgbClr val="FF0000"/>
          </a:solidFill>
        </a:ln>
      </dgm:spPr>
      <dgm:t>
        <a:bodyPr/>
        <a:lstStyle/>
        <a:p>
          <a:pPr algn="just"/>
          <a:r>
            <a:rPr lang="es-MX" sz="1400" b="0" i="0" u="none" strike="noStrike" baseline="0" dirty="0">
              <a:solidFill>
                <a:srgbClr val="000000"/>
              </a:solidFill>
              <a:latin typeface="Arial" panose="020B0604020202020204" pitchFamily="34" charset="0"/>
              <a:cs typeface="Arial" panose="020B0604020202020204" pitchFamily="34" charset="0"/>
            </a:rPr>
            <a:t>Esta pregunta debe ser respondida a partir del contexto de los hechos denunciados o demandados y, de ser necesario, con la respuesta o contestación a la demanda; en todo caso, es posible a la autoridad jurisdiccional convocar a las partes para que éstas se autoidentifiquen como miembros de una NPIOC</a:t>
          </a:r>
          <a:endParaRPr lang="es-BO" sz="1400" dirty="0"/>
        </a:p>
      </dgm:t>
    </dgm:pt>
    <dgm:pt modelId="{21F8DEC9-5F20-432C-B35E-0DA67F13503D}" type="parTrans" cxnId="{1F79296B-BA72-42F0-A1FA-A3D94C491248}">
      <dgm:prSet/>
      <dgm:spPr/>
      <dgm:t>
        <a:bodyPr/>
        <a:lstStyle/>
        <a:p>
          <a:endParaRPr lang="es-BO"/>
        </a:p>
      </dgm:t>
    </dgm:pt>
    <dgm:pt modelId="{361B02FE-ED74-4815-A9BF-5944F327C48A}" type="sibTrans" cxnId="{1F79296B-BA72-42F0-A1FA-A3D94C491248}">
      <dgm:prSet/>
      <dgm:spPr/>
      <dgm:t>
        <a:bodyPr/>
        <a:lstStyle/>
        <a:p>
          <a:endParaRPr lang="es-BO"/>
        </a:p>
      </dgm:t>
    </dgm:pt>
    <dgm:pt modelId="{7E3B2E23-5744-4B2B-858C-A74D5131803F}">
      <dgm:prSet phldrT="[Texto]" custT="1"/>
      <dgm:spPr>
        <a:solidFill>
          <a:srgbClr val="FFFF00"/>
        </a:solidFill>
      </dgm:spPr>
      <dgm:t>
        <a:bodyPr/>
        <a:lstStyle/>
        <a:p>
          <a:pPr algn="just"/>
          <a:r>
            <a:rPr lang="es-MX" sz="1600" b="1" i="0" u="none" strike="noStrike" baseline="0" dirty="0">
              <a:solidFill>
                <a:srgbClr val="365F91"/>
              </a:solidFill>
              <a:latin typeface="Arial" panose="020B0604020202020204" pitchFamily="34" charset="0"/>
              <a:cs typeface="Arial" panose="020B0604020202020204" pitchFamily="34" charset="0"/>
            </a:rPr>
            <a:t>¿Alguna de las partes pertenece a una población o grupo en situación de vulnerabilidad, es decir, si es mujer, niño, niña, adolescente, persona con discapacidad, persona adulta mayor? </a:t>
          </a:r>
          <a:endParaRPr lang="es-BO" sz="1600" b="1" dirty="0">
            <a:latin typeface="Arial" panose="020B0604020202020204" pitchFamily="34" charset="0"/>
            <a:cs typeface="Arial" panose="020B0604020202020204" pitchFamily="34" charset="0"/>
          </a:endParaRPr>
        </a:p>
      </dgm:t>
    </dgm:pt>
    <dgm:pt modelId="{F73A486E-A819-4557-BBF5-1D2171C7AB72}" type="parTrans" cxnId="{2EC841C6-8F0A-44C8-9E01-0909181FF34A}">
      <dgm:prSet/>
      <dgm:spPr/>
      <dgm:t>
        <a:bodyPr/>
        <a:lstStyle/>
        <a:p>
          <a:endParaRPr lang="es-BO"/>
        </a:p>
      </dgm:t>
    </dgm:pt>
    <dgm:pt modelId="{B90620D5-CD1B-4C75-8E1A-EFAB2B6EF9E3}" type="sibTrans" cxnId="{2EC841C6-8F0A-44C8-9E01-0909181FF34A}">
      <dgm:prSet/>
      <dgm:spPr/>
      <dgm:t>
        <a:bodyPr/>
        <a:lstStyle/>
        <a:p>
          <a:endParaRPr lang="es-BO"/>
        </a:p>
      </dgm:t>
    </dgm:pt>
    <dgm:pt modelId="{809F124E-E656-483B-B22C-F8753586DA8C}">
      <dgm:prSet phldrT="[Texto]" custT="1"/>
      <dgm:spPr>
        <a:ln>
          <a:solidFill>
            <a:srgbClr val="FF0000"/>
          </a:solidFill>
        </a:ln>
      </dgm:spPr>
      <dgm:t>
        <a:bodyPr/>
        <a:lstStyle/>
        <a:p>
          <a:r>
            <a:rPr lang="es-MX" sz="1400" dirty="0">
              <a:latin typeface="Arial" panose="020B0604020202020204" pitchFamily="34" charset="0"/>
              <a:cs typeface="Arial" panose="020B0604020202020204" pitchFamily="34" charset="0"/>
            </a:rPr>
            <a:t>La respuesta a esta pregunta le permitirá a la autoridad judicial reforzar su actuación a partir de pautas que también serán explicadas en este acápite</a:t>
          </a:r>
          <a:endParaRPr lang="es-BO" sz="1400" dirty="0">
            <a:latin typeface="Arial" panose="020B0604020202020204" pitchFamily="34" charset="0"/>
            <a:cs typeface="Arial" panose="020B0604020202020204" pitchFamily="34" charset="0"/>
          </a:endParaRPr>
        </a:p>
      </dgm:t>
    </dgm:pt>
    <dgm:pt modelId="{DCB2D488-81EA-44E9-A4D1-0BA8F6FF2F62}" type="parTrans" cxnId="{3CED9FCF-2B9A-4C0B-873F-469F57C4DDED}">
      <dgm:prSet/>
      <dgm:spPr/>
      <dgm:t>
        <a:bodyPr/>
        <a:lstStyle/>
        <a:p>
          <a:endParaRPr lang="es-BO"/>
        </a:p>
      </dgm:t>
    </dgm:pt>
    <dgm:pt modelId="{C7B2F893-5F7D-4887-B690-F750E3C7B015}" type="sibTrans" cxnId="{3CED9FCF-2B9A-4C0B-873F-469F57C4DDED}">
      <dgm:prSet/>
      <dgm:spPr/>
      <dgm:t>
        <a:bodyPr/>
        <a:lstStyle/>
        <a:p>
          <a:endParaRPr lang="es-BO"/>
        </a:p>
      </dgm:t>
    </dgm:pt>
    <dgm:pt modelId="{D0ED38C2-5E3F-4B69-89EF-8C5910EB7AE3}">
      <dgm:prSet phldrT="[Texto]" custT="1"/>
      <dgm:spPr>
        <a:solidFill>
          <a:srgbClr val="00B0F0"/>
        </a:solidFill>
      </dgm:spPr>
      <dgm:t>
        <a:bodyPr/>
        <a:lstStyle/>
        <a:p>
          <a:r>
            <a:rPr lang="es-MX" sz="1800" b="1" i="1" u="sng" strike="noStrike" baseline="0" dirty="0">
              <a:solidFill>
                <a:schemeClr val="tx1"/>
              </a:solidFill>
              <a:latin typeface="Cambria" panose="02040503050406030204" pitchFamily="18" charset="0"/>
            </a:rPr>
            <a:t>¿Es competente para conocer el caso? </a:t>
          </a:r>
          <a:endParaRPr lang="es-BO" sz="1800" i="1" u="sng" dirty="0">
            <a:solidFill>
              <a:schemeClr val="tx1"/>
            </a:solidFill>
          </a:endParaRPr>
        </a:p>
      </dgm:t>
    </dgm:pt>
    <dgm:pt modelId="{FAD63C28-C3A8-4431-A3E6-99B6D88D7052}" type="parTrans" cxnId="{1D4C4EB3-4497-46A5-B0BB-B1B535009D31}">
      <dgm:prSet/>
      <dgm:spPr/>
      <dgm:t>
        <a:bodyPr/>
        <a:lstStyle/>
        <a:p>
          <a:endParaRPr lang="es-BO"/>
        </a:p>
      </dgm:t>
    </dgm:pt>
    <dgm:pt modelId="{75A76C16-4DA4-4413-A80A-773786FB5465}" type="sibTrans" cxnId="{1D4C4EB3-4497-46A5-B0BB-B1B535009D31}">
      <dgm:prSet/>
      <dgm:spPr/>
      <dgm:t>
        <a:bodyPr/>
        <a:lstStyle/>
        <a:p>
          <a:endParaRPr lang="es-BO"/>
        </a:p>
      </dgm:t>
    </dgm:pt>
    <dgm:pt modelId="{2E616438-EB8A-4BC5-8739-2973942B0A24}">
      <dgm:prSet phldrT="[Texto]" custT="1"/>
      <dgm:spPr>
        <a:ln>
          <a:solidFill>
            <a:srgbClr val="FF0000"/>
          </a:solidFill>
        </a:ln>
      </dgm:spPr>
      <dgm:t>
        <a:bodyPr/>
        <a:lstStyle/>
        <a:p>
          <a:r>
            <a:rPr lang="es-MX" sz="1400" dirty="0">
              <a:latin typeface="Arial" panose="020B0604020202020204" pitchFamily="34" charset="0"/>
              <a:cs typeface="Arial" panose="020B0604020202020204" pitchFamily="34" charset="0"/>
            </a:rPr>
            <a:t>la autoridad jurisdiccional, en resguardo de los derechos de las NPIOC a la libre determinación y a ejercer sus sistemas jurídicos</a:t>
          </a:r>
          <a:endParaRPr lang="es-BO" sz="1400" dirty="0">
            <a:latin typeface="Arial" panose="020B0604020202020204" pitchFamily="34" charset="0"/>
            <a:cs typeface="Arial" panose="020B0604020202020204" pitchFamily="34" charset="0"/>
          </a:endParaRPr>
        </a:p>
      </dgm:t>
    </dgm:pt>
    <dgm:pt modelId="{1E4D2191-8454-43E6-8639-DBE7D256BE45}" type="parTrans" cxnId="{C6FEA890-1CA6-4260-B072-656659611583}">
      <dgm:prSet/>
      <dgm:spPr/>
      <dgm:t>
        <a:bodyPr/>
        <a:lstStyle/>
        <a:p>
          <a:endParaRPr lang="es-BO"/>
        </a:p>
      </dgm:t>
    </dgm:pt>
    <dgm:pt modelId="{CE2C3C14-623F-4124-ABFA-506964A8EB87}" type="sibTrans" cxnId="{C6FEA890-1CA6-4260-B072-656659611583}">
      <dgm:prSet/>
      <dgm:spPr/>
      <dgm:t>
        <a:bodyPr/>
        <a:lstStyle/>
        <a:p>
          <a:endParaRPr lang="es-BO"/>
        </a:p>
      </dgm:t>
    </dgm:pt>
    <dgm:pt modelId="{8ED4307D-EE82-4D28-A718-D4DF3A612D61}" type="pres">
      <dgm:prSet presAssocID="{04BC0FE6-52B8-484D-8442-358F39053A8F}" presName="rootnode" presStyleCnt="0">
        <dgm:presLayoutVars>
          <dgm:chMax/>
          <dgm:chPref/>
          <dgm:dir/>
          <dgm:animLvl val="lvl"/>
        </dgm:presLayoutVars>
      </dgm:prSet>
      <dgm:spPr/>
    </dgm:pt>
    <dgm:pt modelId="{635BF50C-9B0C-4C8F-A386-056FCD4DD373}" type="pres">
      <dgm:prSet presAssocID="{749C4F42-8980-475C-9731-114B68343C5D}" presName="composite" presStyleCnt="0"/>
      <dgm:spPr/>
    </dgm:pt>
    <dgm:pt modelId="{CFE5C20F-5AF4-428C-B41C-D029C0A9403C}" type="pres">
      <dgm:prSet presAssocID="{749C4F42-8980-475C-9731-114B68343C5D}" presName="bentUpArrow1" presStyleLbl="alignImgPlace1" presStyleIdx="0" presStyleCnt="2"/>
      <dgm:spPr>
        <a:solidFill>
          <a:srgbClr val="C00000"/>
        </a:solidFill>
      </dgm:spPr>
    </dgm:pt>
    <dgm:pt modelId="{B8C81DC8-64E8-4632-9766-70FE6FAE56CF}" type="pres">
      <dgm:prSet presAssocID="{749C4F42-8980-475C-9731-114B68343C5D}" presName="ParentText" presStyleLbl="node1" presStyleIdx="0" presStyleCnt="3" custScaleX="126243" custScaleY="114371" custLinFactNeighborY="-3093">
        <dgm:presLayoutVars>
          <dgm:chMax val="1"/>
          <dgm:chPref val="1"/>
          <dgm:bulletEnabled val="1"/>
        </dgm:presLayoutVars>
      </dgm:prSet>
      <dgm:spPr/>
    </dgm:pt>
    <dgm:pt modelId="{B7CD7CCE-FAD5-4E73-B5F5-C8CC6221F72C}" type="pres">
      <dgm:prSet presAssocID="{749C4F42-8980-475C-9731-114B68343C5D}" presName="ChildText" presStyleLbl="revTx" presStyleIdx="0" presStyleCnt="3" custScaleX="297865" custScaleY="102404" custLinFactX="44264" custLinFactNeighborX="100000" custLinFactNeighborY="15883">
        <dgm:presLayoutVars>
          <dgm:chMax val="0"/>
          <dgm:chPref val="0"/>
          <dgm:bulletEnabled val="1"/>
        </dgm:presLayoutVars>
      </dgm:prSet>
      <dgm:spPr/>
    </dgm:pt>
    <dgm:pt modelId="{EE6FEAF1-73C9-4E87-AEF4-99108FAC079E}" type="pres">
      <dgm:prSet presAssocID="{850AE486-A8AD-499A-AADD-4A78CEF243F6}" presName="sibTrans" presStyleCnt="0"/>
      <dgm:spPr/>
    </dgm:pt>
    <dgm:pt modelId="{E119557B-F2D1-4447-9958-EB5509438B69}" type="pres">
      <dgm:prSet presAssocID="{7E3B2E23-5744-4B2B-858C-A74D5131803F}" presName="composite" presStyleCnt="0"/>
      <dgm:spPr/>
    </dgm:pt>
    <dgm:pt modelId="{5B38AA6A-B3D8-45D5-9D97-E0E789F192B5}" type="pres">
      <dgm:prSet presAssocID="{7E3B2E23-5744-4B2B-858C-A74D5131803F}" presName="bentUpArrow1" presStyleLbl="alignImgPlace1" presStyleIdx="1" presStyleCnt="2" custLinFactNeighborX="-64862" custLinFactNeighborY="-7309"/>
      <dgm:spPr>
        <a:solidFill>
          <a:schemeClr val="accent5"/>
        </a:solidFill>
      </dgm:spPr>
    </dgm:pt>
    <dgm:pt modelId="{71910856-C5DF-4494-A177-0688F46F863B}" type="pres">
      <dgm:prSet presAssocID="{7E3B2E23-5744-4B2B-858C-A74D5131803F}" presName="ParentText" presStyleLbl="node1" presStyleIdx="1" presStyleCnt="3" custScaleX="154626" custLinFactNeighborX="-34736" custLinFactNeighborY="-2365">
        <dgm:presLayoutVars>
          <dgm:chMax val="1"/>
          <dgm:chPref val="1"/>
          <dgm:bulletEnabled val="1"/>
        </dgm:presLayoutVars>
      </dgm:prSet>
      <dgm:spPr/>
    </dgm:pt>
    <dgm:pt modelId="{C9B213F5-3D11-4CE5-B5B8-550379E3295B}" type="pres">
      <dgm:prSet presAssocID="{7E3B2E23-5744-4B2B-858C-A74D5131803F}" presName="ChildText" presStyleLbl="revTx" presStyleIdx="1" presStyleCnt="3" custScaleX="178530" custLinFactNeighborX="43784" custLinFactNeighborY="-3411">
        <dgm:presLayoutVars>
          <dgm:chMax val="0"/>
          <dgm:chPref val="0"/>
          <dgm:bulletEnabled val="1"/>
        </dgm:presLayoutVars>
      </dgm:prSet>
      <dgm:spPr/>
    </dgm:pt>
    <dgm:pt modelId="{0C5345FB-7CC9-4AB4-90A0-460F3A945B53}" type="pres">
      <dgm:prSet presAssocID="{B90620D5-CD1B-4C75-8E1A-EFAB2B6EF9E3}" presName="sibTrans" presStyleCnt="0"/>
      <dgm:spPr/>
    </dgm:pt>
    <dgm:pt modelId="{C649736F-A0D8-47FD-86FE-0B2359C470DD}" type="pres">
      <dgm:prSet presAssocID="{D0ED38C2-5E3F-4B69-89EF-8C5910EB7AE3}" presName="composite" presStyleCnt="0"/>
      <dgm:spPr/>
    </dgm:pt>
    <dgm:pt modelId="{355AED8A-6B45-438C-A62C-6D6BC819228B}" type="pres">
      <dgm:prSet presAssocID="{D0ED38C2-5E3F-4B69-89EF-8C5910EB7AE3}" presName="ParentText" presStyleLbl="node1" presStyleIdx="2" presStyleCnt="3" custScaleY="62630" custLinFactNeighborX="-50566" custLinFactNeighborY="0">
        <dgm:presLayoutVars>
          <dgm:chMax val="1"/>
          <dgm:chPref val="1"/>
          <dgm:bulletEnabled val="1"/>
        </dgm:presLayoutVars>
      </dgm:prSet>
      <dgm:spPr/>
    </dgm:pt>
    <dgm:pt modelId="{B4332058-762D-429B-A8F8-8E3E0C365549}" type="pres">
      <dgm:prSet presAssocID="{D0ED38C2-5E3F-4B69-89EF-8C5910EB7AE3}" presName="FinalChildText" presStyleLbl="revTx" presStyleIdx="2" presStyleCnt="3" custScaleX="199654" custLinFactNeighborX="-1125" custLinFactNeighborY="-8527">
        <dgm:presLayoutVars>
          <dgm:chMax val="0"/>
          <dgm:chPref val="0"/>
          <dgm:bulletEnabled val="1"/>
        </dgm:presLayoutVars>
      </dgm:prSet>
      <dgm:spPr/>
    </dgm:pt>
  </dgm:ptLst>
  <dgm:cxnLst>
    <dgm:cxn modelId="{D5BF7F05-4FCF-403A-B6B8-9937B14BF6BC}" type="presOf" srcId="{749C4F42-8980-475C-9731-114B68343C5D}" destId="{B8C81DC8-64E8-4632-9766-70FE6FAE56CF}" srcOrd="0" destOrd="0" presId="urn:microsoft.com/office/officeart/2005/8/layout/StepDownProcess"/>
    <dgm:cxn modelId="{18287760-C189-4F94-AEA5-DC36756FB553}" type="presOf" srcId="{E4906367-F99C-477A-986D-7953656171F7}" destId="{B7CD7CCE-FAD5-4E73-B5F5-C8CC6221F72C}" srcOrd="0" destOrd="0" presId="urn:microsoft.com/office/officeart/2005/8/layout/StepDownProcess"/>
    <dgm:cxn modelId="{1F79296B-BA72-42F0-A1FA-A3D94C491248}" srcId="{749C4F42-8980-475C-9731-114B68343C5D}" destId="{E4906367-F99C-477A-986D-7953656171F7}" srcOrd="0" destOrd="0" parTransId="{21F8DEC9-5F20-432C-B35E-0DA67F13503D}" sibTransId="{361B02FE-ED74-4815-A9BF-5944F327C48A}"/>
    <dgm:cxn modelId="{828C2C4E-BAA8-4B68-A37A-580A2287D0D3}" type="presOf" srcId="{7E3B2E23-5744-4B2B-858C-A74D5131803F}" destId="{71910856-C5DF-4494-A177-0688F46F863B}" srcOrd="0" destOrd="0" presId="urn:microsoft.com/office/officeart/2005/8/layout/StepDownProcess"/>
    <dgm:cxn modelId="{C6FEA890-1CA6-4260-B072-656659611583}" srcId="{D0ED38C2-5E3F-4B69-89EF-8C5910EB7AE3}" destId="{2E616438-EB8A-4BC5-8739-2973942B0A24}" srcOrd="0" destOrd="0" parTransId="{1E4D2191-8454-43E6-8639-DBE7D256BE45}" sibTransId="{CE2C3C14-623F-4124-ABFA-506964A8EB87}"/>
    <dgm:cxn modelId="{C940379B-A657-44C1-82FE-F74F2DB4D045}" type="presOf" srcId="{809F124E-E656-483B-B22C-F8753586DA8C}" destId="{C9B213F5-3D11-4CE5-B5B8-550379E3295B}" srcOrd="0" destOrd="0" presId="urn:microsoft.com/office/officeart/2005/8/layout/StepDownProcess"/>
    <dgm:cxn modelId="{1D4C4EB3-4497-46A5-B0BB-B1B535009D31}" srcId="{04BC0FE6-52B8-484D-8442-358F39053A8F}" destId="{D0ED38C2-5E3F-4B69-89EF-8C5910EB7AE3}" srcOrd="2" destOrd="0" parTransId="{FAD63C28-C3A8-4431-A3E6-99B6D88D7052}" sibTransId="{75A76C16-4DA4-4413-A80A-773786FB5465}"/>
    <dgm:cxn modelId="{58F02EB6-A052-45D6-8EFB-B2F82967E875}" type="presOf" srcId="{D0ED38C2-5E3F-4B69-89EF-8C5910EB7AE3}" destId="{355AED8A-6B45-438C-A62C-6D6BC819228B}" srcOrd="0" destOrd="0" presId="urn:microsoft.com/office/officeart/2005/8/layout/StepDownProcess"/>
    <dgm:cxn modelId="{463EAFB7-5E9E-4CBD-A560-82992D1C2523}" type="presOf" srcId="{04BC0FE6-52B8-484D-8442-358F39053A8F}" destId="{8ED4307D-EE82-4D28-A718-D4DF3A612D61}" srcOrd="0" destOrd="0" presId="urn:microsoft.com/office/officeart/2005/8/layout/StepDownProcess"/>
    <dgm:cxn modelId="{2EC841C6-8F0A-44C8-9E01-0909181FF34A}" srcId="{04BC0FE6-52B8-484D-8442-358F39053A8F}" destId="{7E3B2E23-5744-4B2B-858C-A74D5131803F}" srcOrd="1" destOrd="0" parTransId="{F73A486E-A819-4557-BBF5-1D2171C7AB72}" sibTransId="{B90620D5-CD1B-4C75-8E1A-EFAB2B6EF9E3}"/>
    <dgm:cxn modelId="{3CED9FCF-2B9A-4C0B-873F-469F57C4DDED}" srcId="{7E3B2E23-5744-4B2B-858C-A74D5131803F}" destId="{809F124E-E656-483B-B22C-F8753586DA8C}" srcOrd="0" destOrd="0" parTransId="{DCB2D488-81EA-44E9-A4D1-0BA8F6FF2F62}" sibTransId="{C7B2F893-5F7D-4887-B690-F750E3C7B015}"/>
    <dgm:cxn modelId="{500F0AD3-1637-433C-AD75-3C5982C0CEBE}" type="presOf" srcId="{2E616438-EB8A-4BC5-8739-2973942B0A24}" destId="{B4332058-762D-429B-A8F8-8E3E0C365549}" srcOrd="0" destOrd="0" presId="urn:microsoft.com/office/officeart/2005/8/layout/StepDownProcess"/>
    <dgm:cxn modelId="{D2DBD0F5-A648-40F5-B103-4E73012229B5}" srcId="{04BC0FE6-52B8-484D-8442-358F39053A8F}" destId="{749C4F42-8980-475C-9731-114B68343C5D}" srcOrd="0" destOrd="0" parTransId="{BB102FEF-435B-469B-94A4-A2833781D00A}" sibTransId="{850AE486-A8AD-499A-AADD-4A78CEF243F6}"/>
    <dgm:cxn modelId="{00C45FC5-D2EC-498F-88D2-B672F5EF1662}" type="presParOf" srcId="{8ED4307D-EE82-4D28-A718-D4DF3A612D61}" destId="{635BF50C-9B0C-4C8F-A386-056FCD4DD373}" srcOrd="0" destOrd="0" presId="urn:microsoft.com/office/officeart/2005/8/layout/StepDownProcess"/>
    <dgm:cxn modelId="{32B5D8F5-FF71-4B85-A2F5-79FC160EFB8D}" type="presParOf" srcId="{635BF50C-9B0C-4C8F-A386-056FCD4DD373}" destId="{CFE5C20F-5AF4-428C-B41C-D029C0A9403C}" srcOrd="0" destOrd="0" presId="urn:microsoft.com/office/officeart/2005/8/layout/StepDownProcess"/>
    <dgm:cxn modelId="{27845E94-1B92-4C4B-A075-C0E0F8150C94}" type="presParOf" srcId="{635BF50C-9B0C-4C8F-A386-056FCD4DD373}" destId="{B8C81DC8-64E8-4632-9766-70FE6FAE56CF}" srcOrd="1" destOrd="0" presId="urn:microsoft.com/office/officeart/2005/8/layout/StepDownProcess"/>
    <dgm:cxn modelId="{8EB10722-4FBA-4016-A1E7-5B333254CBA9}" type="presParOf" srcId="{635BF50C-9B0C-4C8F-A386-056FCD4DD373}" destId="{B7CD7CCE-FAD5-4E73-B5F5-C8CC6221F72C}" srcOrd="2" destOrd="0" presId="urn:microsoft.com/office/officeart/2005/8/layout/StepDownProcess"/>
    <dgm:cxn modelId="{E3DBF23A-1090-47E9-B2A8-0C840ABF391C}" type="presParOf" srcId="{8ED4307D-EE82-4D28-A718-D4DF3A612D61}" destId="{EE6FEAF1-73C9-4E87-AEF4-99108FAC079E}" srcOrd="1" destOrd="0" presId="urn:microsoft.com/office/officeart/2005/8/layout/StepDownProcess"/>
    <dgm:cxn modelId="{BD916864-F505-44F6-9853-DA4DE45D66AC}" type="presParOf" srcId="{8ED4307D-EE82-4D28-A718-D4DF3A612D61}" destId="{E119557B-F2D1-4447-9958-EB5509438B69}" srcOrd="2" destOrd="0" presId="urn:microsoft.com/office/officeart/2005/8/layout/StepDownProcess"/>
    <dgm:cxn modelId="{73B1FB39-27F6-4173-A97F-DB54B90E1CC7}" type="presParOf" srcId="{E119557B-F2D1-4447-9958-EB5509438B69}" destId="{5B38AA6A-B3D8-45D5-9D97-E0E789F192B5}" srcOrd="0" destOrd="0" presId="urn:microsoft.com/office/officeart/2005/8/layout/StepDownProcess"/>
    <dgm:cxn modelId="{0439D44A-5ABB-452C-A038-768F19F0C1E0}" type="presParOf" srcId="{E119557B-F2D1-4447-9958-EB5509438B69}" destId="{71910856-C5DF-4494-A177-0688F46F863B}" srcOrd="1" destOrd="0" presId="urn:microsoft.com/office/officeart/2005/8/layout/StepDownProcess"/>
    <dgm:cxn modelId="{AEBAC40F-FFB2-4F4D-AB95-BC1F42DC30E5}" type="presParOf" srcId="{E119557B-F2D1-4447-9958-EB5509438B69}" destId="{C9B213F5-3D11-4CE5-B5B8-550379E3295B}" srcOrd="2" destOrd="0" presId="urn:microsoft.com/office/officeart/2005/8/layout/StepDownProcess"/>
    <dgm:cxn modelId="{2F5CFC26-61F6-46D7-8826-6C4F32133B27}" type="presParOf" srcId="{8ED4307D-EE82-4D28-A718-D4DF3A612D61}" destId="{0C5345FB-7CC9-4AB4-90A0-460F3A945B53}" srcOrd="3" destOrd="0" presId="urn:microsoft.com/office/officeart/2005/8/layout/StepDownProcess"/>
    <dgm:cxn modelId="{E1DA9AF7-2EEE-4323-8B30-B0CA9DE8F617}" type="presParOf" srcId="{8ED4307D-EE82-4D28-A718-D4DF3A612D61}" destId="{C649736F-A0D8-47FD-86FE-0B2359C470DD}" srcOrd="4" destOrd="0" presId="urn:microsoft.com/office/officeart/2005/8/layout/StepDownProcess"/>
    <dgm:cxn modelId="{1415CF9E-90FB-42E5-96BD-E2A5EB8772B9}" type="presParOf" srcId="{C649736F-A0D8-47FD-86FE-0B2359C470DD}" destId="{355AED8A-6B45-438C-A62C-6D6BC819228B}" srcOrd="0" destOrd="0" presId="urn:microsoft.com/office/officeart/2005/8/layout/StepDownProcess"/>
    <dgm:cxn modelId="{D3024CB1-35C3-4A2D-9266-598B100ACCF1}" type="presParOf" srcId="{C649736F-A0D8-47FD-86FE-0B2359C470DD}" destId="{B4332058-762D-429B-A8F8-8E3E0C365549}" srcOrd="1" destOrd="0" presId="urn:microsoft.com/office/officeart/2005/8/layout/StepDownProcess"/>
  </dgm:cxnLst>
  <dgm:bg/>
  <dgm:whole>
    <a:ln w="38100">
      <a:solidFill>
        <a:schemeClr val="accent5">
          <a:lumMod val="75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1267875-9B3C-4E91-8AAF-05B5FD61624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BO"/>
        </a:p>
      </dgm:t>
    </dgm:pt>
    <dgm:pt modelId="{AC1A7334-7EE1-40D3-98AB-F83594D70A3D}">
      <dgm:prSet phldrT="[Texto]" custT="1"/>
      <dgm:spPr>
        <a:solidFill>
          <a:schemeClr val="accent4"/>
        </a:solidFill>
      </dgm:spPr>
      <dgm:t>
        <a:bodyPr/>
        <a:lstStyle/>
        <a:p>
          <a:r>
            <a:rPr lang="es-MX" sz="1800" b="1" i="1" dirty="0">
              <a:solidFill>
                <a:sysClr val="windowText" lastClr="000000"/>
              </a:solidFill>
              <a:latin typeface="Arial" panose="020B0604020202020204" pitchFamily="34" charset="0"/>
              <a:cs typeface="Arial" panose="020B0604020202020204" pitchFamily="34" charset="0"/>
            </a:rPr>
            <a:t>II.3. casos:  miembros de NPIOC </a:t>
          </a:r>
          <a:endParaRPr lang="es-BO" sz="1800" dirty="0">
            <a:solidFill>
              <a:sysClr val="windowText" lastClr="000000"/>
            </a:solidFill>
            <a:latin typeface="Arial" panose="020B0604020202020204" pitchFamily="34" charset="0"/>
            <a:cs typeface="Arial" panose="020B0604020202020204" pitchFamily="34" charset="0"/>
          </a:endParaRPr>
        </a:p>
      </dgm:t>
    </dgm:pt>
    <dgm:pt modelId="{2BDA4FF0-3665-4F93-BAD2-4EE4CACA6BEC}" type="parTrans" cxnId="{C9171006-6336-4932-AD9F-7B54C0362F74}">
      <dgm:prSet/>
      <dgm:spPr/>
      <dgm:t>
        <a:bodyPr/>
        <a:lstStyle/>
        <a:p>
          <a:endParaRPr lang="es-BO"/>
        </a:p>
      </dgm:t>
    </dgm:pt>
    <dgm:pt modelId="{684911D6-62DD-43A6-ACEE-DC1D9663C69E}" type="sibTrans" cxnId="{C9171006-6336-4932-AD9F-7B54C0362F74}">
      <dgm:prSet/>
      <dgm:spPr/>
      <dgm:t>
        <a:bodyPr/>
        <a:lstStyle/>
        <a:p>
          <a:endParaRPr lang="es-BO"/>
        </a:p>
      </dgm:t>
    </dgm:pt>
    <dgm:pt modelId="{A939A578-981C-40E1-8DBD-B0212F5FA9AB}">
      <dgm:prSet phldrT="[Texto]" custT="1"/>
      <dgm:spPr>
        <a:solidFill>
          <a:srgbClr val="FFFF00"/>
        </a:solidFill>
      </dgm:spPr>
      <dgm:t>
        <a:bodyPr/>
        <a:lstStyle/>
        <a:p>
          <a:r>
            <a:rPr lang="es-MX" sz="1800" b="1" dirty="0">
              <a:solidFill>
                <a:sysClr val="windowText" lastClr="000000"/>
              </a:solidFill>
              <a:latin typeface="Arial" panose="020B0604020202020204" pitchFamily="34" charset="0"/>
              <a:cs typeface="Arial" panose="020B0604020202020204" pitchFamily="34" charset="0"/>
            </a:rPr>
            <a:t>II.3.1. Definición de la competencia de las </a:t>
          </a:r>
          <a:r>
            <a:rPr lang="es-MX" sz="1800" b="1" dirty="0">
              <a:solidFill>
                <a:schemeClr val="tx1"/>
              </a:solidFill>
              <a:latin typeface="Arial" panose="020B0604020202020204" pitchFamily="34" charset="0"/>
              <a:cs typeface="Arial" panose="020B0604020202020204" pitchFamily="34" charset="0"/>
            </a:rPr>
            <a:t>autoridades jurisdiccionales Si</a:t>
          </a:r>
          <a:r>
            <a:rPr lang="es-MX" sz="1800" b="1" dirty="0">
              <a:solidFill>
                <a:schemeClr val="tx1"/>
              </a:solidFill>
              <a:effectLst/>
              <a:latin typeface="Arial" panose="020B0604020202020204" pitchFamily="34" charset="0"/>
              <a:ea typeface="Calibri" panose="020F0502020204030204" pitchFamily="34" charset="0"/>
              <a:cs typeface="Arial" panose="020B0604020202020204" pitchFamily="34" charset="0"/>
            </a:rPr>
            <a:t> el caso: </a:t>
          </a:r>
          <a:endParaRPr lang="es-BO" sz="1800" dirty="0">
            <a:solidFill>
              <a:schemeClr val="tx1"/>
            </a:solidFill>
            <a:latin typeface="Arial" panose="020B0604020202020204" pitchFamily="34" charset="0"/>
            <a:cs typeface="Arial" panose="020B0604020202020204" pitchFamily="34" charset="0"/>
          </a:endParaRPr>
        </a:p>
      </dgm:t>
    </dgm:pt>
    <dgm:pt modelId="{2E1F283C-C8B0-4581-8656-4E343C6F08C8}" type="parTrans" cxnId="{F6A9E766-26F0-4DCD-B74F-AABBED3F6D50}">
      <dgm:prSet/>
      <dgm:spPr>
        <a:ln w="38100">
          <a:solidFill>
            <a:srgbClr val="FF0000"/>
          </a:solidFill>
        </a:ln>
      </dgm:spPr>
      <dgm:t>
        <a:bodyPr/>
        <a:lstStyle/>
        <a:p>
          <a:endParaRPr lang="es-BO"/>
        </a:p>
      </dgm:t>
    </dgm:pt>
    <dgm:pt modelId="{203D80B6-904D-4BDA-BD38-38F552B6195B}" type="sibTrans" cxnId="{F6A9E766-26F0-4DCD-B74F-AABBED3F6D50}">
      <dgm:prSet/>
      <dgm:spPr/>
      <dgm:t>
        <a:bodyPr/>
        <a:lstStyle/>
        <a:p>
          <a:endParaRPr lang="es-BO"/>
        </a:p>
      </dgm:t>
    </dgm:pt>
    <dgm:pt modelId="{4C4B6E67-A1D7-4648-B37A-1BADDF8D15C9}">
      <dgm:prSet phldrT="[Texto]" custT="1"/>
      <dgm:spPr>
        <a:solidFill>
          <a:srgbClr val="FFFF00"/>
        </a:solidFill>
      </dgm:spPr>
      <dgm:t>
        <a:bodyPr/>
        <a:lstStyle/>
        <a:p>
          <a:r>
            <a:rPr lang="es-MX" sz="1800" b="1" dirty="0">
              <a:solidFill>
                <a:sysClr val="windowText" lastClr="000000"/>
              </a:solidFill>
              <a:latin typeface="Arial" panose="020B0604020202020204" pitchFamily="34" charset="0"/>
              <a:cs typeface="Arial" panose="020B0604020202020204" pitchFamily="34" charset="0"/>
            </a:rPr>
            <a:t>II.3.2. Acceso a la justicia plural </a:t>
          </a:r>
          <a:endParaRPr lang="es-BO" sz="1800" dirty="0"/>
        </a:p>
      </dgm:t>
    </dgm:pt>
    <dgm:pt modelId="{EA5A67DB-1F4C-46E8-B8EB-430D28BD2335}" type="parTrans" cxnId="{A2349964-2593-4E2E-A4D0-BC0D75C7ADE9}">
      <dgm:prSet/>
      <dgm:spPr>
        <a:ln w="57150">
          <a:solidFill>
            <a:srgbClr val="FF0000"/>
          </a:solidFill>
        </a:ln>
      </dgm:spPr>
      <dgm:t>
        <a:bodyPr/>
        <a:lstStyle/>
        <a:p>
          <a:endParaRPr lang="es-BO"/>
        </a:p>
      </dgm:t>
    </dgm:pt>
    <dgm:pt modelId="{B3C81646-ED7B-4AB1-B5FB-2FEDC9F4C7D1}" type="sibTrans" cxnId="{A2349964-2593-4E2E-A4D0-BC0D75C7ADE9}">
      <dgm:prSet/>
      <dgm:spPr/>
      <dgm:t>
        <a:bodyPr/>
        <a:lstStyle/>
        <a:p>
          <a:endParaRPr lang="es-BO"/>
        </a:p>
      </dgm:t>
    </dgm:pt>
    <dgm:pt modelId="{F213E3AD-BD83-4DB6-B637-63D94E88A2A4}" type="pres">
      <dgm:prSet presAssocID="{C1267875-9B3C-4E91-8AAF-05B5FD61624D}" presName="hierChild1" presStyleCnt="0">
        <dgm:presLayoutVars>
          <dgm:orgChart val="1"/>
          <dgm:chPref val="1"/>
          <dgm:dir/>
          <dgm:animOne val="branch"/>
          <dgm:animLvl val="lvl"/>
          <dgm:resizeHandles/>
        </dgm:presLayoutVars>
      </dgm:prSet>
      <dgm:spPr/>
    </dgm:pt>
    <dgm:pt modelId="{1E9F2E11-3829-4DF4-8E7D-285240A88264}" type="pres">
      <dgm:prSet presAssocID="{AC1A7334-7EE1-40D3-98AB-F83594D70A3D}" presName="hierRoot1" presStyleCnt="0">
        <dgm:presLayoutVars>
          <dgm:hierBranch val="init"/>
        </dgm:presLayoutVars>
      </dgm:prSet>
      <dgm:spPr/>
    </dgm:pt>
    <dgm:pt modelId="{84A22D94-413E-4063-B2AE-9F9FA49F0850}" type="pres">
      <dgm:prSet presAssocID="{AC1A7334-7EE1-40D3-98AB-F83594D70A3D}" presName="rootComposite1" presStyleCnt="0"/>
      <dgm:spPr/>
    </dgm:pt>
    <dgm:pt modelId="{0F178381-B29D-4022-B5E4-02CF1309F5D9}" type="pres">
      <dgm:prSet presAssocID="{AC1A7334-7EE1-40D3-98AB-F83594D70A3D}" presName="rootText1" presStyleLbl="node0" presStyleIdx="0" presStyleCnt="1" custScaleX="193344" custScaleY="32492">
        <dgm:presLayoutVars>
          <dgm:chPref val="3"/>
        </dgm:presLayoutVars>
      </dgm:prSet>
      <dgm:spPr/>
    </dgm:pt>
    <dgm:pt modelId="{C6F8CFF4-01B5-4ECE-909A-8298EB0914D3}" type="pres">
      <dgm:prSet presAssocID="{AC1A7334-7EE1-40D3-98AB-F83594D70A3D}" presName="rootConnector1" presStyleLbl="node1" presStyleIdx="0" presStyleCnt="0"/>
      <dgm:spPr/>
    </dgm:pt>
    <dgm:pt modelId="{20B85B72-AF46-41C5-BBF4-E1018E28D68E}" type="pres">
      <dgm:prSet presAssocID="{AC1A7334-7EE1-40D3-98AB-F83594D70A3D}" presName="hierChild2" presStyleCnt="0"/>
      <dgm:spPr/>
    </dgm:pt>
    <dgm:pt modelId="{67759021-90C7-42D4-86AF-9E0864F3C9D3}" type="pres">
      <dgm:prSet presAssocID="{2E1F283C-C8B0-4581-8656-4E343C6F08C8}" presName="Name37" presStyleLbl="parChTrans1D2" presStyleIdx="0" presStyleCnt="2"/>
      <dgm:spPr/>
    </dgm:pt>
    <dgm:pt modelId="{383F7C5E-5D33-4224-952D-59DEE73369D8}" type="pres">
      <dgm:prSet presAssocID="{A939A578-981C-40E1-8DBD-B0212F5FA9AB}" presName="hierRoot2" presStyleCnt="0">
        <dgm:presLayoutVars>
          <dgm:hierBranch val="init"/>
        </dgm:presLayoutVars>
      </dgm:prSet>
      <dgm:spPr/>
    </dgm:pt>
    <dgm:pt modelId="{65734AD4-C784-4F3C-8F48-A418CABF3309}" type="pres">
      <dgm:prSet presAssocID="{A939A578-981C-40E1-8DBD-B0212F5FA9AB}" presName="rootComposite" presStyleCnt="0"/>
      <dgm:spPr/>
    </dgm:pt>
    <dgm:pt modelId="{23911A22-A6C4-4903-9120-D8C28A6CAF53}" type="pres">
      <dgm:prSet presAssocID="{A939A578-981C-40E1-8DBD-B0212F5FA9AB}" presName="rootText" presStyleLbl="node2" presStyleIdx="0" presStyleCnt="2" custScaleX="149298" custScaleY="87516" custLinFactNeighborX="-21030" custLinFactNeighborY="-3938">
        <dgm:presLayoutVars>
          <dgm:chPref val="3"/>
        </dgm:presLayoutVars>
      </dgm:prSet>
      <dgm:spPr/>
    </dgm:pt>
    <dgm:pt modelId="{B5BC817C-55BF-4598-A0AD-6D8E2264A79D}" type="pres">
      <dgm:prSet presAssocID="{A939A578-981C-40E1-8DBD-B0212F5FA9AB}" presName="rootConnector" presStyleLbl="node2" presStyleIdx="0" presStyleCnt="2"/>
      <dgm:spPr/>
    </dgm:pt>
    <dgm:pt modelId="{0F618ED0-93D7-4EEA-A3CC-7A6EA4BB1FD7}" type="pres">
      <dgm:prSet presAssocID="{A939A578-981C-40E1-8DBD-B0212F5FA9AB}" presName="hierChild4" presStyleCnt="0"/>
      <dgm:spPr/>
    </dgm:pt>
    <dgm:pt modelId="{C51F71A4-734A-470C-8F88-CD2DFD018669}" type="pres">
      <dgm:prSet presAssocID="{A939A578-981C-40E1-8DBD-B0212F5FA9AB}" presName="hierChild5" presStyleCnt="0"/>
      <dgm:spPr/>
    </dgm:pt>
    <dgm:pt modelId="{485EDB12-4D1D-4266-9FDC-59474670497F}" type="pres">
      <dgm:prSet presAssocID="{EA5A67DB-1F4C-46E8-B8EB-430D28BD2335}" presName="Name37" presStyleLbl="parChTrans1D2" presStyleIdx="1" presStyleCnt="2"/>
      <dgm:spPr/>
    </dgm:pt>
    <dgm:pt modelId="{046A7D78-625B-4A1C-AB35-CB400628E267}" type="pres">
      <dgm:prSet presAssocID="{4C4B6E67-A1D7-4648-B37A-1BADDF8D15C9}" presName="hierRoot2" presStyleCnt="0">
        <dgm:presLayoutVars>
          <dgm:hierBranch val="init"/>
        </dgm:presLayoutVars>
      </dgm:prSet>
      <dgm:spPr/>
    </dgm:pt>
    <dgm:pt modelId="{A4B36D19-5FC4-462D-91C7-91E08675E56B}" type="pres">
      <dgm:prSet presAssocID="{4C4B6E67-A1D7-4648-B37A-1BADDF8D15C9}" presName="rootComposite" presStyleCnt="0"/>
      <dgm:spPr/>
    </dgm:pt>
    <dgm:pt modelId="{D7D99A1F-F5BA-44F3-A564-2187302CAEB9}" type="pres">
      <dgm:prSet presAssocID="{4C4B6E67-A1D7-4648-B37A-1BADDF8D15C9}" presName="rootText" presStyleLbl="node2" presStyleIdx="1" presStyleCnt="2" custScaleX="77016" custScaleY="87122" custLinFactNeighborX="81401" custLinFactNeighborY="-10108">
        <dgm:presLayoutVars>
          <dgm:chPref val="3"/>
        </dgm:presLayoutVars>
      </dgm:prSet>
      <dgm:spPr/>
    </dgm:pt>
    <dgm:pt modelId="{63EA27CE-6012-47FB-8303-9D93F1555CE7}" type="pres">
      <dgm:prSet presAssocID="{4C4B6E67-A1D7-4648-B37A-1BADDF8D15C9}" presName="rootConnector" presStyleLbl="node2" presStyleIdx="1" presStyleCnt="2"/>
      <dgm:spPr/>
    </dgm:pt>
    <dgm:pt modelId="{4201862A-46C9-4BBE-AA9B-AD256C1EF3D8}" type="pres">
      <dgm:prSet presAssocID="{4C4B6E67-A1D7-4648-B37A-1BADDF8D15C9}" presName="hierChild4" presStyleCnt="0"/>
      <dgm:spPr/>
    </dgm:pt>
    <dgm:pt modelId="{67DA6D39-3868-4A21-BBED-15A816D1C3E9}" type="pres">
      <dgm:prSet presAssocID="{4C4B6E67-A1D7-4648-B37A-1BADDF8D15C9}" presName="hierChild5" presStyleCnt="0"/>
      <dgm:spPr/>
    </dgm:pt>
    <dgm:pt modelId="{2228AEB9-5B86-45D5-887C-A37545DECEA0}" type="pres">
      <dgm:prSet presAssocID="{AC1A7334-7EE1-40D3-98AB-F83594D70A3D}" presName="hierChild3" presStyleCnt="0"/>
      <dgm:spPr/>
    </dgm:pt>
  </dgm:ptLst>
  <dgm:cxnLst>
    <dgm:cxn modelId="{FC3BEB00-FC80-4E1A-870E-186D4B8E58E6}" type="presOf" srcId="{A939A578-981C-40E1-8DBD-B0212F5FA9AB}" destId="{23911A22-A6C4-4903-9120-D8C28A6CAF53}" srcOrd="0" destOrd="0" presId="urn:microsoft.com/office/officeart/2005/8/layout/orgChart1"/>
    <dgm:cxn modelId="{C9171006-6336-4932-AD9F-7B54C0362F74}" srcId="{C1267875-9B3C-4E91-8AAF-05B5FD61624D}" destId="{AC1A7334-7EE1-40D3-98AB-F83594D70A3D}" srcOrd="0" destOrd="0" parTransId="{2BDA4FF0-3665-4F93-BAD2-4EE4CACA6BEC}" sibTransId="{684911D6-62DD-43A6-ACEE-DC1D9663C69E}"/>
    <dgm:cxn modelId="{F0F12D09-4011-441E-B0B4-D4B51C5DD7E4}" type="presOf" srcId="{EA5A67DB-1F4C-46E8-B8EB-430D28BD2335}" destId="{485EDB12-4D1D-4266-9FDC-59474670497F}" srcOrd="0" destOrd="0" presId="urn:microsoft.com/office/officeart/2005/8/layout/orgChart1"/>
    <dgm:cxn modelId="{F3080918-3833-4F3E-87EF-813EAEB5F192}" type="presOf" srcId="{2E1F283C-C8B0-4581-8656-4E343C6F08C8}" destId="{67759021-90C7-42D4-86AF-9E0864F3C9D3}" srcOrd="0" destOrd="0" presId="urn:microsoft.com/office/officeart/2005/8/layout/orgChart1"/>
    <dgm:cxn modelId="{A56C3A1A-888F-45F8-9B4D-078321772817}" type="presOf" srcId="{A939A578-981C-40E1-8DBD-B0212F5FA9AB}" destId="{B5BC817C-55BF-4598-A0AD-6D8E2264A79D}" srcOrd="1" destOrd="0" presId="urn:microsoft.com/office/officeart/2005/8/layout/orgChart1"/>
    <dgm:cxn modelId="{A2349964-2593-4E2E-A4D0-BC0D75C7ADE9}" srcId="{AC1A7334-7EE1-40D3-98AB-F83594D70A3D}" destId="{4C4B6E67-A1D7-4648-B37A-1BADDF8D15C9}" srcOrd="1" destOrd="0" parTransId="{EA5A67DB-1F4C-46E8-B8EB-430D28BD2335}" sibTransId="{B3C81646-ED7B-4AB1-B5FB-2FEDC9F4C7D1}"/>
    <dgm:cxn modelId="{1B8C1746-6905-4FF9-BA02-691413E0F9AC}" type="presOf" srcId="{4C4B6E67-A1D7-4648-B37A-1BADDF8D15C9}" destId="{63EA27CE-6012-47FB-8303-9D93F1555CE7}" srcOrd="1" destOrd="0" presId="urn:microsoft.com/office/officeart/2005/8/layout/orgChart1"/>
    <dgm:cxn modelId="{B90BE146-5BD0-4DA6-A0E7-885C9A6F1E36}" type="presOf" srcId="{AC1A7334-7EE1-40D3-98AB-F83594D70A3D}" destId="{0F178381-B29D-4022-B5E4-02CF1309F5D9}" srcOrd="0" destOrd="0" presId="urn:microsoft.com/office/officeart/2005/8/layout/orgChart1"/>
    <dgm:cxn modelId="{F6A9E766-26F0-4DCD-B74F-AABBED3F6D50}" srcId="{AC1A7334-7EE1-40D3-98AB-F83594D70A3D}" destId="{A939A578-981C-40E1-8DBD-B0212F5FA9AB}" srcOrd="0" destOrd="0" parTransId="{2E1F283C-C8B0-4581-8656-4E343C6F08C8}" sibTransId="{203D80B6-904D-4BDA-BD38-38F552B6195B}"/>
    <dgm:cxn modelId="{A2689D4C-C43B-4C7A-9FFE-AB0A2B6B6678}" type="presOf" srcId="{C1267875-9B3C-4E91-8AAF-05B5FD61624D}" destId="{F213E3AD-BD83-4DB6-B637-63D94E88A2A4}" srcOrd="0" destOrd="0" presId="urn:microsoft.com/office/officeart/2005/8/layout/orgChart1"/>
    <dgm:cxn modelId="{D0C1FCE5-4342-468F-9729-32E6E00AE59A}" type="presOf" srcId="{4C4B6E67-A1D7-4648-B37A-1BADDF8D15C9}" destId="{D7D99A1F-F5BA-44F3-A564-2187302CAEB9}" srcOrd="0" destOrd="0" presId="urn:microsoft.com/office/officeart/2005/8/layout/orgChart1"/>
    <dgm:cxn modelId="{78C4BCF8-D636-41C3-B273-B1DEB9F2A156}" type="presOf" srcId="{AC1A7334-7EE1-40D3-98AB-F83594D70A3D}" destId="{C6F8CFF4-01B5-4ECE-909A-8298EB0914D3}" srcOrd="1" destOrd="0" presId="urn:microsoft.com/office/officeart/2005/8/layout/orgChart1"/>
    <dgm:cxn modelId="{8B5BB46A-C002-445D-9426-03D8CADC64D1}" type="presParOf" srcId="{F213E3AD-BD83-4DB6-B637-63D94E88A2A4}" destId="{1E9F2E11-3829-4DF4-8E7D-285240A88264}" srcOrd="0" destOrd="0" presId="urn:microsoft.com/office/officeart/2005/8/layout/orgChart1"/>
    <dgm:cxn modelId="{FE948F11-1D93-48B9-9D7B-60BEE08CFC60}" type="presParOf" srcId="{1E9F2E11-3829-4DF4-8E7D-285240A88264}" destId="{84A22D94-413E-4063-B2AE-9F9FA49F0850}" srcOrd="0" destOrd="0" presId="urn:microsoft.com/office/officeart/2005/8/layout/orgChart1"/>
    <dgm:cxn modelId="{EE95EF66-D56F-4213-B06A-826D6B1C72CB}" type="presParOf" srcId="{84A22D94-413E-4063-B2AE-9F9FA49F0850}" destId="{0F178381-B29D-4022-B5E4-02CF1309F5D9}" srcOrd="0" destOrd="0" presId="urn:microsoft.com/office/officeart/2005/8/layout/orgChart1"/>
    <dgm:cxn modelId="{ED0847D8-B197-4C64-B6B6-CA7AB309ABC1}" type="presParOf" srcId="{84A22D94-413E-4063-B2AE-9F9FA49F0850}" destId="{C6F8CFF4-01B5-4ECE-909A-8298EB0914D3}" srcOrd="1" destOrd="0" presId="urn:microsoft.com/office/officeart/2005/8/layout/orgChart1"/>
    <dgm:cxn modelId="{B200BCD7-3F56-4537-9419-3FF9963DFCEB}" type="presParOf" srcId="{1E9F2E11-3829-4DF4-8E7D-285240A88264}" destId="{20B85B72-AF46-41C5-BBF4-E1018E28D68E}" srcOrd="1" destOrd="0" presId="urn:microsoft.com/office/officeart/2005/8/layout/orgChart1"/>
    <dgm:cxn modelId="{75C14179-824B-4B5D-A20B-0D4D89E6CB0C}" type="presParOf" srcId="{20B85B72-AF46-41C5-BBF4-E1018E28D68E}" destId="{67759021-90C7-42D4-86AF-9E0864F3C9D3}" srcOrd="0" destOrd="0" presId="urn:microsoft.com/office/officeart/2005/8/layout/orgChart1"/>
    <dgm:cxn modelId="{0A18B79F-0F53-42B1-B2CF-25E0EC96F886}" type="presParOf" srcId="{20B85B72-AF46-41C5-BBF4-E1018E28D68E}" destId="{383F7C5E-5D33-4224-952D-59DEE73369D8}" srcOrd="1" destOrd="0" presId="urn:microsoft.com/office/officeart/2005/8/layout/orgChart1"/>
    <dgm:cxn modelId="{66B7B67A-7C3B-4F97-A00F-5524850B0640}" type="presParOf" srcId="{383F7C5E-5D33-4224-952D-59DEE73369D8}" destId="{65734AD4-C784-4F3C-8F48-A418CABF3309}" srcOrd="0" destOrd="0" presId="urn:microsoft.com/office/officeart/2005/8/layout/orgChart1"/>
    <dgm:cxn modelId="{C7D05822-2254-48EB-A9CE-232701C386D2}" type="presParOf" srcId="{65734AD4-C784-4F3C-8F48-A418CABF3309}" destId="{23911A22-A6C4-4903-9120-D8C28A6CAF53}" srcOrd="0" destOrd="0" presId="urn:microsoft.com/office/officeart/2005/8/layout/orgChart1"/>
    <dgm:cxn modelId="{2A35C106-C013-4086-A2AD-E314C1AE1C7D}" type="presParOf" srcId="{65734AD4-C784-4F3C-8F48-A418CABF3309}" destId="{B5BC817C-55BF-4598-A0AD-6D8E2264A79D}" srcOrd="1" destOrd="0" presId="urn:microsoft.com/office/officeart/2005/8/layout/orgChart1"/>
    <dgm:cxn modelId="{05A83186-DF4F-4EAE-8D46-841AE29B1087}" type="presParOf" srcId="{383F7C5E-5D33-4224-952D-59DEE73369D8}" destId="{0F618ED0-93D7-4EEA-A3CC-7A6EA4BB1FD7}" srcOrd="1" destOrd="0" presId="urn:microsoft.com/office/officeart/2005/8/layout/orgChart1"/>
    <dgm:cxn modelId="{E921B14E-9824-4823-9082-E40614EE5981}" type="presParOf" srcId="{383F7C5E-5D33-4224-952D-59DEE73369D8}" destId="{C51F71A4-734A-470C-8F88-CD2DFD018669}" srcOrd="2" destOrd="0" presId="urn:microsoft.com/office/officeart/2005/8/layout/orgChart1"/>
    <dgm:cxn modelId="{F8C800E5-E36B-489A-8F00-3B26809A5E55}" type="presParOf" srcId="{20B85B72-AF46-41C5-BBF4-E1018E28D68E}" destId="{485EDB12-4D1D-4266-9FDC-59474670497F}" srcOrd="2" destOrd="0" presId="urn:microsoft.com/office/officeart/2005/8/layout/orgChart1"/>
    <dgm:cxn modelId="{DD475D87-4A7A-4789-939E-EBEA6DF34D98}" type="presParOf" srcId="{20B85B72-AF46-41C5-BBF4-E1018E28D68E}" destId="{046A7D78-625B-4A1C-AB35-CB400628E267}" srcOrd="3" destOrd="0" presId="urn:microsoft.com/office/officeart/2005/8/layout/orgChart1"/>
    <dgm:cxn modelId="{6CDA3294-10DB-4CB3-B087-0E040660254D}" type="presParOf" srcId="{046A7D78-625B-4A1C-AB35-CB400628E267}" destId="{A4B36D19-5FC4-462D-91C7-91E08675E56B}" srcOrd="0" destOrd="0" presId="urn:microsoft.com/office/officeart/2005/8/layout/orgChart1"/>
    <dgm:cxn modelId="{C3C40110-F64D-4B8C-93BD-CD35EE0456D5}" type="presParOf" srcId="{A4B36D19-5FC4-462D-91C7-91E08675E56B}" destId="{D7D99A1F-F5BA-44F3-A564-2187302CAEB9}" srcOrd="0" destOrd="0" presId="urn:microsoft.com/office/officeart/2005/8/layout/orgChart1"/>
    <dgm:cxn modelId="{82B68892-590B-4838-9927-F34E7AE43E60}" type="presParOf" srcId="{A4B36D19-5FC4-462D-91C7-91E08675E56B}" destId="{63EA27CE-6012-47FB-8303-9D93F1555CE7}" srcOrd="1" destOrd="0" presId="urn:microsoft.com/office/officeart/2005/8/layout/orgChart1"/>
    <dgm:cxn modelId="{55C2548B-DA76-469E-BC8F-C64CE02F47C2}" type="presParOf" srcId="{046A7D78-625B-4A1C-AB35-CB400628E267}" destId="{4201862A-46C9-4BBE-AA9B-AD256C1EF3D8}" srcOrd="1" destOrd="0" presId="urn:microsoft.com/office/officeart/2005/8/layout/orgChart1"/>
    <dgm:cxn modelId="{7E29989E-64F2-450B-9477-35A41088DE97}" type="presParOf" srcId="{046A7D78-625B-4A1C-AB35-CB400628E267}" destId="{67DA6D39-3868-4A21-BBED-15A816D1C3E9}" srcOrd="2" destOrd="0" presId="urn:microsoft.com/office/officeart/2005/8/layout/orgChart1"/>
    <dgm:cxn modelId="{6FA780A0-3FBA-48E4-85F9-E35714F1AC51}" type="presParOf" srcId="{1E9F2E11-3829-4DF4-8E7D-285240A88264}" destId="{2228AEB9-5B86-45D5-887C-A37545DECEA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53F868-D073-42E2-BDC0-090AB13F9FFE}">
      <dsp:nvSpPr>
        <dsp:cNvPr id="0" name=""/>
        <dsp:cNvSpPr/>
      </dsp:nvSpPr>
      <dsp:spPr>
        <a:xfrm rot="5400000">
          <a:off x="1547414" y="640927"/>
          <a:ext cx="1105946" cy="1840270"/>
        </a:xfrm>
        <a:prstGeom prst="corner">
          <a:avLst>
            <a:gd name="adj1" fmla="val 16120"/>
            <a:gd name="adj2" fmla="val 16110"/>
          </a:avLst>
        </a:prstGeom>
        <a:solidFill>
          <a:srgbClr val="FF0000"/>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CC097F-6282-4E19-8042-3D8507756626}">
      <dsp:nvSpPr>
        <dsp:cNvPr id="0" name=""/>
        <dsp:cNvSpPr/>
      </dsp:nvSpPr>
      <dsp:spPr>
        <a:xfrm>
          <a:off x="1362804" y="1190771"/>
          <a:ext cx="1661406" cy="145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ClrTx/>
            <a:buSzTx/>
            <a:buFont typeface="+mj-lt"/>
            <a:buNone/>
          </a:pPr>
          <a:r>
            <a:rPr kumimoji="0" lang="es-MX" sz="1700" b="0"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1. Fundamentos y principios teóricos que sustentan el protocolo </a:t>
          </a:r>
          <a:endParaRPr lang="es-BO" sz="1700" kern="1200" dirty="0"/>
        </a:p>
      </dsp:txBody>
      <dsp:txXfrm>
        <a:off x="1362804" y="1190771"/>
        <a:ext cx="1661406" cy="1456320"/>
      </dsp:txXfrm>
    </dsp:sp>
    <dsp:sp modelId="{F615ADE9-5AC3-4ADC-AAC9-EA892FCD404F}">
      <dsp:nvSpPr>
        <dsp:cNvPr id="0" name=""/>
        <dsp:cNvSpPr/>
      </dsp:nvSpPr>
      <dsp:spPr>
        <a:xfrm>
          <a:off x="2710737" y="505444"/>
          <a:ext cx="313472" cy="313472"/>
        </a:xfrm>
        <a:prstGeom prst="triangle">
          <a:avLst>
            <a:gd name="adj" fmla="val 100000"/>
          </a:avLst>
        </a:prstGeom>
        <a:solidFill>
          <a:srgbClr val="FF0000"/>
        </a:solidFill>
        <a:ln w="15875"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sp>
    <dsp:sp modelId="{A2971825-8945-46EE-A3FE-7BC50DE150B1}">
      <dsp:nvSpPr>
        <dsp:cNvPr id="0" name=""/>
        <dsp:cNvSpPr/>
      </dsp:nvSpPr>
      <dsp:spPr>
        <a:xfrm rot="5400000">
          <a:off x="3581300" y="137640"/>
          <a:ext cx="1105946" cy="1840270"/>
        </a:xfrm>
        <a:prstGeom prst="corner">
          <a:avLst>
            <a:gd name="adj1" fmla="val 16120"/>
            <a:gd name="adj2" fmla="val 16110"/>
          </a:avLst>
        </a:prstGeom>
        <a:solidFill>
          <a:schemeClr val="tx1"/>
        </a:solidFill>
        <a:ln w="158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97BDA1AC-9745-4B44-B549-AF2B1FF21C1F}">
      <dsp:nvSpPr>
        <dsp:cNvPr id="0" name=""/>
        <dsp:cNvSpPr/>
      </dsp:nvSpPr>
      <dsp:spPr>
        <a:xfrm>
          <a:off x="3396690" y="687484"/>
          <a:ext cx="1661406" cy="145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ClrTx/>
            <a:buSzTx/>
            <a:buFont typeface="+mj-lt"/>
            <a:buNone/>
          </a:pPr>
          <a:r>
            <a:rPr kumimoji="0" lang="es-MX" sz="1700" b="0"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2. Lineamientos generales de coordinación y cooperación con la JIOC </a:t>
          </a:r>
          <a:endParaRPr lang="es-BO" sz="1700" kern="1200" dirty="0"/>
        </a:p>
      </dsp:txBody>
      <dsp:txXfrm>
        <a:off x="3396690" y="687484"/>
        <a:ext cx="1661406" cy="1456320"/>
      </dsp:txXfrm>
    </dsp:sp>
    <dsp:sp modelId="{6BECAB51-4235-48A3-A84B-330DD02A1B0F}">
      <dsp:nvSpPr>
        <dsp:cNvPr id="0" name=""/>
        <dsp:cNvSpPr/>
      </dsp:nvSpPr>
      <dsp:spPr>
        <a:xfrm>
          <a:off x="4744623" y="2157"/>
          <a:ext cx="313472" cy="313472"/>
        </a:xfrm>
        <a:prstGeom prst="triangle">
          <a:avLst>
            <a:gd name="adj" fmla="val 100000"/>
          </a:avLst>
        </a:prstGeom>
        <a:solidFill>
          <a:srgbClr val="FFFF00"/>
        </a:solidFill>
        <a:ln w="15875" cap="flat" cmpd="sng" algn="ctr">
          <a:solidFill>
            <a:srgbClr val="FFFF00"/>
          </a:solidFill>
          <a:prstDash val="solid"/>
        </a:ln>
        <a:effectLst/>
      </dsp:spPr>
      <dsp:style>
        <a:lnRef idx="2">
          <a:scrgbClr r="0" g="0" b="0"/>
        </a:lnRef>
        <a:fillRef idx="1">
          <a:scrgbClr r="0" g="0" b="0"/>
        </a:fillRef>
        <a:effectRef idx="0">
          <a:scrgbClr r="0" g="0" b="0"/>
        </a:effectRef>
        <a:fontRef idx="minor">
          <a:schemeClr val="lt1"/>
        </a:fontRef>
      </dsp:style>
    </dsp:sp>
    <dsp:sp modelId="{9FD5B004-83EE-4116-8FD6-9100EEA9F1EB}">
      <dsp:nvSpPr>
        <dsp:cNvPr id="0" name=""/>
        <dsp:cNvSpPr/>
      </dsp:nvSpPr>
      <dsp:spPr>
        <a:xfrm rot="5400000">
          <a:off x="5615186" y="-365646"/>
          <a:ext cx="1105946" cy="1840270"/>
        </a:xfrm>
        <a:prstGeom prst="corner">
          <a:avLst>
            <a:gd name="adj1" fmla="val 16120"/>
            <a:gd name="adj2" fmla="val 16110"/>
          </a:avLst>
        </a:prstGeom>
        <a:solidFill>
          <a:srgbClr val="00B050"/>
        </a:solidFill>
        <a:ln w="15875" cap="flat" cmpd="sng" algn="ctr">
          <a:solidFill>
            <a:srgbClr val="00B050"/>
          </a:solidFill>
          <a:prstDash val="solid"/>
        </a:ln>
        <a:effectLst/>
      </dsp:spPr>
      <dsp:style>
        <a:lnRef idx="2">
          <a:scrgbClr r="0" g="0" b="0"/>
        </a:lnRef>
        <a:fillRef idx="1">
          <a:scrgbClr r="0" g="0" b="0"/>
        </a:fillRef>
        <a:effectRef idx="0">
          <a:scrgbClr r="0" g="0" b="0"/>
        </a:effectRef>
        <a:fontRef idx="minor">
          <a:schemeClr val="lt1"/>
        </a:fontRef>
      </dsp:style>
    </dsp:sp>
    <dsp:sp modelId="{E52159C7-F8A5-4E30-AC23-D646E960D21A}">
      <dsp:nvSpPr>
        <dsp:cNvPr id="0" name=""/>
        <dsp:cNvSpPr/>
      </dsp:nvSpPr>
      <dsp:spPr>
        <a:xfrm>
          <a:off x="5430576" y="184197"/>
          <a:ext cx="1661406" cy="145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ClrTx/>
            <a:buSzTx/>
            <a:buFont typeface="+mj-lt"/>
            <a:buNone/>
          </a:pPr>
          <a:r>
            <a:rPr kumimoji="0" lang="es-MX" sz="1700" b="0"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3, Lineamientos específicos para casos y situaciones concretas </a:t>
          </a:r>
          <a:endParaRPr lang="es-BO" sz="1700" kern="1200" dirty="0"/>
        </a:p>
      </dsp:txBody>
      <dsp:txXfrm>
        <a:off x="5430576" y="184197"/>
        <a:ext cx="1661406" cy="14563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1792B2-7CD3-4D1B-A729-B9EC6A2F357E}">
      <dsp:nvSpPr>
        <dsp:cNvPr id="0" name=""/>
        <dsp:cNvSpPr/>
      </dsp:nvSpPr>
      <dsp:spPr>
        <a:xfrm rot="5400000">
          <a:off x="1999084" y="1068416"/>
          <a:ext cx="915670" cy="1042458"/>
        </a:xfrm>
        <a:prstGeom prst="bentUpArrow">
          <a:avLst>
            <a:gd name="adj1" fmla="val 32840"/>
            <a:gd name="adj2" fmla="val 25000"/>
            <a:gd name="adj3" fmla="val 35780"/>
          </a:avLst>
        </a:prstGeom>
        <a:solidFill>
          <a:srgbClr val="FF0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BD24DC-AD34-4F6B-AF85-513E91529590}">
      <dsp:nvSpPr>
        <dsp:cNvPr id="0" name=""/>
        <dsp:cNvSpPr/>
      </dsp:nvSpPr>
      <dsp:spPr>
        <a:xfrm>
          <a:off x="1173564" y="0"/>
          <a:ext cx="1541449" cy="1078964"/>
        </a:xfrm>
        <a:prstGeom prst="roundRect">
          <a:avLst>
            <a:gd name="adj" fmla="val 16670"/>
          </a:avLst>
        </a:prstGeom>
        <a:solidFill>
          <a:schemeClr val="tx2">
            <a:lumMod val="10000"/>
            <a:lumOff val="90000"/>
          </a:schemeClr>
        </a:solidFill>
        <a:ln w="15875"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BO" sz="16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Esta parte del presente documento es metodológica</a:t>
          </a:r>
          <a:r>
            <a:rPr lang="es-BO" sz="1600" kern="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BO" sz="1600" kern="1200" dirty="0">
            <a:solidFill>
              <a:schemeClr val="tx1"/>
            </a:solidFill>
          </a:endParaRPr>
        </a:p>
      </dsp:txBody>
      <dsp:txXfrm>
        <a:off x="1226244" y="52680"/>
        <a:ext cx="1436089" cy="973604"/>
      </dsp:txXfrm>
    </dsp:sp>
    <dsp:sp modelId="{6B73BFCA-F606-43D5-9135-418572FBDCEB}">
      <dsp:nvSpPr>
        <dsp:cNvPr id="0" name=""/>
        <dsp:cNvSpPr/>
      </dsp:nvSpPr>
      <dsp:spPr>
        <a:xfrm>
          <a:off x="3645649" y="121641"/>
          <a:ext cx="1121103" cy="872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marL="171450" lvl="1" indent="-171450" algn="l" defTabSz="844550">
            <a:lnSpc>
              <a:spcPct val="90000"/>
            </a:lnSpc>
            <a:spcBef>
              <a:spcPct val="0"/>
            </a:spcBef>
            <a:spcAft>
              <a:spcPct val="15000"/>
            </a:spcAft>
            <a:buChar char="•"/>
          </a:pPr>
          <a:endParaRPr lang="es-BO" sz="1900" kern="1200"/>
        </a:p>
      </dsp:txBody>
      <dsp:txXfrm>
        <a:off x="3645649" y="121641"/>
        <a:ext cx="1121103" cy="872066"/>
      </dsp:txXfrm>
    </dsp:sp>
    <dsp:sp modelId="{6E89632E-A06E-4A9E-BDBA-DA80FF964EAE}">
      <dsp:nvSpPr>
        <dsp:cNvPr id="0" name=""/>
        <dsp:cNvSpPr/>
      </dsp:nvSpPr>
      <dsp:spPr>
        <a:xfrm rot="5400000">
          <a:off x="4194136" y="1967303"/>
          <a:ext cx="750712" cy="1806694"/>
        </a:xfrm>
        <a:prstGeom prst="bentUpArrow">
          <a:avLst>
            <a:gd name="adj1" fmla="val 32840"/>
            <a:gd name="adj2" fmla="val 25000"/>
            <a:gd name="adj3" fmla="val 35780"/>
          </a:avLst>
        </a:prstGeom>
        <a:solidFill>
          <a:srgbClr val="FF0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9D09E5-3B5E-4737-A2A6-071736BED228}">
      <dsp:nvSpPr>
        <dsp:cNvPr id="0" name=""/>
        <dsp:cNvSpPr/>
      </dsp:nvSpPr>
      <dsp:spPr>
        <a:xfrm>
          <a:off x="2891350" y="1189856"/>
          <a:ext cx="2549249" cy="1263478"/>
        </a:xfrm>
        <a:prstGeom prst="roundRect">
          <a:avLst>
            <a:gd name="adj" fmla="val 16670"/>
          </a:avLst>
        </a:prstGeom>
        <a:solidFill>
          <a:srgbClr val="FFFF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BO" sz="16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porque está constituida por las pautas que deben ser seguidas por las autoridades jurisdiccionales a efecto de actuar</a:t>
          </a:r>
          <a:endParaRPr lang="es-BO" sz="1600" kern="1200" dirty="0">
            <a:solidFill>
              <a:schemeClr val="tx1"/>
            </a:solidFill>
            <a:latin typeface="Arial" panose="020B0604020202020204" pitchFamily="34" charset="0"/>
            <a:cs typeface="Arial" panose="020B0604020202020204" pitchFamily="34" charset="0"/>
          </a:endParaRPr>
        </a:p>
      </dsp:txBody>
      <dsp:txXfrm>
        <a:off x="2953039" y="1251545"/>
        <a:ext cx="2425871" cy="1140100"/>
      </dsp:txXfrm>
    </dsp:sp>
    <dsp:sp modelId="{88BC219C-7A50-4688-AABD-F264498CA38E}">
      <dsp:nvSpPr>
        <dsp:cNvPr id="0" name=""/>
        <dsp:cNvSpPr/>
      </dsp:nvSpPr>
      <dsp:spPr>
        <a:xfrm>
          <a:off x="5775285" y="1395252"/>
          <a:ext cx="1121103" cy="872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marL="171450" lvl="1" indent="-171450" algn="l" defTabSz="844550">
            <a:lnSpc>
              <a:spcPct val="90000"/>
            </a:lnSpc>
            <a:spcBef>
              <a:spcPct val="0"/>
            </a:spcBef>
            <a:spcAft>
              <a:spcPct val="15000"/>
            </a:spcAft>
            <a:buChar char="•"/>
          </a:pPr>
          <a:endParaRPr lang="es-BO" sz="1900" kern="1200" dirty="0"/>
        </a:p>
      </dsp:txBody>
      <dsp:txXfrm>
        <a:off x="5775285" y="1395252"/>
        <a:ext cx="1121103" cy="872066"/>
      </dsp:txXfrm>
    </dsp:sp>
    <dsp:sp modelId="{7561260F-9F38-41F3-B2ED-A4945F51D6A0}">
      <dsp:nvSpPr>
        <dsp:cNvPr id="0" name=""/>
        <dsp:cNvSpPr/>
      </dsp:nvSpPr>
      <dsp:spPr>
        <a:xfrm>
          <a:off x="5405233" y="2336388"/>
          <a:ext cx="2292737" cy="1170590"/>
        </a:xfrm>
        <a:prstGeom prst="roundRect">
          <a:avLst>
            <a:gd name="adj" fmla="val 16670"/>
          </a:avLst>
        </a:prstGeom>
        <a:solidFill>
          <a:schemeClr val="accent3">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en el marco de los principios y valores plurales, y el respeto a los derechos de las NPIOC </a:t>
          </a:r>
          <a:endParaRPr lang="es-BO" sz="1600" kern="1200" dirty="0">
            <a:solidFill>
              <a:schemeClr val="tx1"/>
            </a:solidFill>
            <a:latin typeface="Arial" panose="020B0604020202020204" pitchFamily="34" charset="0"/>
            <a:cs typeface="Arial" panose="020B0604020202020204" pitchFamily="34" charset="0"/>
          </a:endParaRPr>
        </a:p>
      </dsp:txBody>
      <dsp:txXfrm>
        <a:off x="5462387" y="2393542"/>
        <a:ext cx="2178429" cy="1056282"/>
      </dsp:txXfrm>
    </dsp:sp>
    <dsp:sp modelId="{80E8F401-7799-4D1B-89B1-587F422B2D5F}">
      <dsp:nvSpPr>
        <dsp:cNvPr id="0" name=""/>
        <dsp:cNvSpPr/>
      </dsp:nvSpPr>
      <dsp:spPr>
        <a:xfrm>
          <a:off x="7862050" y="2588951"/>
          <a:ext cx="1121103" cy="872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marL="171450" lvl="1" indent="-171450" algn="l" defTabSz="844550">
            <a:lnSpc>
              <a:spcPct val="90000"/>
            </a:lnSpc>
            <a:spcBef>
              <a:spcPct val="0"/>
            </a:spcBef>
            <a:spcAft>
              <a:spcPct val="15000"/>
            </a:spcAft>
            <a:buChar char="•"/>
          </a:pPr>
          <a:endParaRPr lang="es-BO" sz="1900" kern="1200" dirty="0"/>
        </a:p>
      </dsp:txBody>
      <dsp:txXfrm>
        <a:off x="7862050" y="2588951"/>
        <a:ext cx="1121103" cy="8720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6D3EFB-ED28-4C1F-99EF-C63676C41C6D}">
      <dsp:nvSpPr>
        <dsp:cNvPr id="0" name=""/>
        <dsp:cNvSpPr/>
      </dsp:nvSpPr>
      <dsp:spPr>
        <a:xfrm>
          <a:off x="2" y="0"/>
          <a:ext cx="11873182" cy="6705600"/>
        </a:xfrm>
        <a:prstGeom prst="rightArrow">
          <a:avLst/>
        </a:prstGeom>
        <a:solidFill>
          <a:srgbClr val="00B050"/>
        </a:solidFill>
        <a:ln>
          <a:noFill/>
        </a:ln>
        <a:effectLst/>
      </dsp:spPr>
      <dsp:style>
        <a:lnRef idx="0">
          <a:scrgbClr r="0" g="0" b="0"/>
        </a:lnRef>
        <a:fillRef idx="1">
          <a:scrgbClr r="0" g="0" b="0"/>
        </a:fillRef>
        <a:effectRef idx="0">
          <a:scrgbClr r="0" g="0" b="0"/>
        </a:effectRef>
        <a:fontRef idx="minor"/>
      </dsp:style>
    </dsp:sp>
    <dsp:sp modelId="{B800551E-2102-45A8-AA22-81C0C13C26CE}">
      <dsp:nvSpPr>
        <dsp:cNvPr id="0" name=""/>
        <dsp:cNvSpPr/>
      </dsp:nvSpPr>
      <dsp:spPr>
        <a:xfrm>
          <a:off x="15168" y="1847164"/>
          <a:ext cx="3397192" cy="2858865"/>
        </a:xfrm>
        <a:prstGeom prst="roundRect">
          <a:avLst/>
        </a:prstGeom>
        <a:solidFill>
          <a:srgbClr val="FFFF00"/>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s-BO" sz="1600" kern="1200" dirty="0">
              <a:solidFill>
                <a:schemeClr val="tx1"/>
              </a:solidFill>
              <a:latin typeface="Arial" panose="020B0604020202020204" pitchFamily="34" charset="0"/>
              <a:cs typeface="Arial" panose="020B0604020202020204" pitchFamily="34" charset="0"/>
            </a:rPr>
            <a:t>1</a:t>
          </a:r>
          <a:r>
            <a:rPr lang="es-BO" sz="1600" kern="1200" baseline="30000" dirty="0">
              <a:solidFill>
                <a:schemeClr val="tx1"/>
              </a:solidFill>
              <a:latin typeface="Arial" panose="020B0604020202020204" pitchFamily="34" charset="0"/>
              <a:cs typeface="Arial" panose="020B0604020202020204" pitchFamily="34" charset="0"/>
            </a:rPr>
            <a:t>ero</a:t>
          </a:r>
          <a:r>
            <a:rPr lang="es-BO" sz="1600" kern="1200" dirty="0">
              <a:solidFill>
                <a:schemeClr val="tx1"/>
              </a:solidFill>
              <a:latin typeface="Arial" panose="020B0604020202020204" pitchFamily="34" charset="0"/>
              <a:cs typeface="Arial" panose="020B0604020202020204" pitchFamily="34" charset="0"/>
            </a:rPr>
            <a:t> efectuar la construcción de </a:t>
          </a:r>
          <a:r>
            <a:rPr lang="es-BO" sz="1600" b="1" i="1" u="sng" kern="1200" dirty="0">
              <a:solidFill>
                <a:srgbClr val="FF0000"/>
              </a:solidFill>
              <a:latin typeface="Arial" panose="020B0604020202020204" pitchFamily="34" charset="0"/>
              <a:cs typeface="Arial" panose="020B0604020202020204" pitchFamily="34" charset="0"/>
            </a:rPr>
            <a:t>relaciones de igualdad y respeto </a:t>
          </a:r>
          <a:r>
            <a:rPr lang="es-BO" sz="1600" kern="1200" dirty="0">
              <a:solidFill>
                <a:schemeClr val="tx1"/>
              </a:solidFill>
              <a:latin typeface="Arial" panose="020B0604020202020204" pitchFamily="34" charset="0"/>
              <a:cs typeface="Arial" panose="020B0604020202020204" pitchFamily="34" charset="0"/>
            </a:rPr>
            <a:t>con las autoridades de la jurisdicción IOC y recabar la información básica.</a:t>
          </a:r>
        </a:p>
        <a:p>
          <a:pPr marL="0" lvl="0" indent="0" algn="ctr" defTabSz="711200">
            <a:lnSpc>
              <a:spcPct val="90000"/>
            </a:lnSpc>
            <a:spcBef>
              <a:spcPct val="0"/>
            </a:spcBef>
            <a:spcAft>
              <a:spcPct val="35000"/>
            </a:spcAft>
            <a:buNone/>
          </a:pPr>
          <a:r>
            <a:rPr lang="es-BO" sz="1600" kern="1200" dirty="0">
              <a:solidFill>
                <a:schemeClr val="tx1"/>
              </a:solidFill>
              <a:latin typeface="Arial" panose="020B0604020202020204" pitchFamily="34" charset="0"/>
              <a:cs typeface="Arial" panose="020B0604020202020204" pitchFamily="34" charset="0"/>
            </a:rPr>
            <a:t>Autoridades jurisdiccionales cuando </a:t>
          </a:r>
          <a:r>
            <a:rPr lang="es-BO" sz="1600" b="1" i="1" kern="1200" dirty="0">
              <a:solidFill>
                <a:srgbClr val="FF0000"/>
              </a:solidFill>
              <a:latin typeface="Arial" panose="020B0604020202020204" pitchFamily="34" charset="0"/>
              <a:cs typeface="Arial" panose="020B0604020202020204" pitchFamily="34" charset="0"/>
            </a:rPr>
            <a:t>asumen funciones, en lugares próximos a la jurisdicción </a:t>
          </a:r>
          <a:r>
            <a:rPr lang="es-BO" sz="1600" kern="1200" dirty="0">
              <a:solidFill>
                <a:schemeClr val="tx1"/>
              </a:solidFill>
              <a:latin typeface="Arial" panose="020B0604020202020204" pitchFamily="34" charset="0"/>
              <a:cs typeface="Arial" panose="020B0604020202020204" pitchFamily="34" charset="0"/>
            </a:rPr>
            <a:t>de NPIOC. </a:t>
          </a:r>
        </a:p>
      </dsp:txBody>
      <dsp:txXfrm>
        <a:off x="154726" y="1986722"/>
        <a:ext cx="3118076" cy="2579749"/>
      </dsp:txXfrm>
    </dsp:sp>
    <dsp:sp modelId="{01AE1659-2707-4DE9-B68E-0C833138BA71}">
      <dsp:nvSpPr>
        <dsp:cNvPr id="0" name=""/>
        <dsp:cNvSpPr/>
      </dsp:nvSpPr>
      <dsp:spPr>
        <a:xfrm>
          <a:off x="3537331" y="2011680"/>
          <a:ext cx="2687120" cy="2682240"/>
        </a:xfrm>
        <a:prstGeom prst="roundRect">
          <a:avLst/>
        </a:prstGeom>
        <a:solidFill>
          <a:schemeClr val="bg1">
            <a:lumMod val="9500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Symbol" panose="05050102010706020507" pitchFamily="18" charset="2"/>
            <a:buNone/>
          </a:pPr>
          <a:r>
            <a:rPr lang="es-BO" sz="1600" kern="1200" dirty="0">
              <a:solidFill>
                <a:schemeClr val="tx1"/>
              </a:solidFill>
              <a:latin typeface="Arial" panose="020B0604020202020204" pitchFamily="34" charset="0"/>
              <a:cs typeface="Arial" panose="020B0604020202020204" pitchFamily="34" charset="0"/>
            </a:rPr>
            <a:t>2</a:t>
          </a:r>
          <a:r>
            <a:rPr lang="es-BO" sz="1600" kern="1200" baseline="30000" dirty="0">
              <a:solidFill>
                <a:schemeClr val="tx1"/>
              </a:solidFill>
              <a:latin typeface="Arial" panose="020B0604020202020204" pitchFamily="34" charset="0"/>
              <a:cs typeface="Arial" panose="020B0604020202020204" pitchFamily="34" charset="0"/>
            </a:rPr>
            <a:t>da</a:t>
          </a:r>
          <a:r>
            <a:rPr lang="es-BO" sz="1600" kern="1200" dirty="0">
              <a:solidFill>
                <a:schemeClr val="tx1"/>
              </a:solidFill>
              <a:latin typeface="Arial" panose="020B0604020202020204" pitchFamily="34" charset="0"/>
              <a:cs typeface="Arial" panose="020B0604020202020204" pitchFamily="34" charset="0"/>
            </a:rPr>
            <a:t> Lineamientos en procesos de jurisdicción ordinaria o agroambiental </a:t>
          </a:r>
          <a:r>
            <a:rPr lang="es-BO" sz="1600" b="1" i="1" kern="1200" dirty="0">
              <a:solidFill>
                <a:srgbClr val="FF0000"/>
              </a:solidFill>
              <a:latin typeface="Arial" panose="020B0604020202020204" pitchFamily="34" charset="0"/>
              <a:cs typeface="Arial" panose="020B0604020202020204" pitchFamily="34" charset="0"/>
            </a:rPr>
            <a:t>que involucren a miembros de NPIOC, </a:t>
          </a:r>
        </a:p>
        <a:p>
          <a:pPr marL="0" lvl="0" indent="0" algn="ctr" defTabSz="711200">
            <a:lnSpc>
              <a:spcPct val="90000"/>
            </a:lnSpc>
            <a:spcBef>
              <a:spcPct val="0"/>
            </a:spcBef>
            <a:spcAft>
              <a:spcPct val="35000"/>
            </a:spcAft>
            <a:buFont typeface="Symbol" panose="05050102010706020507" pitchFamily="18" charset="2"/>
            <a:buNone/>
          </a:pPr>
          <a:r>
            <a:rPr lang="es-BO" sz="1600" kern="1200" dirty="0">
              <a:solidFill>
                <a:schemeClr val="tx1"/>
              </a:solidFill>
              <a:latin typeface="Arial" panose="020B0604020202020204" pitchFamily="34" charset="0"/>
              <a:cs typeface="Arial" panose="020B0604020202020204" pitchFamily="34" charset="0"/>
            </a:rPr>
            <a:t>y se ha construido a partir de </a:t>
          </a:r>
          <a:r>
            <a:rPr lang="es-BO" sz="1600" i="1" u="sng" kern="1200" dirty="0">
              <a:solidFill>
                <a:srgbClr val="FF0000"/>
              </a:solidFill>
              <a:latin typeface="Arial" panose="020B0604020202020204" pitchFamily="34" charset="0"/>
              <a:cs typeface="Arial" panose="020B0604020202020204" pitchFamily="34" charset="0"/>
            </a:rPr>
            <a:t>preguntas que tendría que formularse la autoridad jurisdiccional </a:t>
          </a:r>
          <a:r>
            <a:rPr lang="es-BO" sz="1600" kern="1200" dirty="0">
              <a:solidFill>
                <a:schemeClr val="tx1"/>
              </a:solidFill>
              <a:latin typeface="Arial" panose="020B0604020202020204" pitchFamily="34" charset="0"/>
              <a:cs typeface="Arial" panose="020B0604020202020204" pitchFamily="34" charset="0"/>
            </a:rPr>
            <a:t>a efecto de: </a:t>
          </a:r>
        </a:p>
      </dsp:txBody>
      <dsp:txXfrm>
        <a:off x="3668267" y="2142616"/>
        <a:ext cx="2425248" cy="2420368"/>
      </dsp:txXfrm>
    </dsp:sp>
    <dsp:sp modelId="{9991826B-9FAE-4D63-8E52-F5F52E4B80D5}">
      <dsp:nvSpPr>
        <dsp:cNvPr id="0" name=""/>
        <dsp:cNvSpPr/>
      </dsp:nvSpPr>
      <dsp:spPr>
        <a:xfrm>
          <a:off x="6358807" y="1860334"/>
          <a:ext cx="2687120" cy="2984930"/>
        </a:xfrm>
        <a:prstGeom prst="roundRect">
          <a:avLst/>
        </a:prstGeom>
        <a:solidFill>
          <a:schemeClr val="accent2">
            <a:lumMod val="60000"/>
            <a:lumOff val="4000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Symbol" panose="05050102010706020507" pitchFamily="18" charset="2"/>
            <a:buNone/>
          </a:pPr>
          <a:r>
            <a:rPr lang="es-BO" sz="1400" b="1" kern="1200" dirty="0">
              <a:solidFill>
                <a:schemeClr val="tx1"/>
              </a:solidFill>
              <a:latin typeface="Arial" panose="020B0604020202020204" pitchFamily="34" charset="0"/>
              <a:cs typeface="Arial" panose="020B0604020202020204" pitchFamily="34" charset="0"/>
            </a:rPr>
            <a:t>3</a:t>
          </a:r>
          <a:r>
            <a:rPr lang="es-BO" sz="1400" b="1" kern="1200" baseline="30000" dirty="0">
              <a:solidFill>
                <a:schemeClr val="tx1"/>
              </a:solidFill>
              <a:latin typeface="Arial" panose="020B0604020202020204" pitchFamily="34" charset="0"/>
              <a:cs typeface="Arial" panose="020B0604020202020204" pitchFamily="34" charset="0"/>
            </a:rPr>
            <a:t>era</a:t>
          </a:r>
          <a:r>
            <a:rPr lang="es-BO" sz="1400" b="1" kern="1200" dirty="0">
              <a:solidFill>
                <a:schemeClr val="tx1"/>
              </a:solidFill>
              <a:latin typeface="Arial" panose="020B0604020202020204" pitchFamily="34" charset="0"/>
              <a:cs typeface="Arial" panose="020B0604020202020204" pitchFamily="34" charset="0"/>
            </a:rPr>
            <a:t> lineamientos, cuando se alegue lesión a derechos y garantías a través de las acciones de defensa, las cuales son conocidas por jueces y tribunales que si bien actúan como jueces constitucionales, provienen de la jurisdicción ordinaria y, en consecuencia, es necesario otorgar las herramientas necesarias para: </a:t>
          </a:r>
        </a:p>
      </dsp:txBody>
      <dsp:txXfrm>
        <a:off x="6489981" y="1991508"/>
        <a:ext cx="2424772" cy="2722582"/>
      </dsp:txXfrm>
    </dsp:sp>
    <dsp:sp modelId="{6FB693CE-445D-46D1-9CBA-E15B6CF2EDEB}">
      <dsp:nvSpPr>
        <dsp:cNvPr id="0" name=""/>
        <dsp:cNvSpPr/>
      </dsp:nvSpPr>
      <dsp:spPr>
        <a:xfrm>
          <a:off x="9180284" y="2011680"/>
          <a:ext cx="2687120" cy="2682240"/>
        </a:xfrm>
        <a:prstGeom prst="roundRect">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Symbol" panose="05050102010706020507" pitchFamily="18" charset="2"/>
            <a:buNone/>
          </a:pPr>
          <a:r>
            <a:rPr lang="es-BO" sz="2000" kern="1200" dirty="0">
              <a:solidFill>
                <a:schemeClr val="tx1"/>
              </a:solidFill>
              <a:latin typeface="Arial" panose="020B0604020202020204" pitchFamily="34" charset="0"/>
              <a:cs typeface="Arial" panose="020B0604020202020204" pitchFamily="34" charset="0"/>
            </a:rPr>
            <a:t>4</a:t>
          </a:r>
          <a:r>
            <a:rPr lang="es-BO" sz="2000" kern="1200" baseline="30000" dirty="0">
              <a:solidFill>
                <a:schemeClr val="tx1"/>
              </a:solidFill>
              <a:latin typeface="Arial" panose="020B0604020202020204" pitchFamily="34" charset="0"/>
              <a:cs typeface="Arial" panose="020B0604020202020204" pitchFamily="34" charset="0"/>
            </a:rPr>
            <a:t>ta</a:t>
          </a:r>
          <a:r>
            <a:rPr lang="es-BO" sz="2000" kern="1200" dirty="0">
              <a:solidFill>
                <a:schemeClr val="tx1"/>
              </a:solidFill>
              <a:latin typeface="Arial" panose="020B0604020202020204" pitchFamily="34" charset="0"/>
              <a:cs typeface="Arial" panose="020B0604020202020204" pitchFamily="34" charset="0"/>
            </a:rPr>
            <a:t> fijar lineamientos que deben ser considerados para hacer efectiva la cooperación entre la jurisdicción IOC, la ordinaria y la agroambiental</a:t>
          </a:r>
        </a:p>
      </dsp:txBody>
      <dsp:txXfrm>
        <a:off x="9311220" y="2142616"/>
        <a:ext cx="2425248" cy="24203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FD5F9A-24F6-41BF-A513-961E899D04E8}">
      <dsp:nvSpPr>
        <dsp:cNvPr id="0" name=""/>
        <dsp:cNvSpPr/>
      </dsp:nvSpPr>
      <dsp:spPr>
        <a:xfrm>
          <a:off x="565703" y="0"/>
          <a:ext cx="9985004" cy="541866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31B02B-F653-4BF0-AE74-E5A435B4DAAC}">
      <dsp:nvSpPr>
        <dsp:cNvPr id="0" name=""/>
        <dsp:cNvSpPr/>
      </dsp:nvSpPr>
      <dsp:spPr>
        <a:xfrm>
          <a:off x="1661" y="1277299"/>
          <a:ext cx="2503705" cy="2864068"/>
        </a:xfrm>
        <a:prstGeom prst="roundRect">
          <a:avLst/>
        </a:prstGeom>
        <a:solidFill>
          <a:schemeClr val="bg1"/>
        </a:solidFill>
        <a:ln w="5715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ClrTx/>
            <a:buSzTx/>
            <a:buFontTx/>
            <a:buNone/>
          </a:pPr>
          <a:r>
            <a:rPr kumimoji="0" lang="es-BO" sz="1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El Órgano Judicial es un órgano del poder público, </a:t>
          </a:r>
          <a:r>
            <a:rPr kumimoji="0" lang="es-BO" sz="1400" b="1"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se funda en la pluralidad y el pluralismo </a:t>
          </a:r>
          <a:r>
            <a:rPr kumimoji="0" lang="es-BO" sz="1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jurídico</a:t>
          </a:r>
          <a:r>
            <a:rPr kumimoji="0" lang="es-BO" sz="1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tiene igual jerarquía constitucional que los Órganos Legislativo, Ejecutivo y Electoral y se relaciona sobre la base de </a:t>
          </a:r>
          <a:r>
            <a:rPr kumimoji="0" lang="es-BO" sz="1400" b="1" i="1" u="none" strike="noStrike" kern="1200"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Times New Roman" panose="02020603050405020304" pitchFamily="18" charset="0"/>
            </a:rPr>
            <a:t>independencia, separación, </a:t>
          </a:r>
          <a:r>
            <a:rPr kumimoji="0" lang="es-BO" sz="1300" b="1" i="1" u="none" strike="noStrike" kern="1200"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Times New Roman" panose="02020603050405020304" pitchFamily="18" charset="0"/>
            </a:rPr>
            <a:t>coordinación y cooperación</a:t>
          </a:r>
          <a:r>
            <a:rPr kumimoji="0" lang="es-MX" sz="1300" b="1"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 </a:t>
          </a:r>
        </a:p>
        <a:p>
          <a:pPr marL="0" lvl="0" indent="0" algn="ctr" defTabSz="622300">
            <a:lnSpc>
              <a:spcPct val="90000"/>
            </a:lnSpc>
            <a:spcBef>
              <a:spcPct val="0"/>
            </a:spcBef>
            <a:spcAft>
              <a:spcPct val="35000"/>
            </a:spcAft>
            <a:buClrTx/>
            <a:buSzTx/>
            <a:buFontTx/>
            <a:buNone/>
          </a:pPr>
          <a:r>
            <a:rPr kumimoji="0" lang="es-MX" sz="1200" b="1"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Art.2</a:t>
          </a:r>
          <a:endParaRPr lang="es-BO" sz="1200" kern="1200" dirty="0"/>
        </a:p>
      </dsp:txBody>
      <dsp:txXfrm>
        <a:off x="123882" y="1399520"/>
        <a:ext cx="2259263" cy="2619626"/>
      </dsp:txXfrm>
    </dsp:sp>
    <dsp:sp modelId="{5756427D-452D-4FA1-BBA4-98C149416487}">
      <dsp:nvSpPr>
        <dsp:cNvPr id="0" name=""/>
        <dsp:cNvSpPr/>
      </dsp:nvSpPr>
      <dsp:spPr>
        <a:xfrm>
          <a:off x="2585994" y="893657"/>
          <a:ext cx="3313752" cy="3715406"/>
        </a:xfrm>
        <a:prstGeom prst="roundRect">
          <a:avLst/>
        </a:prstGeom>
        <a:solidFill>
          <a:schemeClr val="bg1"/>
        </a:solidFill>
        <a:ln w="57150" cap="flat" cmpd="sng" algn="ctr">
          <a:solidFill>
            <a:srgbClr val="FFFF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Tx/>
            <a:buNone/>
          </a:pPr>
          <a:r>
            <a:rPr kumimoji="0" lang="es-MX" sz="1400" b="0" i="0" u="none" strike="noStrike" kern="1200" cap="none" spc="0" normalizeH="0" baseline="0" noProof="0" dirty="0">
              <a:ln>
                <a:noFill/>
              </a:ln>
              <a:solidFill>
                <a:prstClr val="black"/>
              </a:solidFill>
              <a:effectLst/>
              <a:uLnTx/>
              <a:uFillTx/>
              <a:latin typeface="Gill Sans MT" panose="020B0502020104020203"/>
            </a:rPr>
            <a:t>La función judicial es única en todo el territorio del Estado Plurinacional y se ejerce por medio del Órgano Judicial a través de: </a:t>
          </a:r>
        </a:p>
        <a:p>
          <a:pPr marL="0" lvl="0" indent="0" algn="ctr" defTabSz="622300">
            <a:lnSpc>
              <a:spcPct val="90000"/>
            </a:lnSpc>
            <a:spcBef>
              <a:spcPct val="0"/>
            </a:spcBef>
            <a:spcAft>
              <a:spcPct val="35000"/>
            </a:spcAft>
            <a:buFontTx/>
            <a:buNone/>
          </a:pPr>
          <a:r>
            <a:rPr kumimoji="0" lang="es-MX" sz="1400" b="0" i="0" u="none" strike="noStrike" kern="1200" cap="none" spc="0" normalizeH="0" baseline="0" noProof="0" dirty="0">
              <a:ln>
                <a:noFill/>
              </a:ln>
              <a:solidFill>
                <a:prstClr val="black"/>
              </a:solidFill>
              <a:effectLst/>
              <a:uLnTx/>
              <a:uFillTx/>
              <a:latin typeface="Gill Sans MT" panose="020B0502020104020203"/>
            </a:rPr>
            <a:t>1.La Jurisdicción Ordinaria, </a:t>
          </a:r>
        </a:p>
        <a:p>
          <a:pPr marL="0" lvl="0" indent="0" algn="ctr" defTabSz="622300">
            <a:lnSpc>
              <a:spcPct val="90000"/>
            </a:lnSpc>
            <a:spcBef>
              <a:spcPct val="0"/>
            </a:spcBef>
            <a:spcAft>
              <a:spcPct val="35000"/>
            </a:spcAft>
            <a:buFontTx/>
            <a:buNone/>
          </a:pPr>
          <a:r>
            <a:rPr kumimoji="0" lang="es-MX" sz="1400" b="0" i="0" u="none" strike="noStrike" kern="1200" cap="none" spc="0" normalizeH="0" baseline="0" noProof="0" dirty="0">
              <a:ln>
                <a:noFill/>
              </a:ln>
              <a:solidFill>
                <a:prstClr val="black"/>
              </a:solidFill>
              <a:effectLst/>
              <a:uLnTx/>
              <a:uFillTx/>
              <a:latin typeface="Gill Sans MT" panose="020B0502020104020203"/>
            </a:rPr>
            <a:t>2. La Jurisdicción Agroambiental, </a:t>
          </a:r>
        </a:p>
        <a:p>
          <a:pPr marL="0" lvl="0" indent="0" algn="ctr" defTabSz="622300">
            <a:lnSpc>
              <a:spcPct val="90000"/>
            </a:lnSpc>
            <a:spcBef>
              <a:spcPct val="0"/>
            </a:spcBef>
            <a:spcAft>
              <a:spcPct val="35000"/>
            </a:spcAft>
            <a:buFontTx/>
            <a:buNone/>
          </a:pPr>
          <a:r>
            <a:rPr kumimoji="0" lang="es-MX" sz="1400" b="0" i="0" u="none" strike="noStrike" kern="1200" cap="none" spc="0" normalizeH="0" baseline="0" noProof="0" dirty="0">
              <a:ln>
                <a:noFill/>
              </a:ln>
              <a:solidFill>
                <a:prstClr val="black"/>
              </a:solidFill>
              <a:effectLst/>
              <a:uLnTx/>
              <a:uFillTx/>
              <a:latin typeface="Gill Sans MT" panose="020B0502020104020203"/>
            </a:rPr>
            <a:t>3. Las Jurisdicciones Especiales reguladas por ley; y </a:t>
          </a:r>
        </a:p>
        <a:p>
          <a:pPr marL="0" lvl="0" indent="0" algn="ctr" defTabSz="622300">
            <a:lnSpc>
              <a:spcPct val="90000"/>
            </a:lnSpc>
            <a:spcBef>
              <a:spcPct val="0"/>
            </a:spcBef>
            <a:spcAft>
              <a:spcPct val="35000"/>
            </a:spcAft>
            <a:buFontTx/>
            <a:buNone/>
          </a:pPr>
          <a:r>
            <a:rPr kumimoji="0" lang="es-MX" sz="1400" b="1" i="1"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4. La Jurisdicción Indígena Originaria Campesina, por sus propias autoridades, según sus normas y procedimientos propios</a:t>
          </a:r>
          <a:r>
            <a:rPr kumimoji="0" lang="es-MX" sz="1000" b="1" i="1"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a:t>
          </a:r>
          <a:r>
            <a:rPr kumimoji="0" lang="es-MX" sz="1000" b="0" i="0" u="none" strike="noStrike" kern="1200" cap="none" spc="0" normalizeH="0" baseline="0" noProof="0" dirty="0">
              <a:ln>
                <a:noFill/>
              </a:ln>
              <a:solidFill>
                <a:prstClr val="black"/>
              </a:solidFill>
              <a:effectLst/>
              <a:uLnTx/>
              <a:uFillTx/>
              <a:latin typeface="Gill Sans MT" panose="020B0502020104020203"/>
            </a:rPr>
            <a:t> </a:t>
          </a:r>
        </a:p>
        <a:p>
          <a:pPr marL="0" lvl="0" indent="0" algn="ctr" defTabSz="622300">
            <a:lnSpc>
              <a:spcPct val="90000"/>
            </a:lnSpc>
            <a:spcBef>
              <a:spcPct val="0"/>
            </a:spcBef>
            <a:spcAft>
              <a:spcPct val="35000"/>
            </a:spcAft>
            <a:buFontTx/>
            <a:buNone/>
          </a:pPr>
          <a:r>
            <a:rPr kumimoji="0" lang="es-MX" sz="1200" b="0" i="0" u="none" strike="noStrike" kern="1200" cap="none" spc="0" normalizeH="0" baseline="0" noProof="0" dirty="0">
              <a:ln>
                <a:noFill/>
              </a:ln>
              <a:solidFill>
                <a:prstClr val="black"/>
              </a:solidFill>
              <a:effectLst/>
              <a:uLnTx/>
              <a:uFillTx/>
              <a:latin typeface="Gill Sans MT" panose="020B0502020104020203"/>
            </a:rPr>
            <a:t>Artículo 4</a:t>
          </a:r>
          <a:r>
            <a:rPr kumimoji="0" lang="es-MX" sz="1000" b="0" i="0" u="none" strike="noStrike" kern="1200" cap="none" spc="0" normalizeH="0" baseline="0" noProof="0" dirty="0">
              <a:ln>
                <a:noFill/>
              </a:ln>
              <a:solidFill>
                <a:prstClr val="black"/>
              </a:solidFill>
              <a:effectLst/>
              <a:uLnTx/>
              <a:uFillTx/>
              <a:latin typeface="Gill Sans MT" panose="020B0502020104020203"/>
            </a:rPr>
            <a:t>. </a:t>
          </a:r>
          <a:endParaRPr lang="es-BO" sz="1000" kern="1200" dirty="0"/>
        </a:p>
      </dsp:txBody>
      <dsp:txXfrm>
        <a:off x="2747758" y="1055421"/>
        <a:ext cx="2990224" cy="3391878"/>
      </dsp:txXfrm>
    </dsp:sp>
    <dsp:sp modelId="{F828F556-307D-45D6-B6FC-6FD79D037DF0}">
      <dsp:nvSpPr>
        <dsp:cNvPr id="0" name=""/>
        <dsp:cNvSpPr/>
      </dsp:nvSpPr>
      <dsp:spPr>
        <a:xfrm>
          <a:off x="6040003" y="1272021"/>
          <a:ext cx="2640298" cy="3189904"/>
        </a:xfrm>
        <a:prstGeom prst="roundRect">
          <a:avLst/>
        </a:prstGeom>
        <a:solidFill>
          <a:schemeClr val="bg1"/>
        </a:solidFill>
        <a:ln w="12700" cap="flat" cmpd="sng" algn="ctr">
          <a:solidFill>
            <a:srgbClr val="00B05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Tx/>
            <a:buSzTx/>
            <a:buFontTx/>
            <a:buNone/>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(JURISDICCIÓN). </a:t>
          </a:r>
        </a:p>
        <a:p>
          <a:pPr marL="0" lvl="0" indent="0" algn="ctr" defTabSz="711200">
            <a:lnSpc>
              <a:spcPct val="90000"/>
            </a:lnSpc>
            <a:spcBef>
              <a:spcPct val="0"/>
            </a:spcBef>
            <a:spcAft>
              <a:spcPct val="35000"/>
            </a:spcAft>
            <a:buClrTx/>
            <a:buSzTx/>
            <a:buFontTx/>
            <a:buNone/>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 la potestad que tiene el Estado Plurinacional de administrar justicia; emana del pueblo boliviano y </a:t>
          </a:r>
          <a:r>
            <a:rPr kumimoji="0" lang="es-MX" sz="1600" b="1" i="1" u="sng"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se ejerce por medio de las autoridades jurisdiccionales del Órgano Judicial</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p>
        <a:p>
          <a:pPr marL="0" lvl="0" indent="0" algn="ctr" defTabSz="711200">
            <a:lnSpc>
              <a:spcPct val="90000"/>
            </a:lnSpc>
            <a:spcBef>
              <a:spcPct val="0"/>
            </a:spcBef>
            <a:spcAft>
              <a:spcPct val="35000"/>
            </a:spcAft>
            <a:buClrTx/>
            <a:buSzTx/>
            <a:buFontTx/>
            <a:buNone/>
          </a:pPr>
          <a:r>
            <a:rPr kumimoji="0" lang="es-MX"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Artículo 11</a:t>
          </a:r>
          <a:endParaRPr lang="es-BO" sz="1200" kern="1200" dirty="0">
            <a:latin typeface="Arial" panose="020B0604020202020204" pitchFamily="34" charset="0"/>
            <a:cs typeface="Arial" panose="020B0604020202020204" pitchFamily="34" charset="0"/>
          </a:endParaRPr>
        </a:p>
      </dsp:txBody>
      <dsp:txXfrm>
        <a:off x="6168892" y="1400910"/>
        <a:ext cx="2382520" cy="2932126"/>
      </dsp:txXfrm>
    </dsp:sp>
    <dsp:sp modelId="{C52C842D-4FC4-4C68-922C-44445F0B5FD9}">
      <dsp:nvSpPr>
        <dsp:cNvPr id="0" name=""/>
        <dsp:cNvSpPr/>
      </dsp:nvSpPr>
      <dsp:spPr>
        <a:xfrm>
          <a:off x="8881734" y="1245773"/>
          <a:ext cx="2119210" cy="2990193"/>
        </a:xfrm>
        <a:prstGeom prst="roundRect">
          <a:avLst/>
        </a:prstGeom>
        <a:solidFill>
          <a:schemeClr val="bg1"/>
        </a:solidFill>
        <a:ln w="5715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ClrTx/>
            <a:buSzTx/>
            <a:buFontTx/>
            <a:buNone/>
          </a:pPr>
          <a:r>
            <a:rPr kumimoji="0" lang="es-MX" sz="1400" b="0" i="0" u="none" strike="noStrike" kern="1200" cap="none" spc="0" normalizeH="0" baseline="0" noProof="0" dirty="0">
              <a:ln>
                <a:noFill/>
              </a:ln>
              <a:solidFill>
                <a:prstClr val="black"/>
              </a:solidFill>
              <a:effectLst/>
              <a:uLnTx/>
              <a:uFillTx/>
              <a:latin typeface="Gill Sans MT" panose="020B0502020104020203"/>
            </a:rPr>
            <a:t>. (COMPETENCIA). </a:t>
          </a:r>
        </a:p>
        <a:p>
          <a:pPr marL="0" lvl="0" indent="0" algn="ctr" defTabSz="622300">
            <a:lnSpc>
              <a:spcPct val="90000"/>
            </a:lnSpc>
            <a:spcBef>
              <a:spcPct val="0"/>
            </a:spcBef>
            <a:spcAft>
              <a:spcPct val="35000"/>
            </a:spcAft>
            <a:buClrTx/>
            <a:buSzTx/>
            <a:buFontTx/>
            <a:buNone/>
          </a:pPr>
          <a:r>
            <a:rPr kumimoji="0" lang="es-MX" sz="1400" b="1" i="1" u="sng"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Es la facultad que tiene </a:t>
          </a:r>
          <a:r>
            <a:rPr kumimoji="0" lang="es-MX" sz="1400" b="0" i="0" u="none" strike="noStrike" kern="1200" cap="none" spc="0" normalizeH="0" baseline="0" noProof="0" dirty="0">
              <a:ln>
                <a:noFill/>
              </a:ln>
              <a:solidFill>
                <a:prstClr val="black"/>
              </a:solidFill>
              <a:effectLst/>
              <a:uLnTx/>
              <a:uFillTx/>
              <a:latin typeface="Gill Sans MT" panose="020B0502020104020203"/>
            </a:rPr>
            <a:t>una magistrada o magistrado, una o un vocal, una jueza o un juez, </a:t>
          </a:r>
          <a:r>
            <a:rPr kumimoji="0" lang="es-MX" sz="1400" b="1" i="1" u="sng"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o autoridad indígena originaria campesina para ejercer la jurisdicción en un determinado asunto. </a:t>
          </a:r>
        </a:p>
        <a:p>
          <a:pPr marL="0" lvl="0" indent="0" algn="ctr" defTabSz="622300">
            <a:lnSpc>
              <a:spcPct val="90000"/>
            </a:lnSpc>
            <a:spcBef>
              <a:spcPct val="0"/>
            </a:spcBef>
            <a:spcAft>
              <a:spcPct val="35000"/>
            </a:spcAft>
            <a:buClrTx/>
            <a:buSzTx/>
            <a:buFontTx/>
            <a:buNone/>
          </a:pPr>
          <a:r>
            <a:rPr kumimoji="0" lang="es-MX"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Artículo 12</a:t>
          </a:r>
          <a:endParaRPr lang="es-BO" sz="1000" kern="1200" dirty="0"/>
        </a:p>
      </dsp:txBody>
      <dsp:txXfrm>
        <a:off x="8985185" y="1349224"/>
        <a:ext cx="1912308" cy="27832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E5C20F-5AF4-428C-B41C-D029C0A9403C}">
      <dsp:nvSpPr>
        <dsp:cNvPr id="0" name=""/>
        <dsp:cNvSpPr/>
      </dsp:nvSpPr>
      <dsp:spPr>
        <a:xfrm rot="5400000">
          <a:off x="609655" y="1605768"/>
          <a:ext cx="1242695" cy="1414764"/>
        </a:xfrm>
        <a:prstGeom prst="bentUpArrow">
          <a:avLst>
            <a:gd name="adj1" fmla="val 32840"/>
            <a:gd name="adj2" fmla="val 25000"/>
            <a:gd name="adj3" fmla="val 35780"/>
          </a:avLst>
        </a:prstGeom>
        <a:solidFill>
          <a:srgbClr val="C0000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8C81DC8-64E8-4632-9766-70FE6FAE56CF}">
      <dsp:nvSpPr>
        <dsp:cNvPr id="0" name=""/>
        <dsp:cNvSpPr/>
      </dsp:nvSpPr>
      <dsp:spPr>
        <a:xfrm>
          <a:off x="5918" y="77706"/>
          <a:ext cx="2640962" cy="1674745"/>
        </a:xfrm>
        <a:prstGeom prst="roundRect">
          <a:avLst>
            <a:gd name="adj" fmla="val 16670"/>
          </a:avLst>
        </a:prstGeom>
        <a:solidFill>
          <a:schemeClr val="bg2"/>
        </a:solidFill>
        <a:ln w="19050" cap="flat" cmpd="sng" algn="ctr">
          <a:solidFill>
            <a:schemeClr val="accent5">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b="1" i="0" u="none" strike="noStrike" kern="1200" baseline="0" dirty="0">
              <a:solidFill>
                <a:schemeClr val="tx1"/>
              </a:solidFill>
              <a:latin typeface="Arial" panose="020B0604020202020204" pitchFamily="34" charset="0"/>
              <a:cs typeface="Arial" panose="020B0604020202020204" pitchFamily="34" charset="0"/>
            </a:rPr>
            <a:t>¿Intervienen en el caso NPIOC</a:t>
          </a:r>
          <a:r>
            <a:rPr lang="es-MX" sz="1600" b="0" i="0" u="none" strike="noStrike" kern="1200" baseline="0" dirty="0">
              <a:solidFill>
                <a:schemeClr val="tx1"/>
              </a:solidFill>
              <a:latin typeface="Arial" panose="020B0604020202020204" pitchFamily="34" charset="0"/>
              <a:cs typeface="Arial" panose="020B0604020202020204" pitchFamily="34" charset="0"/>
            </a:rPr>
            <a:t> </a:t>
          </a:r>
          <a:r>
            <a:rPr lang="es-MX" sz="1600" b="1" i="0" u="none" strike="noStrike" kern="1200" baseline="0" dirty="0">
              <a:solidFill>
                <a:schemeClr val="tx1"/>
              </a:solidFill>
              <a:latin typeface="Arial" panose="020B0604020202020204" pitchFamily="34" charset="0"/>
              <a:cs typeface="Arial" panose="020B0604020202020204" pitchFamily="34" charset="0"/>
            </a:rPr>
            <a:t>o algunos de sus miembros, </a:t>
          </a:r>
        </a:p>
        <a:p>
          <a:pPr marL="0" lvl="0" indent="0" algn="ctr" defTabSz="711200">
            <a:lnSpc>
              <a:spcPct val="90000"/>
            </a:lnSpc>
            <a:spcBef>
              <a:spcPct val="0"/>
            </a:spcBef>
            <a:spcAft>
              <a:spcPct val="35000"/>
            </a:spcAft>
            <a:buNone/>
          </a:pPr>
          <a:r>
            <a:rPr lang="es-MX" sz="1600" b="1" i="0" u="none" strike="noStrike" kern="1200" baseline="0" dirty="0">
              <a:solidFill>
                <a:schemeClr val="tx1"/>
              </a:solidFill>
              <a:latin typeface="Arial" panose="020B0604020202020204" pitchFamily="34" charset="0"/>
              <a:cs typeface="Arial" panose="020B0604020202020204" pitchFamily="34" charset="0"/>
            </a:rPr>
            <a:t>sea como demandantes, demandados, imputados, querellantes o víctimas? </a:t>
          </a:r>
          <a:endParaRPr lang="es-BO" sz="1600" kern="1200" dirty="0">
            <a:solidFill>
              <a:schemeClr val="tx1"/>
            </a:solidFill>
            <a:latin typeface="Arial" panose="020B0604020202020204" pitchFamily="34" charset="0"/>
            <a:cs typeface="Arial" panose="020B0604020202020204" pitchFamily="34" charset="0"/>
          </a:endParaRPr>
        </a:p>
      </dsp:txBody>
      <dsp:txXfrm>
        <a:off x="87687" y="159475"/>
        <a:ext cx="2477424" cy="1511207"/>
      </dsp:txXfrm>
    </dsp:sp>
    <dsp:sp modelId="{B7CD7CCE-FAD5-4E73-B5F5-C8CC6221F72C}">
      <dsp:nvSpPr>
        <dsp:cNvPr id="0" name=""/>
        <dsp:cNvSpPr/>
      </dsp:nvSpPr>
      <dsp:spPr>
        <a:xfrm>
          <a:off x="3062101" y="541623"/>
          <a:ext cx="4532009" cy="1211971"/>
        </a:xfrm>
        <a:prstGeom prst="rect">
          <a:avLst/>
        </a:prstGeom>
        <a:noFill/>
        <a:ln>
          <a:solidFill>
            <a:srgbClr val="FF0000"/>
          </a:solid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114300" lvl="1" indent="-114300" algn="just" defTabSz="622300">
            <a:lnSpc>
              <a:spcPct val="90000"/>
            </a:lnSpc>
            <a:spcBef>
              <a:spcPct val="0"/>
            </a:spcBef>
            <a:spcAft>
              <a:spcPct val="15000"/>
            </a:spcAft>
            <a:buChar char="•"/>
          </a:pPr>
          <a:r>
            <a:rPr lang="es-MX" sz="1400" b="0" i="0" u="none" strike="noStrike" kern="1200" baseline="0" dirty="0">
              <a:solidFill>
                <a:srgbClr val="000000"/>
              </a:solidFill>
              <a:latin typeface="Arial" panose="020B0604020202020204" pitchFamily="34" charset="0"/>
              <a:cs typeface="Arial" panose="020B0604020202020204" pitchFamily="34" charset="0"/>
            </a:rPr>
            <a:t>Esta pregunta debe ser respondida a partir del contexto de los hechos denunciados o demandados y, de ser necesario, con la respuesta o contestación a la demanda; en todo caso, es posible a la autoridad jurisdiccional convocar a las partes para que éstas se autoidentifiquen como miembros de una NPIOC</a:t>
          </a:r>
          <a:endParaRPr lang="es-BO" sz="1400" kern="1200" dirty="0"/>
        </a:p>
      </dsp:txBody>
      <dsp:txXfrm>
        <a:off x="3062101" y="541623"/>
        <a:ext cx="4532009" cy="1211971"/>
      </dsp:txXfrm>
    </dsp:sp>
    <dsp:sp modelId="{5B38AA6A-B3D8-45D5-9D97-E0E789F192B5}">
      <dsp:nvSpPr>
        <dsp:cNvPr id="0" name=""/>
        <dsp:cNvSpPr/>
      </dsp:nvSpPr>
      <dsp:spPr>
        <a:xfrm rot="5400000">
          <a:off x="2577637" y="3159842"/>
          <a:ext cx="1242695" cy="1414764"/>
        </a:xfrm>
        <a:prstGeom prst="bentUpArrow">
          <a:avLst>
            <a:gd name="adj1" fmla="val 32840"/>
            <a:gd name="adj2" fmla="val 25000"/>
            <a:gd name="adj3" fmla="val 35780"/>
          </a:avLst>
        </a:prstGeom>
        <a:solidFill>
          <a:schemeClr val="accent5"/>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910856-C5DF-4494-A177-0688F46F863B}">
      <dsp:nvSpPr>
        <dsp:cNvPr id="0" name=""/>
        <dsp:cNvSpPr/>
      </dsp:nvSpPr>
      <dsp:spPr>
        <a:xfrm>
          <a:off x="1867997" y="1838487"/>
          <a:ext cx="3234725" cy="1464309"/>
        </a:xfrm>
        <a:prstGeom prst="roundRect">
          <a:avLst>
            <a:gd name="adj" fmla="val 16670"/>
          </a:avLst>
        </a:prstGeom>
        <a:solidFill>
          <a:srgbClr val="FFFF0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s-MX" sz="1600" b="1" i="0" u="none" strike="noStrike" kern="1200" baseline="0" dirty="0">
              <a:solidFill>
                <a:srgbClr val="365F91"/>
              </a:solidFill>
              <a:latin typeface="Arial" panose="020B0604020202020204" pitchFamily="34" charset="0"/>
              <a:cs typeface="Arial" panose="020B0604020202020204" pitchFamily="34" charset="0"/>
            </a:rPr>
            <a:t>¿Alguna de las partes pertenece a una población o grupo en situación de vulnerabilidad, es decir, si es mujer, niño, niña, adolescente, persona con discapacidad, persona adulta mayor? </a:t>
          </a:r>
          <a:endParaRPr lang="es-BO" sz="1600" b="1" kern="1200" dirty="0">
            <a:latin typeface="Arial" panose="020B0604020202020204" pitchFamily="34" charset="0"/>
            <a:cs typeface="Arial" panose="020B0604020202020204" pitchFamily="34" charset="0"/>
          </a:endParaRPr>
        </a:p>
      </dsp:txBody>
      <dsp:txXfrm>
        <a:off x="1939492" y="1909982"/>
        <a:ext cx="3091735" cy="1321319"/>
      </dsp:txXfrm>
    </dsp:sp>
    <dsp:sp modelId="{C9B213F5-3D11-4CE5-B5B8-550379E3295B}">
      <dsp:nvSpPr>
        <dsp:cNvPr id="0" name=""/>
        <dsp:cNvSpPr/>
      </dsp:nvSpPr>
      <dsp:spPr>
        <a:xfrm>
          <a:off x="5326767" y="1972403"/>
          <a:ext cx="2716330" cy="1183519"/>
        </a:xfrm>
        <a:prstGeom prst="rect">
          <a:avLst/>
        </a:prstGeom>
        <a:noFill/>
        <a:ln>
          <a:solidFill>
            <a:srgbClr val="FF0000"/>
          </a:solid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es-MX" sz="1400" kern="1200" dirty="0">
              <a:latin typeface="Arial" panose="020B0604020202020204" pitchFamily="34" charset="0"/>
              <a:cs typeface="Arial" panose="020B0604020202020204" pitchFamily="34" charset="0"/>
            </a:rPr>
            <a:t>La respuesta a esta pregunta le permitirá a la autoridad judicial reforzar su actuación a partir de pautas que también serán explicadas en este acápite</a:t>
          </a:r>
          <a:endParaRPr lang="es-BO" sz="1400" kern="1200" dirty="0">
            <a:latin typeface="Arial" panose="020B0604020202020204" pitchFamily="34" charset="0"/>
            <a:cs typeface="Arial" panose="020B0604020202020204" pitchFamily="34" charset="0"/>
          </a:endParaRPr>
        </a:p>
      </dsp:txBody>
      <dsp:txXfrm>
        <a:off x="5326767" y="1972403"/>
        <a:ext cx="2716330" cy="1183519"/>
      </dsp:txXfrm>
    </dsp:sp>
    <dsp:sp modelId="{355AED8A-6B45-438C-A62C-6D6BC819228B}">
      <dsp:nvSpPr>
        <dsp:cNvPr id="0" name=""/>
        <dsp:cNvSpPr/>
      </dsp:nvSpPr>
      <dsp:spPr>
        <a:xfrm>
          <a:off x="4125584" y="3651971"/>
          <a:ext cx="2091967" cy="917097"/>
        </a:xfrm>
        <a:prstGeom prst="roundRect">
          <a:avLst>
            <a:gd name="adj" fmla="val 16670"/>
          </a:avLst>
        </a:prstGeom>
        <a:solidFill>
          <a:srgbClr val="00B0F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i="1" u="sng" strike="noStrike" kern="1200" baseline="0" dirty="0">
              <a:solidFill>
                <a:schemeClr val="tx1"/>
              </a:solidFill>
              <a:latin typeface="Cambria" panose="02040503050406030204" pitchFamily="18" charset="0"/>
            </a:rPr>
            <a:t>¿Es competente para conocer el caso? </a:t>
          </a:r>
          <a:endParaRPr lang="es-BO" sz="1800" i="1" u="sng" kern="1200" dirty="0">
            <a:solidFill>
              <a:schemeClr val="tx1"/>
            </a:solidFill>
          </a:endParaRPr>
        </a:p>
      </dsp:txBody>
      <dsp:txXfrm>
        <a:off x="4170361" y="3696748"/>
        <a:ext cx="2002413" cy="827543"/>
      </dsp:txXfrm>
    </dsp:sp>
    <dsp:sp modelId="{B4332058-762D-429B-A8F8-8E3E0C365549}">
      <dsp:nvSpPr>
        <dsp:cNvPr id="0" name=""/>
        <dsp:cNvSpPr/>
      </dsp:nvSpPr>
      <dsp:spPr>
        <a:xfrm>
          <a:off x="6500142" y="3417102"/>
          <a:ext cx="3037731" cy="1183519"/>
        </a:xfrm>
        <a:prstGeom prst="rect">
          <a:avLst/>
        </a:prstGeom>
        <a:noFill/>
        <a:ln>
          <a:solidFill>
            <a:srgbClr val="FF0000"/>
          </a:solid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es-MX" sz="1400" kern="1200" dirty="0">
              <a:latin typeface="Arial" panose="020B0604020202020204" pitchFamily="34" charset="0"/>
              <a:cs typeface="Arial" panose="020B0604020202020204" pitchFamily="34" charset="0"/>
            </a:rPr>
            <a:t>la autoridad jurisdiccional, en resguardo de los derechos de las NPIOC a la libre determinación y a ejercer sus sistemas jurídicos</a:t>
          </a:r>
          <a:endParaRPr lang="es-BO" sz="1400" kern="1200" dirty="0">
            <a:latin typeface="Arial" panose="020B0604020202020204" pitchFamily="34" charset="0"/>
            <a:cs typeface="Arial" panose="020B0604020202020204" pitchFamily="34" charset="0"/>
          </a:endParaRPr>
        </a:p>
      </dsp:txBody>
      <dsp:txXfrm>
        <a:off x="6500142" y="3417102"/>
        <a:ext cx="3037731" cy="11835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5EDB12-4D1D-4266-9FDC-59474670497F}">
      <dsp:nvSpPr>
        <dsp:cNvPr id="0" name=""/>
        <dsp:cNvSpPr/>
      </dsp:nvSpPr>
      <dsp:spPr>
        <a:xfrm>
          <a:off x="4632434" y="347939"/>
          <a:ext cx="3564756" cy="341300"/>
        </a:xfrm>
        <a:custGeom>
          <a:avLst/>
          <a:gdLst/>
          <a:ahLst/>
          <a:cxnLst/>
          <a:rect l="0" t="0" r="0" b="0"/>
          <a:pathLst>
            <a:path>
              <a:moveTo>
                <a:pt x="0" y="0"/>
              </a:moveTo>
              <a:lnTo>
                <a:pt x="0" y="116563"/>
              </a:lnTo>
              <a:lnTo>
                <a:pt x="3564756" y="116563"/>
              </a:lnTo>
              <a:lnTo>
                <a:pt x="3564756" y="341300"/>
              </a:lnTo>
            </a:path>
          </a:pathLst>
        </a:custGeom>
        <a:noFill/>
        <a:ln w="57150" cap="flat" cmpd="sng" algn="ctr">
          <a:solidFill>
            <a:srgbClr val="FF0000"/>
          </a:solidFill>
          <a:prstDash val="solid"/>
        </a:ln>
        <a:effectLst/>
      </dsp:spPr>
      <dsp:style>
        <a:lnRef idx="2">
          <a:scrgbClr r="0" g="0" b="0"/>
        </a:lnRef>
        <a:fillRef idx="0">
          <a:scrgbClr r="0" g="0" b="0"/>
        </a:fillRef>
        <a:effectRef idx="0">
          <a:scrgbClr r="0" g="0" b="0"/>
        </a:effectRef>
        <a:fontRef idx="minor"/>
      </dsp:style>
    </dsp:sp>
    <dsp:sp modelId="{67759021-90C7-42D4-86AF-9E0864F3C9D3}">
      <dsp:nvSpPr>
        <dsp:cNvPr id="0" name=""/>
        <dsp:cNvSpPr/>
      </dsp:nvSpPr>
      <dsp:spPr>
        <a:xfrm>
          <a:off x="3133374" y="347939"/>
          <a:ext cx="1499059" cy="407330"/>
        </a:xfrm>
        <a:custGeom>
          <a:avLst/>
          <a:gdLst/>
          <a:ahLst/>
          <a:cxnLst/>
          <a:rect l="0" t="0" r="0" b="0"/>
          <a:pathLst>
            <a:path>
              <a:moveTo>
                <a:pt x="1499059" y="0"/>
              </a:moveTo>
              <a:lnTo>
                <a:pt x="1499059" y="182593"/>
              </a:lnTo>
              <a:lnTo>
                <a:pt x="0" y="182593"/>
              </a:lnTo>
              <a:lnTo>
                <a:pt x="0" y="407330"/>
              </a:lnTo>
            </a:path>
          </a:pathLst>
        </a:custGeom>
        <a:noFill/>
        <a:ln w="38100" cap="flat" cmpd="sng" algn="ctr">
          <a:solidFill>
            <a:srgbClr val="FF0000"/>
          </a:solidFill>
          <a:prstDash val="solid"/>
        </a:ln>
        <a:effectLst/>
      </dsp:spPr>
      <dsp:style>
        <a:lnRef idx="2">
          <a:scrgbClr r="0" g="0" b="0"/>
        </a:lnRef>
        <a:fillRef idx="0">
          <a:scrgbClr r="0" g="0" b="0"/>
        </a:fillRef>
        <a:effectRef idx="0">
          <a:scrgbClr r="0" g="0" b="0"/>
        </a:effectRef>
        <a:fontRef idx="minor"/>
      </dsp:style>
    </dsp:sp>
    <dsp:sp modelId="{0F178381-B29D-4022-B5E4-02CF1309F5D9}">
      <dsp:nvSpPr>
        <dsp:cNvPr id="0" name=""/>
        <dsp:cNvSpPr/>
      </dsp:nvSpPr>
      <dsp:spPr>
        <a:xfrm>
          <a:off x="2563313" y="217"/>
          <a:ext cx="4138242" cy="347721"/>
        </a:xfrm>
        <a:prstGeom prst="rect">
          <a:avLst/>
        </a:prstGeom>
        <a:solidFill>
          <a:schemeClr val="accent4"/>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b="1" i="1" kern="1200" dirty="0">
              <a:solidFill>
                <a:sysClr val="windowText" lastClr="000000"/>
              </a:solidFill>
              <a:latin typeface="Arial" panose="020B0604020202020204" pitchFamily="34" charset="0"/>
              <a:cs typeface="Arial" panose="020B0604020202020204" pitchFamily="34" charset="0"/>
            </a:rPr>
            <a:t>II.3. casos:  miembros de NPIOC </a:t>
          </a:r>
          <a:endParaRPr lang="es-BO" sz="1800" kern="1200" dirty="0">
            <a:solidFill>
              <a:sysClr val="windowText" lastClr="000000"/>
            </a:solidFill>
            <a:latin typeface="Arial" panose="020B0604020202020204" pitchFamily="34" charset="0"/>
            <a:cs typeface="Arial" panose="020B0604020202020204" pitchFamily="34" charset="0"/>
          </a:endParaRPr>
        </a:p>
      </dsp:txBody>
      <dsp:txXfrm>
        <a:off x="2563313" y="217"/>
        <a:ext cx="4138242" cy="347721"/>
      </dsp:txXfrm>
    </dsp:sp>
    <dsp:sp modelId="{23911A22-A6C4-4903-9120-D8C28A6CAF53}">
      <dsp:nvSpPr>
        <dsp:cNvPr id="0" name=""/>
        <dsp:cNvSpPr/>
      </dsp:nvSpPr>
      <dsp:spPr>
        <a:xfrm>
          <a:off x="1535623" y="755269"/>
          <a:ext cx="3195502" cy="936575"/>
        </a:xfrm>
        <a:prstGeom prst="rect">
          <a:avLst/>
        </a:prstGeom>
        <a:solidFill>
          <a:srgbClr val="FFFF0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b="1" kern="1200" dirty="0">
              <a:solidFill>
                <a:sysClr val="windowText" lastClr="000000"/>
              </a:solidFill>
              <a:latin typeface="Arial" panose="020B0604020202020204" pitchFamily="34" charset="0"/>
              <a:cs typeface="Arial" panose="020B0604020202020204" pitchFamily="34" charset="0"/>
            </a:rPr>
            <a:t>II.3.1. Definición de la competencia de las </a:t>
          </a:r>
          <a:r>
            <a:rPr lang="es-MX" sz="1800" b="1" kern="1200" dirty="0">
              <a:solidFill>
                <a:schemeClr val="tx1"/>
              </a:solidFill>
              <a:latin typeface="Arial" panose="020B0604020202020204" pitchFamily="34" charset="0"/>
              <a:cs typeface="Arial" panose="020B0604020202020204" pitchFamily="34" charset="0"/>
            </a:rPr>
            <a:t>autoridades jurisdiccionales Si</a:t>
          </a:r>
          <a:r>
            <a:rPr lang="es-MX" sz="1800" b="1"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 el caso: </a:t>
          </a:r>
          <a:endParaRPr lang="es-BO" sz="1800" kern="1200" dirty="0">
            <a:solidFill>
              <a:schemeClr val="tx1"/>
            </a:solidFill>
            <a:latin typeface="Arial" panose="020B0604020202020204" pitchFamily="34" charset="0"/>
            <a:cs typeface="Arial" panose="020B0604020202020204" pitchFamily="34" charset="0"/>
          </a:endParaRPr>
        </a:p>
      </dsp:txBody>
      <dsp:txXfrm>
        <a:off x="1535623" y="755269"/>
        <a:ext cx="3195502" cy="936575"/>
      </dsp:txXfrm>
    </dsp:sp>
    <dsp:sp modelId="{D7D99A1F-F5BA-44F3-A564-2187302CAEB9}">
      <dsp:nvSpPr>
        <dsp:cNvPr id="0" name=""/>
        <dsp:cNvSpPr/>
      </dsp:nvSpPr>
      <dsp:spPr>
        <a:xfrm>
          <a:off x="7372984" y="689239"/>
          <a:ext cx="1648413" cy="932358"/>
        </a:xfrm>
        <a:prstGeom prst="rect">
          <a:avLst/>
        </a:prstGeom>
        <a:solidFill>
          <a:srgbClr val="FFFF0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b="1" kern="1200" dirty="0">
              <a:solidFill>
                <a:sysClr val="windowText" lastClr="000000"/>
              </a:solidFill>
              <a:latin typeface="Arial" panose="020B0604020202020204" pitchFamily="34" charset="0"/>
              <a:cs typeface="Arial" panose="020B0604020202020204" pitchFamily="34" charset="0"/>
            </a:rPr>
            <a:t>II.3.2. Acceso a la justicia plural </a:t>
          </a:r>
          <a:endParaRPr lang="es-BO" sz="1800" kern="1200" dirty="0"/>
        </a:p>
      </dsp:txBody>
      <dsp:txXfrm>
        <a:off x="7372984" y="689239"/>
        <a:ext cx="1648413" cy="932358"/>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B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92863D-A86D-4223-B5FE-1DB333983EB4}" type="datetimeFigureOut">
              <a:rPr lang="es-BO" smtClean="0"/>
              <a:t>9/5/2026</a:t>
            </a:fld>
            <a:endParaRPr lang="es-B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B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B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94627-84AA-4B88-8D88-F34D410C1CB2}" type="slidenum">
              <a:rPr lang="es-BO" smtClean="0"/>
              <a:t>‹Nº›</a:t>
            </a:fld>
            <a:endParaRPr lang="es-BO"/>
          </a:p>
        </p:txBody>
      </p:sp>
    </p:spTree>
    <p:extLst>
      <p:ext uri="{BB962C8B-B14F-4D97-AF65-F5344CB8AC3E}">
        <p14:creationId xmlns:p14="http://schemas.microsoft.com/office/powerpoint/2010/main" val="3917823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BO" dirty="0"/>
          </a:p>
        </p:txBody>
      </p:sp>
      <p:sp>
        <p:nvSpPr>
          <p:cNvPr id="4" name="Marcador de número de diapositiva 3"/>
          <p:cNvSpPr>
            <a:spLocks noGrp="1"/>
          </p:cNvSpPr>
          <p:nvPr>
            <p:ph type="sldNum" sz="quarter" idx="5"/>
          </p:nvPr>
        </p:nvSpPr>
        <p:spPr/>
        <p:txBody>
          <a:bodyPr/>
          <a:lstStyle/>
          <a:p>
            <a:fld id="{3D994627-84AA-4B88-8D88-F34D410C1CB2}" type="slidenum">
              <a:rPr lang="es-BO" smtClean="0"/>
              <a:t>3</a:t>
            </a:fld>
            <a:endParaRPr lang="es-BO"/>
          </a:p>
        </p:txBody>
      </p:sp>
    </p:spTree>
    <p:extLst>
      <p:ext uri="{BB962C8B-B14F-4D97-AF65-F5344CB8AC3E}">
        <p14:creationId xmlns:p14="http://schemas.microsoft.com/office/powerpoint/2010/main" val="369261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BO" dirty="0"/>
          </a:p>
        </p:txBody>
      </p:sp>
      <p:sp>
        <p:nvSpPr>
          <p:cNvPr id="4" name="Marcador de número de diapositiva 3"/>
          <p:cNvSpPr>
            <a:spLocks noGrp="1"/>
          </p:cNvSpPr>
          <p:nvPr>
            <p:ph type="sldNum" sz="quarter" idx="5"/>
          </p:nvPr>
        </p:nvSpPr>
        <p:spPr/>
        <p:txBody>
          <a:bodyPr/>
          <a:lstStyle/>
          <a:p>
            <a:fld id="{3D994627-84AA-4B88-8D88-F34D410C1CB2}" type="slidenum">
              <a:rPr lang="es-BO" smtClean="0"/>
              <a:t>16</a:t>
            </a:fld>
            <a:endParaRPr lang="es-BO"/>
          </a:p>
        </p:txBody>
      </p:sp>
    </p:spTree>
    <p:extLst>
      <p:ext uri="{BB962C8B-B14F-4D97-AF65-F5344CB8AC3E}">
        <p14:creationId xmlns:p14="http://schemas.microsoft.com/office/powerpoint/2010/main" val="1846946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s-BO"/>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F1754A9F-17FB-4546-AD48-49BAE3B5B01A}" type="slidenum">
              <a:rPr lang="es-BO" smtClean="0"/>
              <a:t>‹Nº›</a:t>
            </a:fld>
            <a:endParaRPr lang="es-BO"/>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27759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535633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s-BO"/>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F1754A9F-17FB-4546-AD48-49BAE3B5B01A}" type="slidenum">
              <a:rPr lang="es-BO" smtClean="0"/>
              <a:t>‹Nº›</a:t>
            </a:fld>
            <a:endParaRPr lang="es-BO"/>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64154072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3903738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57300" y="2909102"/>
            <a:ext cx="4800600" cy="299639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633864" y="2909102"/>
            <a:ext cx="4800600" cy="299639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6C57BFC-0D94-43FB-AD26-7F6B56D8FCC5}" type="datetimeFigureOut">
              <a:rPr lang="es-BO" smtClean="0"/>
              <a:t>9/5/2026</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22498552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6C57BFC-0D94-43FB-AD26-7F6B56D8FCC5}" type="datetimeFigureOut">
              <a:rPr lang="es-BO" smtClean="0"/>
              <a:t>9/5/2026</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439666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C57BFC-0D94-43FB-AD26-7F6B56D8FCC5}" type="datetimeFigureOut">
              <a:rPr lang="es-BO" smtClean="0"/>
              <a:t>9/5/2026</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401358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65051" y="6375679"/>
            <a:ext cx="1233355" cy="348462"/>
          </a:xfrm>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a:xfrm>
            <a:off x="2103620" y="6375679"/>
            <a:ext cx="3482179" cy="345796"/>
          </a:xfrm>
        </p:spPr>
        <p:txBody>
          <a:bodyPr/>
          <a:lstStyle/>
          <a:p>
            <a:endParaRPr lang="es-BO"/>
          </a:p>
        </p:txBody>
      </p:sp>
      <p:sp>
        <p:nvSpPr>
          <p:cNvPr id="7" name="Slide Number Placeholder 6"/>
          <p:cNvSpPr>
            <a:spLocks noGrp="1"/>
          </p:cNvSpPr>
          <p:nvPr>
            <p:ph type="sldNum" sz="quarter" idx="12"/>
          </p:nvPr>
        </p:nvSpPr>
        <p:spPr>
          <a:xfrm>
            <a:off x="5691014" y="6375679"/>
            <a:ext cx="1232456" cy="345796"/>
          </a:xfrm>
        </p:spPr>
        <p:txBody>
          <a:bodyPr/>
          <a:lstStyle/>
          <a:p>
            <a:fld id="{F1754A9F-17FB-4546-AD48-49BAE3B5B01A}" type="slidenum">
              <a:rPr lang="es-BO" smtClean="0"/>
              <a:t>‹Nº›</a:t>
            </a:fld>
            <a:endParaRPr lang="es-BO"/>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78580572"/>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65950" y="6375679"/>
            <a:ext cx="1232456" cy="348462"/>
          </a:xfrm>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a:xfrm>
            <a:off x="2103621" y="6375679"/>
            <a:ext cx="3482178" cy="345796"/>
          </a:xfrm>
        </p:spPr>
        <p:txBody>
          <a:bodyPr/>
          <a:lstStyle/>
          <a:p>
            <a:endParaRPr lang="es-BO"/>
          </a:p>
        </p:txBody>
      </p:sp>
      <p:sp>
        <p:nvSpPr>
          <p:cNvPr id="7" name="Slide Number Placeholder 6"/>
          <p:cNvSpPr>
            <a:spLocks noGrp="1"/>
          </p:cNvSpPr>
          <p:nvPr>
            <p:ph type="sldNum" sz="quarter" idx="12"/>
          </p:nvPr>
        </p:nvSpPr>
        <p:spPr>
          <a:xfrm>
            <a:off x="5687568" y="6375679"/>
            <a:ext cx="1234440" cy="345796"/>
          </a:xfrm>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814079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530223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415065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E4BA1A-BA01-47E7-8D17-032F84C7E7A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BO"/>
          </a:p>
        </p:txBody>
      </p:sp>
      <p:sp>
        <p:nvSpPr>
          <p:cNvPr id="3" name="Subtítulo 2">
            <a:extLst>
              <a:ext uri="{FF2B5EF4-FFF2-40B4-BE49-F238E27FC236}">
                <a16:creationId xmlns:a16="http://schemas.microsoft.com/office/drawing/2014/main" id="{9F22211E-19CA-4EC5-AE76-B6EFE6E2D4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BO"/>
          </a:p>
        </p:txBody>
      </p:sp>
      <p:sp>
        <p:nvSpPr>
          <p:cNvPr id="4" name="Marcador de fecha 3">
            <a:extLst>
              <a:ext uri="{FF2B5EF4-FFF2-40B4-BE49-F238E27FC236}">
                <a16:creationId xmlns:a16="http://schemas.microsoft.com/office/drawing/2014/main" id="{DD117293-BA14-411A-8F15-9B3BCB7365B8}"/>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5" name="Marcador de pie de página 4">
            <a:extLst>
              <a:ext uri="{FF2B5EF4-FFF2-40B4-BE49-F238E27FC236}">
                <a16:creationId xmlns:a16="http://schemas.microsoft.com/office/drawing/2014/main" id="{6510E750-39F7-4253-91B0-BA2A2913C436}"/>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FADB2DC6-EA01-4597-B980-6555D4412FA0}"/>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965484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D66BA3-E2B3-42AD-8165-8003189D20CA}"/>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A8D8FE4E-AF23-4E4D-8ABD-23E6122CF32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1F9679F2-7B6D-4549-926F-B07BEC6570D6}"/>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5" name="Marcador de pie de página 4">
            <a:extLst>
              <a:ext uri="{FF2B5EF4-FFF2-40B4-BE49-F238E27FC236}">
                <a16:creationId xmlns:a16="http://schemas.microsoft.com/office/drawing/2014/main" id="{61A585BB-6E2B-4ABA-94CA-41718C491D17}"/>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22565F8F-3F6D-4C42-8BCC-D3B9871984BF}"/>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6064113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644B5C-3FA6-4326-81CD-BD076D1F7CA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6ECDE57B-1FD6-4BD6-9688-1BE9CC29B7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13D9A0E-162F-440F-9B48-0FBF1E1B881D}"/>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5" name="Marcador de pie de página 4">
            <a:extLst>
              <a:ext uri="{FF2B5EF4-FFF2-40B4-BE49-F238E27FC236}">
                <a16:creationId xmlns:a16="http://schemas.microsoft.com/office/drawing/2014/main" id="{52C7614C-56C7-4855-AE7D-4D46ED0FCE8E}"/>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4EB12910-79D8-4EEB-AA89-48991B1EE911}"/>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6856541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8572C7-1E1E-4F58-81EB-5948F9C27725}"/>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26D1EE35-B151-47ED-AC9E-130AD008B5E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contenido 3">
            <a:extLst>
              <a:ext uri="{FF2B5EF4-FFF2-40B4-BE49-F238E27FC236}">
                <a16:creationId xmlns:a16="http://schemas.microsoft.com/office/drawing/2014/main" id="{86456949-703E-488F-B367-5AA19F0F857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fecha 4">
            <a:extLst>
              <a:ext uri="{FF2B5EF4-FFF2-40B4-BE49-F238E27FC236}">
                <a16:creationId xmlns:a16="http://schemas.microsoft.com/office/drawing/2014/main" id="{A7AFEF45-D71E-410A-9347-A63564B4EBC7}"/>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6" name="Marcador de pie de página 5">
            <a:extLst>
              <a:ext uri="{FF2B5EF4-FFF2-40B4-BE49-F238E27FC236}">
                <a16:creationId xmlns:a16="http://schemas.microsoft.com/office/drawing/2014/main" id="{4F6DB19B-D494-44D2-8F43-D0362231F99B}"/>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5C97101F-AE84-4453-ABF4-6266C83A7456}"/>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6000518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A5A6B1-02E0-4F94-8C28-AFCD45E67C5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486FB39E-8C35-44C5-B390-74C4550A29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737881A-6AD7-450B-86DB-907EDC853E1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texto 4">
            <a:extLst>
              <a:ext uri="{FF2B5EF4-FFF2-40B4-BE49-F238E27FC236}">
                <a16:creationId xmlns:a16="http://schemas.microsoft.com/office/drawing/2014/main" id="{1EBFC56D-FCD5-45F3-AA2E-57DD837087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1D730AC-0C46-486C-9B57-FF8B172FE5B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7" name="Marcador de fecha 6">
            <a:extLst>
              <a:ext uri="{FF2B5EF4-FFF2-40B4-BE49-F238E27FC236}">
                <a16:creationId xmlns:a16="http://schemas.microsoft.com/office/drawing/2014/main" id="{8119B4B5-8888-405C-AAB9-C57FF0AAFFC8}"/>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8" name="Marcador de pie de página 7">
            <a:extLst>
              <a:ext uri="{FF2B5EF4-FFF2-40B4-BE49-F238E27FC236}">
                <a16:creationId xmlns:a16="http://schemas.microsoft.com/office/drawing/2014/main" id="{CE9C7A8F-A2D0-4E5E-B1FD-C38C11DCFBB1}"/>
              </a:ext>
            </a:extLst>
          </p:cNvPr>
          <p:cNvSpPr>
            <a:spLocks noGrp="1"/>
          </p:cNvSpPr>
          <p:nvPr>
            <p:ph type="ftr" sz="quarter" idx="11"/>
          </p:nvPr>
        </p:nvSpPr>
        <p:spPr/>
        <p:txBody>
          <a:bodyPr/>
          <a:lstStyle/>
          <a:p>
            <a:endParaRPr lang="es-BO"/>
          </a:p>
        </p:txBody>
      </p:sp>
      <p:sp>
        <p:nvSpPr>
          <p:cNvPr id="9" name="Marcador de número de diapositiva 8">
            <a:extLst>
              <a:ext uri="{FF2B5EF4-FFF2-40B4-BE49-F238E27FC236}">
                <a16:creationId xmlns:a16="http://schemas.microsoft.com/office/drawing/2014/main" id="{D079C653-B8D4-40D6-89F9-16A7C6428CCD}"/>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221152239"/>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36AFD9-B071-4356-821C-484B4CF644BE}"/>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fecha 2">
            <a:extLst>
              <a:ext uri="{FF2B5EF4-FFF2-40B4-BE49-F238E27FC236}">
                <a16:creationId xmlns:a16="http://schemas.microsoft.com/office/drawing/2014/main" id="{5F996F15-EDDC-46A0-B101-4A8F7671CDB1}"/>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4" name="Marcador de pie de página 3">
            <a:extLst>
              <a:ext uri="{FF2B5EF4-FFF2-40B4-BE49-F238E27FC236}">
                <a16:creationId xmlns:a16="http://schemas.microsoft.com/office/drawing/2014/main" id="{82917263-CE18-4982-81F9-9DD074260565}"/>
              </a:ext>
            </a:extLst>
          </p:cNvPr>
          <p:cNvSpPr>
            <a:spLocks noGrp="1"/>
          </p:cNvSpPr>
          <p:nvPr>
            <p:ph type="ftr" sz="quarter" idx="11"/>
          </p:nvPr>
        </p:nvSpPr>
        <p:spPr/>
        <p:txBody>
          <a:bodyPr/>
          <a:lstStyle/>
          <a:p>
            <a:endParaRPr lang="es-BO"/>
          </a:p>
        </p:txBody>
      </p:sp>
      <p:sp>
        <p:nvSpPr>
          <p:cNvPr id="5" name="Marcador de número de diapositiva 4">
            <a:extLst>
              <a:ext uri="{FF2B5EF4-FFF2-40B4-BE49-F238E27FC236}">
                <a16:creationId xmlns:a16="http://schemas.microsoft.com/office/drawing/2014/main" id="{7C967D8C-CF1C-4C6F-96EE-990C71CCEE26}"/>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820162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A154376-6765-4BC5-AEAA-160FBE868604}"/>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3" name="Marcador de pie de página 2">
            <a:extLst>
              <a:ext uri="{FF2B5EF4-FFF2-40B4-BE49-F238E27FC236}">
                <a16:creationId xmlns:a16="http://schemas.microsoft.com/office/drawing/2014/main" id="{A19088A2-7CBB-4B34-A318-844EFAD2B5AE}"/>
              </a:ext>
            </a:extLst>
          </p:cNvPr>
          <p:cNvSpPr>
            <a:spLocks noGrp="1"/>
          </p:cNvSpPr>
          <p:nvPr>
            <p:ph type="ftr" sz="quarter" idx="11"/>
          </p:nvPr>
        </p:nvSpPr>
        <p:spPr/>
        <p:txBody>
          <a:bodyPr/>
          <a:lstStyle/>
          <a:p>
            <a:endParaRPr lang="es-BO"/>
          </a:p>
        </p:txBody>
      </p:sp>
      <p:sp>
        <p:nvSpPr>
          <p:cNvPr id="4" name="Marcador de número de diapositiva 3">
            <a:extLst>
              <a:ext uri="{FF2B5EF4-FFF2-40B4-BE49-F238E27FC236}">
                <a16:creationId xmlns:a16="http://schemas.microsoft.com/office/drawing/2014/main" id="{384CA68D-34EA-432E-9062-1E683E05E0FA}"/>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40253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227F73-94D3-4669-9AA9-83D9BDF635B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35563614-2594-4EF3-8212-5C4F642A18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texto 3">
            <a:extLst>
              <a:ext uri="{FF2B5EF4-FFF2-40B4-BE49-F238E27FC236}">
                <a16:creationId xmlns:a16="http://schemas.microsoft.com/office/drawing/2014/main" id="{D895BA6F-46F4-4309-8678-FE21C8D5EA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3112887-742B-46E6-AE46-3B7D7937EA38}"/>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6" name="Marcador de pie de página 5">
            <a:extLst>
              <a:ext uri="{FF2B5EF4-FFF2-40B4-BE49-F238E27FC236}">
                <a16:creationId xmlns:a16="http://schemas.microsoft.com/office/drawing/2014/main" id="{25A74DD4-2EA1-42D1-9A36-83DA8BFB7A22}"/>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C91A086F-752D-4C23-B005-E165481D3080}"/>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53177626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1021E4-3645-4D90-B328-BD794BD7DDC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posición de imagen 2">
            <a:extLst>
              <a:ext uri="{FF2B5EF4-FFF2-40B4-BE49-F238E27FC236}">
                <a16:creationId xmlns:a16="http://schemas.microsoft.com/office/drawing/2014/main" id="{D17CA65A-3FA7-4430-9F70-44ECB8967A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BO"/>
          </a:p>
        </p:txBody>
      </p:sp>
      <p:sp>
        <p:nvSpPr>
          <p:cNvPr id="4" name="Marcador de texto 3">
            <a:extLst>
              <a:ext uri="{FF2B5EF4-FFF2-40B4-BE49-F238E27FC236}">
                <a16:creationId xmlns:a16="http://schemas.microsoft.com/office/drawing/2014/main" id="{1ED4E6D8-0B65-4F7A-8D7A-3054334D1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FEB756A-0F53-4801-B700-B0E7323FFD56}"/>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6" name="Marcador de pie de página 5">
            <a:extLst>
              <a:ext uri="{FF2B5EF4-FFF2-40B4-BE49-F238E27FC236}">
                <a16:creationId xmlns:a16="http://schemas.microsoft.com/office/drawing/2014/main" id="{779E631C-C558-4B4D-88BF-7A8B6E5D8C31}"/>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E3EEE3FC-622D-4C45-ADF2-79FDFBA3C07A}"/>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925194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D95950-B887-41AA-A20E-6BF5D9F78E16}"/>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2EB60769-965D-4E2D-BE91-0E16E6E2EA2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F73CA3B2-DB66-46E6-AE81-26D951AE5E28}"/>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5" name="Marcador de pie de página 4">
            <a:extLst>
              <a:ext uri="{FF2B5EF4-FFF2-40B4-BE49-F238E27FC236}">
                <a16:creationId xmlns:a16="http://schemas.microsoft.com/office/drawing/2014/main" id="{972B8508-3DAB-4029-8E6D-2A47F52C0BE5}"/>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EBD74F9E-D706-4D51-BCD1-F96D57568331}"/>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6254969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93F2CB1-F237-4818-B513-EBCA6454C90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7C7D137E-7828-46EE-9B7D-B77EEBF689E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60BEEFC1-1797-476E-82D2-A34EB89D0CE1}"/>
              </a:ext>
            </a:extLst>
          </p:cNvPr>
          <p:cNvSpPr>
            <a:spLocks noGrp="1"/>
          </p:cNvSpPr>
          <p:nvPr>
            <p:ph type="dt" sz="half" idx="10"/>
          </p:nvPr>
        </p:nvSpPr>
        <p:spPr/>
        <p:txBody>
          <a:bodyPr/>
          <a:lstStyle/>
          <a:p>
            <a:fld id="{16C57BFC-0D94-43FB-AD26-7F6B56D8FCC5}" type="datetimeFigureOut">
              <a:rPr lang="es-BO" smtClean="0"/>
              <a:t>9/5/2026</a:t>
            </a:fld>
            <a:endParaRPr lang="es-BO"/>
          </a:p>
        </p:txBody>
      </p:sp>
      <p:sp>
        <p:nvSpPr>
          <p:cNvPr id="5" name="Marcador de pie de página 4">
            <a:extLst>
              <a:ext uri="{FF2B5EF4-FFF2-40B4-BE49-F238E27FC236}">
                <a16:creationId xmlns:a16="http://schemas.microsoft.com/office/drawing/2014/main" id="{202A79AE-2789-4CF9-913D-B9BF1CB24E90}"/>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B918B941-00E6-496C-AED5-8C2021B62A02}"/>
              </a:ext>
            </a:extLst>
          </p:cNvPr>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023206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a:xfrm>
            <a:off x="2416500" y="329307"/>
            <a:ext cx="4973915" cy="309201"/>
          </a:xfrm>
        </p:spPr>
        <p:txBody>
          <a:bodyPr/>
          <a:lstStyle/>
          <a:p>
            <a:endParaRPr lang="es-BO"/>
          </a:p>
        </p:txBody>
      </p:sp>
      <p:sp>
        <p:nvSpPr>
          <p:cNvPr id="6" name="Slide Number Placeholder 5"/>
          <p:cNvSpPr>
            <a:spLocks noGrp="1"/>
          </p:cNvSpPr>
          <p:nvPr>
            <p:ph type="sldNum" sz="quarter" idx="12"/>
          </p:nvPr>
        </p:nvSpPr>
        <p:spPr>
          <a:xfrm>
            <a:off x="1437664" y="798973"/>
            <a:ext cx="811019" cy="503578"/>
          </a:xfrm>
        </p:spPr>
        <p:txBody>
          <a:bodyPr/>
          <a:lstStyle/>
          <a:p>
            <a:fld id="{F1754A9F-17FB-4546-AD48-49BAE3B5B01A}" type="slidenum">
              <a:rPr lang="es-BO" smtClean="0"/>
              <a:t>‹Nº›</a:t>
            </a:fld>
            <a:endParaRPr lang="es-BO"/>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894947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62887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88749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98514129"/>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447191" y="2824269"/>
            <a:ext cx="4645152" cy="264445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412362" y="2821491"/>
            <a:ext cx="4645152" cy="263737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6C57BFC-0D94-43FB-AD26-7F6B56D8FCC5}" type="datetimeFigureOut">
              <a:rPr lang="es-BO" smtClean="0"/>
              <a:t>9/5/2026</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F1754A9F-17FB-4546-AD48-49BAE3B5B01A}" type="slidenum">
              <a:rPr lang="es-BO" smtClean="0"/>
              <a:t>‹Nº›</a:t>
            </a:fld>
            <a:endParaRPr lang="es-BO"/>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3497259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6C57BFC-0D94-43FB-AD26-7F6B56D8FCC5}" type="datetimeFigureOut">
              <a:rPr lang="es-BO" smtClean="0"/>
              <a:t>9/5/2026</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F1754A9F-17FB-4546-AD48-49BAE3B5B01A}" type="slidenum">
              <a:rPr lang="es-BO" smtClean="0"/>
              <a:t>‹Nº›</a:t>
            </a:fld>
            <a:endParaRPr lang="es-BO"/>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180891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C57BFC-0D94-43FB-AD26-7F6B56D8FCC5}" type="datetimeFigureOut">
              <a:rPr lang="es-BO" smtClean="0"/>
              <a:t>9/5/2026</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0940155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72096050"/>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a:xfrm>
            <a:off x="1447382" y="318640"/>
            <a:ext cx="5541004" cy="320931"/>
          </a:xfrm>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55529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3243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032579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s-BO"/>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F1754A9F-17FB-4546-AD48-49BAE3B5B01A}" type="slidenum">
              <a:rPr lang="es-BO" smtClean="0"/>
              <a:t>‹Nº›</a:t>
            </a:fld>
            <a:endParaRPr lang="es-BO"/>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40598271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8173909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s-BO"/>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F1754A9F-17FB-4546-AD48-49BAE3B5B01A}" type="slidenum">
              <a:rPr lang="es-BO" smtClean="0"/>
              <a:t>‹Nº›</a:t>
            </a:fld>
            <a:endParaRPr lang="es-BO"/>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820261198"/>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581092775"/>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6C57BFC-0D94-43FB-AD26-7F6B56D8FCC5}" type="datetimeFigureOut">
              <a:rPr lang="es-BO" smtClean="0"/>
              <a:t>9/5/2026</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984186752"/>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6C57BFC-0D94-43FB-AD26-7F6B56D8FCC5}" type="datetimeFigureOut">
              <a:rPr lang="es-BO" smtClean="0"/>
              <a:t>9/5/2026</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0750447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C57BFC-0D94-43FB-AD26-7F6B56D8FCC5}" type="datetimeFigureOut">
              <a:rPr lang="es-BO" smtClean="0"/>
              <a:t>9/5/2026</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2801220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s-BO"/>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F1754A9F-17FB-4546-AD48-49BAE3B5B01A}" type="slidenum">
              <a:rPr lang="es-BO" smtClean="0"/>
              <a:t>‹Nº›</a:t>
            </a:fld>
            <a:endParaRPr lang="es-BO"/>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20329517"/>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s-BO"/>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F1754A9F-17FB-4546-AD48-49BAE3B5B01A}" type="slidenum">
              <a:rPr lang="es-BO" smtClean="0"/>
              <a:t>‹Nº›</a:t>
            </a:fld>
            <a:endParaRPr lang="es-BO"/>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4120022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4994451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3723800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F1754A9F-17FB-4546-AD48-49BAE3B5B01A}" type="slidenum">
              <a:rPr lang="es-BO" smtClean="0"/>
              <a:t>‹Nº›</a:t>
            </a:fld>
            <a:endParaRPr lang="es-BO"/>
          </a:p>
        </p:txBody>
      </p:sp>
    </p:spTree>
    <p:extLst>
      <p:ext uri="{BB962C8B-B14F-4D97-AF65-F5344CB8AC3E}">
        <p14:creationId xmlns:p14="http://schemas.microsoft.com/office/powerpoint/2010/main" val="34998295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6285949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8593667" y="6272784"/>
            <a:ext cx="2644309" cy="365125"/>
          </a:xfrm>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a:xfrm>
            <a:off x="2182708" y="6272784"/>
            <a:ext cx="6327648" cy="365125"/>
          </a:xfrm>
        </p:spPr>
        <p:txBody>
          <a:bodyPr/>
          <a:lstStyle/>
          <a:p>
            <a:endParaRPr lang="es-BO"/>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F1754A9F-17FB-4546-AD48-49BAE3B5B01A}" type="slidenum">
              <a:rPr lang="es-BO" smtClean="0"/>
              <a:t>‹Nº›</a:t>
            </a:fld>
            <a:endParaRPr lang="es-BO"/>
          </a:p>
        </p:txBody>
      </p:sp>
    </p:spTree>
    <p:extLst>
      <p:ext uri="{BB962C8B-B14F-4D97-AF65-F5344CB8AC3E}">
        <p14:creationId xmlns:p14="http://schemas.microsoft.com/office/powerpoint/2010/main" val="6125549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671473485"/>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6C57BFC-0D94-43FB-AD26-7F6B56D8FCC5}" type="datetimeFigureOut">
              <a:rPr lang="es-BO" smtClean="0"/>
              <a:t>9/5/2026</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340354579"/>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6C57BFC-0D94-43FB-AD26-7F6B56D8FCC5}" type="datetimeFigureOut">
              <a:rPr lang="es-BO" smtClean="0"/>
              <a:t>9/5/2026</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85466744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C57BFC-0D94-43FB-AD26-7F6B56D8FCC5}" type="datetimeFigureOut">
              <a:rPr lang="es-BO" smtClean="0"/>
              <a:t>9/5/2026</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58673973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246190833"/>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3078940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1621903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60841446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s-BO"/>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F1754A9F-17FB-4546-AD48-49BAE3B5B01A}" type="slidenum">
              <a:rPr lang="es-BO" smtClean="0"/>
              <a:t>‹Nº›</a:t>
            </a:fld>
            <a:endParaRPr lang="es-BO"/>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55423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43427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900178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491379425"/>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6C57BFC-0D94-43FB-AD26-7F6B56D8FCC5}" type="datetimeFigureOut">
              <a:rPr lang="es-BO" smtClean="0"/>
              <a:t>9/5/2026</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696161848"/>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6C57BFC-0D94-43FB-AD26-7F6B56D8FCC5}" type="datetimeFigureOut">
              <a:rPr lang="es-BO" smtClean="0"/>
              <a:t>9/5/2026</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9305915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C57BFC-0D94-43FB-AD26-7F6B56D8FCC5}" type="datetimeFigureOut">
              <a:rPr lang="es-BO" smtClean="0"/>
              <a:t>9/5/2026</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2003661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501595670"/>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3407810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58572133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47088124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s-BO"/>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F1754A9F-17FB-4546-AD48-49BAE3B5B01A}" type="slidenum">
              <a:rPr lang="es-BO" smtClean="0"/>
              <a:t>‹Nº›</a:t>
            </a:fld>
            <a:endParaRPr lang="es-BO"/>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247068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40537174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4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709516703"/>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6C57BFC-0D94-43FB-AD26-7F6B56D8FCC5}" type="datetimeFigureOut">
              <a:rPr lang="es-BO" smtClean="0"/>
              <a:t>9/5/2026</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588983473"/>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6C57BFC-0D94-43FB-AD26-7F6B56D8FCC5}" type="datetimeFigureOut">
              <a:rPr lang="es-BO" smtClean="0"/>
              <a:t>9/5/2026</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98264524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C57BFC-0D94-43FB-AD26-7F6B56D8FCC5}" type="datetimeFigureOut">
              <a:rPr lang="es-BO" smtClean="0"/>
              <a:t>9/5/2026</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78132165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044230641"/>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98929603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73734400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90568811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370013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3712148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18746313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137601663"/>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6C57BFC-0D94-43FB-AD26-7F6B56D8FCC5}" type="datetimeFigureOut">
              <a:rPr lang="es-BO" smtClean="0"/>
              <a:t>9/5/2026</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514067036"/>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6C57BFC-0D94-43FB-AD26-7F6B56D8FCC5}" type="datetimeFigureOut">
              <a:rPr lang="es-BO" smtClean="0"/>
              <a:t>9/5/2026</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24455806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C57BFC-0D94-43FB-AD26-7F6B56D8FCC5}" type="datetimeFigureOut">
              <a:rPr lang="es-BO" smtClean="0"/>
              <a:t>9/5/2026</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8932866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735664152"/>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26894468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6C57BFC-0D94-43FB-AD26-7F6B56D8FCC5}" type="datetimeFigureOut">
              <a:rPr lang="es-BO" smtClean="0"/>
              <a:t>9/5/2026</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12847309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02263932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92721034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5402696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87481319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79961007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51864995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26013095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40909104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12724000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tx2"/>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BO"/>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1754A9F-17FB-4546-AD48-49BAE3B5B01A}" type="slidenum">
              <a:rPr lang="es-BO" smtClean="0"/>
              <a:t>‹Nº›</a:t>
            </a:fld>
            <a:endParaRPr lang="es-BO"/>
          </a:p>
        </p:txBody>
      </p:sp>
    </p:spTree>
    <p:extLst>
      <p:ext uri="{BB962C8B-B14F-4D97-AF65-F5344CB8AC3E}">
        <p14:creationId xmlns:p14="http://schemas.microsoft.com/office/powerpoint/2010/main" val="3375422192"/>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4018259764"/>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6C57BFC-0D94-43FB-AD26-7F6B56D8FCC5}" type="datetimeFigureOut">
              <a:rPr lang="es-BO" smtClean="0"/>
              <a:t>9/5/2026</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2238634330"/>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6C57BFC-0D94-43FB-AD26-7F6B56D8FCC5}" type="datetimeFigureOut">
              <a:rPr lang="es-BO" smtClean="0"/>
              <a:t>9/5/2026</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30411739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C57BFC-0D94-43FB-AD26-7F6B56D8FCC5}" type="datetimeFigureOut">
              <a:rPr lang="es-BO" smtClean="0"/>
              <a:t>9/5/2026</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88302823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506620228"/>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6C57BFC-0D94-43FB-AD26-7F6B56D8FCC5}" type="datetimeFigureOut">
              <a:rPr lang="es-BO" smtClean="0"/>
              <a:t>9/5/2026</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87976076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38292152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16C57BFC-0D94-43FB-AD26-7F6B56D8FCC5}" type="datetimeFigureOut">
              <a:rPr lang="es-BO" smtClean="0"/>
              <a:t>9/5/2026</a:t>
            </a:fld>
            <a:endParaRPr lang="es-BO"/>
          </a:p>
        </p:txBody>
      </p:sp>
      <p:sp>
        <p:nvSpPr>
          <p:cNvPr id="5" name="Footer Placeholder 4"/>
          <p:cNvSpPr>
            <a:spLocks noGrp="1"/>
          </p:cNvSpPr>
          <p:nvPr>
            <p:ph type="ftr" sz="quarter" idx="11"/>
          </p:nvPr>
        </p:nvSpPr>
        <p:spPr>
          <a:xfrm>
            <a:off x="3776135" y="6422854"/>
            <a:ext cx="4279669" cy="365125"/>
          </a:xfrm>
        </p:spPr>
        <p:txBody>
          <a:bodyPr/>
          <a:lstStyle/>
          <a:p>
            <a:endParaRPr lang="es-BO"/>
          </a:p>
        </p:txBody>
      </p:sp>
      <p:sp>
        <p:nvSpPr>
          <p:cNvPr id="6" name="Slide Number Placeholder 5"/>
          <p:cNvSpPr>
            <a:spLocks noGrp="1"/>
          </p:cNvSpPr>
          <p:nvPr>
            <p:ph type="sldNum" sz="quarter" idx="12"/>
          </p:nvPr>
        </p:nvSpPr>
        <p:spPr>
          <a:xfrm>
            <a:off x="8073048" y="6422854"/>
            <a:ext cx="879759" cy="365125"/>
          </a:xfrm>
        </p:spPr>
        <p:txBody>
          <a:bodyPr/>
          <a:lstStyle/>
          <a:p>
            <a:fld id="{F1754A9F-17FB-4546-AD48-49BAE3B5B01A}" type="slidenum">
              <a:rPr lang="es-BO" smtClean="0"/>
              <a:t>‹Nº›</a:t>
            </a:fld>
            <a:endParaRPr lang="es-BO"/>
          </a:p>
        </p:txBody>
      </p:sp>
    </p:spTree>
    <p:extLst>
      <p:ext uri="{BB962C8B-B14F-4D97-AF65-F5344CB8AC3E}">
        <p14:creationId xmlns:p14="http://schemas.microsoft.com/office/powerpoint/2010/main" val="1663091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3.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4.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microsoft.com/office/2007/relationships/hdphoto" Target="../media/hdphoto1.wdp"/></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theme" Target="../theme/theme8.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2.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theme" Target="../theme/theme9.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s-BO"/>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F1754A9F-17FB-4546-AD48-49BAE3B5B01A}" type="slidenum">
              <a:rPr lang="es-BO" smtClean="0"/>
              <a:t>‹Nº›</a:t>
            </a:fld>
            <a:endParaRPr lang="es-BO"/>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17110334"/>
      </p:ext>
    </p:extLst>
  </p:cSld>
  <p:clrMap bg1="lt1" tx1="dk1" bg2="lt2" tx2="dk2" accent1="accent1" accent2="accent2" accent3="accent3" accent4="accent4" accent5="accent5" accent6="accent6" hlink="hlink" folHlink="folHlink"/>
  <p:sldLayoutIdLst>
    <p:sldLayoutId id="2147484003" r:id="rId1"/>
    <p:sldLayoutId id="2147484004" r:id="rId2"/>
    <p:sldLayoutId id="2147484005" r:id="rId3"/>
    <p:sldLayoutId id="2147484006" r:id="rId4"/>
    <p:sldLayoutId id="2147484007" r:id="rId5"/>
    <p:sldLayoutId id="2147484008" r:id="rId6"/>
    <p:sldLayoutId id="2147484009" r:id="rId7"/>
    <p:sldLayoutId id="2147484010" r:id="rId8"/>
    <p:sldLayoutId id="2147484011" r:id="rId9"/>
    <p:sldLayoutId id="2147484012" r:id="rId10"/>
    <p:sldLayoutId id="214748401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E23160A-92BB-4F31-847A-CD5806CA14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E420FA11-2705-4E23-BBB8-9F381CB1A1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80371D26-E2F5-4F8D-AE99-EE7D9A29F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C57BFC-0D94-43FB-AD26-7F6B56D8FCC5}" type="datetimeFigureOut">
              <a:rPr lang="es-BO" smtClean="0"/>
              <a:t>9/5/2026</a:t>
            </a:fld>
            <a:endParaRPr lang="es-BO"/>
          </a:p>
        </p:txBody>
      </p:sp>
      <p:sp>
        <p:nvSpPr>
          <p:cNvPr id="5" name="Marcador de pie de página 4">
            <a:extLst>
              <a:ext uri="{FF2B5EF4-FFF2-40B4-BE49-F238E27FC236}">
                <a16:creationId xmlns:a16="http://schemas.microsoft.com/office/drawing/2014/main" id="{EDE2C665-9E29-4C27-B5E0-15DDCE531E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BO"/>
          </a:p>
        </p:txBody>
      </p:sp>
      <p:sp>
        <p:nvSpPr>
          <p:cNvPr id="6" name="Marcador de número de diapositiva 5">
            <a:extLst>
              <a:ext uri="{FF2B5EF4-FFF2-40B4-BE49-F238E27FC236}">
                <a16:creationId xmlns:a16="http://schemas.microsoft.com/office/drawing/2014/main" id="{433CA45F-4FEC-4A69-9C82-FF5B78B2AB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54A9F-17FB-4546-AD48-49BAE3B5B01A}" type="slidenum">
              <a:rPr lang="es-BO" smtClean="0"/>
              <a:t>‹Nº›</a:t>
            </a:fld>
            <a:endParaRPr lang="es-BO"/>
          </a:p>
        </p:txBody>
      </p:sp>
    </p:spTree>
    <p:extLst>
      <p:ext uri="{BB962C8B-B14F-4D97-AF65-F5344CB8AC3E}">
        <p14:creationId xmlns:p14="http://schemas.microsoft.com/office/powerpoint/2010/main" val="3904190210"/>
      </p:ext>
    </p:extLst>
  </p:cSld>
  <p:clrMap bg1="lt1" tx1="dk1" bg2="lt2" tx2="dk2" accent1="accent1" accent2="accent2" accent3="accent3" accent4="accent4" accent5="accent5" accent6="accent6" hlink="hlink" folHlink="folHlink"/>
  <p:sldLayoutIdLst>
    <p:sldLayoutId id="2147484015" r:id="rId1"/>
    <p:sldLayoutId id="2147484016" r:id="rId2"/>
    <p:sldLayoutId id="2147484017" r:id="rId3"/>
    <p:sldLayoutId id="2147484018" r:id="rId4"/>
    <p:sldLayoutId id="2147484019" r:id="rId5"/>
    <p:sldLayoutId id="2147484020" r:id="rId6"/>
    <p:sldLayoutId id="2147484021" r:id="rId7"/>
    <p:sldLayoutId id="2147484022" r:id="rId8"/>
    <p:sldLayoutId id="2147484023" r:id="rId9"/>
    <p:sldLayoutId id="2147484024" r:id="rId10"/>
    <p:sldLayoutId id="21474840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BO"/>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1754A9F-17FB-4546-AD48-49BAE3B5B01A}" type="slidenum">
              <a:rPr lang="es-BO" smtClean="0"/>
              <a:t>‹Nº›</a:t>
            </a:fld>
            <a:endParaRPr lang="es-BO"/>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306869"/>
      </p:ext>
    </p:extLst>
  </p:cSld>
  <p:clrMap bg1="lt1" tx1="dk1" bg2="lt2" tx2="dk2" accent1="accent1" accent2="accent2" accent3="accent3" accent4="accent4" accent5="accent5" accent6="accent6" hlink="hlink" folHlink="folHlink"/>
  <p:sldLayoutIdLst>
    <p:sldLayoutId id="2147484182" r:id="rId1"/>
    <p:sldLayoutId id="2147484183" r:id="rId2"/>
    <p:sldLayoutId id="2147484184" r:id="rId3"/>
    <p:sldLayoutId id="2147484185" r:id="rId4"/>
    <p:sldLayoutId id="2147484186" r:id="rId5"/>
    <p:sldLayoutId id="2147484187" r:id="rId6"/>
    <p:sldLayoutId id="2147484188" r:id="rId7"/>
    <p:sldLayoutId id="2147484189" r:id="rId8"/>
    <p:sldLayoutId id="2147484190" r:id="rId9"/>
    <p:sldLayoutId id="2147484191" r:id="rId10"/>
    <p:sldLayoutId id="2147484192"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s-BO"/>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F1754A9F-17FB-4546-AD48-49BAE3B5B01A}" type="slidenum">
              <a:rPr lang="es-BO" smtClean="0"/>
              <a:t>‹Nº›</a:t>
            </a:fld>
            <a:endParaRPr lang="es-BO"/>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44363811"/>
      </p:ext>
    </p:extLst>
  </p:cSld>
  <p:clrMap bg1="lt1" tx1="dk1" bg2="lt2" tx2="dk2" accent1="accent1" accent2="accent2" accent3="accent3" accent4="accent4" accent5="accent5" accent6="accent6" hlink="hlink" folHlink="folHlink"/>
  <p:sldLayoutIdLst>
    <p:sldLayoutId id="2147484194" r:id="rId1"/>
    <p:sldLayoutId id="2147484195" r:id="rId2"/>
    <p:sldLayoutId id="2147484196" r:id="rId3"/>
    <p:sldLayoutId id="2147484197" r:id="rId4"/>
    <p:sldLayoutId id="2147484198" r:id="rId5"/>
    <p:sldLayoutId id="2147484199" r:id="rId6"/>
    <p:sldLayoutId id="2147484200" r:id="rId7"/>
    <p:sldLayoutId id="2147484201" r:id="rId8"/>
    <p:sldLayoutId id="2147484202" r:id="rId9"/>
    <p:sldLayoutId id="2147484203" r:id="rId10"/>
    <p:sldLayoutId id="2147484204"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s-BO"/>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F1754A9F-17FB-4546-AD48-49BAE3B5B01A}" type="slidenum">
              <a:rPr lang="es-BO" smtClean="0"/>
              <a:t>‹Nº›</a:t>
            </a:fld>
            <a:endParaRPr lang="es-BO"/>
          </a:p>
        </p:txBody>
      </p:sp>
    </p:spTree>
    <p:extLst>
      <p:ext uri="{BB962C8B-B14F-4D97-AF65-F5344CB8AC3E}">
        <p14:creationId xmlns:p14="http://schemas.microsoft.com/office/powerpoint/2010/main" val="2296335127"/>
      </p:ext>
    </p:extLst>
  </p:cSld>
  <p:clrMap bg1="lt1" tx1="dk1" bg2="lt2" tx2="dk2" accent1="accent1" accent2="accent2" accent3="accent3" accent4="accent4" accent5="accent5" accent6="accent6" hlink="hlink" folHlink="folHlink"/>
  <p:sldLayoutIdLst>
    <p:sldLayoutId id="2147484206" r:id="rId1"/>
    <p:sldLayoutId id="2147484207" r:id="rId2"/>
    <p:sldLayoutId id="2147484208" r:id="rId3"/>
    <p:sldLayoutId id="2147484209" r:id="rId4"/>
    <p:sldLayoutId id="2147484210" r:id="rId5"/>
    <p:sldLayoutId id="2147484211" r:id="rId6"/>
    <p:sldLayoutId id="2147484212" r:id="rId7"/>
    <p:sldLayoutId id="2147484213" r:id="rId8"/>
    <p:sldLayoutId id="2147484214" r:id="rId9"/>
    <p:sldLayoutId id="2147484215" r:id="rId10"/>
    <p:sldLayoutId id="2147484216"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s-BO"/>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F1754A9F-17FB-4546-AD48-49BAE3B5B01A}" type="slidenum">
              <a:rPr lang="es-BO" smtClean="0"/>
              <a:t>‹Nº›</a:t>
            </a:fld>
            <a:endParaRPr lang="es-BO"/>
          </a:p>
        </p:txBody>
      </p:sp>
    </p:spTree>
    <p:extLst>
      <p:ext uri="{BB962C8B-B14F-4D97-AF65-F5344CB8AC3E}">
        <p14:creationId xmlns:p14="http://schemas.microsoft.com/office/powerpoint/2010/main" val="466549551"/>
      </p:ext>
    </p:extLst>
  </p:cSld>
  <p:clrMap bg1="lt1" tx1="dk1" bg2="lt2" tx2="dk2" accent1="accent1" accent2="accent2" accent3="accent3" accent4="accent4" accent5="accent5" accent6="accent6" hlink="hlink" folHlink="folHlink"/>
  <p:sldLayoutIdLst>
    <p:sldLayoutId id="2147484218" r:id="rId1"/>
    <p:sldLayoutId id="2147484219" r:id="rId2"/>
    <p:sldLayoutId id="2147484220" r:id="rId3"/>
    <p:sldLayoutId id="2147484221" r:id="rId4"/>
    <p:sldLayoutId id="2147484222" r:id="rId5"/>
    <p:sldLayoutId id="2147484223" r:id="rId6"/>
    <p:sldLayoutId id="2147484224" r:id="rId7"/>
    <p:sldLayoutId id="2147484225" r:id="rId8"/>
    <p:sldLayoutId id="2147484226" r:id="rId9"/>
    <p:sldLayoutId id="2147484227" r:id="rId10"/>
    <p:sldLayoutId id="2147484228"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s-BO"/>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F1754A9F-17FB-4546-AD48-49BAE3B5B01A}" type="slidenum">
              <a:rPr lang="es-BO" smtClean="0"/>
              <a:t>‹Nº›</a:t>
            </a:fld>
            <a:endParaRPr lang="es-BO"/>
          </a:p>
        </p:txBody>
      </p:sp>
    </p:spTree>
    <p:extLst>
      <p:ext uri="{BB962C8B-B14F-4D97-AF65-F5344CB8AC3E}">
        <p14:creationId xmlns:p14="http://schemas.microsoft.com/office/powerpoint/2010/main" val="340817346"/>
      </p:ext>
    </p:extLst>
  </p:cSld>
  <p:clrMap bg1="lt1" tx1="dk1" bg2="lt2" tx2="dk2" accent1="accent1" accent2="accent2" accent3="accent3" accent4="accent4" accent5="accent5" accent6="accent6" hlink="hlink" folHlink="folHlink"/>
  <p:sldLayoutIdLst>
    <p:sldLayoutId id="2147484265" r:id="rId1"/>
    <p:sldLayoutId id="2147484266" r:id="rId2"/>
    <p:sldLayoutId id="2147484267" r:id="rId3"/>
    <p:sldLayoutId id="2147484268" r:id="rId4"/>
    <p:sldLayoutId id="2147484269" r:id="rId5"/>
    <p:sldLayoutId id="2147484270" r:id="rId6"/>
    <p:sldLayoutId id="2147484271" r:id="rId7"/>
    <p:sldLayoutId id="2147484272" r:id="rId8"/>
    <p:sldLayoutId id="2147484273" r:id="rId9"/>
    <p:sldLayoutId id="2147484274" r:id="rId10"/>
    <p:sldLayoutId id="2147484275"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s-BO"/>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F1754A9F-17FB-4546-AD48-49BAE3B5B01A}" type="slidenum">
              <a:rPr lang="es-BO" smtClean="0"/>
              <a:t>‹Nº›</a:t>
            </a:fld>
            <a:endParaRPr lang="es-BO"/>
          </a:p>
        </p:txBody>
      </p:sp>
    </p:spTree>
    <p:extLst>
      <p:ext uri="{BB962C8B-B14F-4D97-AF65-F5344CB8AC3E}">
        <p14:creationId xmlns:p14="http://schemas.microsoft.com/office/powerpoint/2010/main" val="1775980937"/>
      </p:ext>
    </p:extLst>
  </p:cSld>
  <p:clrMap bg1="dk1" tx1="lt1" bg2="dk2" tx2="lt2" accent1="accent1" accent2="accent2" accent3="accent3" accent4="accent4" accent5="accent5" accent6="accent6" hlink="hlink" folHlink="folHlink"/>
  <p:sldLayoutIdLst>
    <p:sldLayoutId id="2147484289" r:id="rId1"/>
    <p:sldLayoutId id="2147484290" r:id="rId2"/>
    <p:sldLayoutId id="2147484291" r:id="rId3"/>
    <p:sldLayoutId id="2147484292" r:id="rId4"/>
    <p:sldLayoutId id="2147484293" r:id="rId5"/>
    <p:sldLayoutId id="2147484294" r:id="rId6"/>
    <p:sldLayoutId id="2147484295" r:id="rId7"/>
    <p:sldLayoutId id="2147484296" r:id="rId8"/>
    <p:sldLayoutId id="2147484297" r:id="rId9"/>
    <p:sldLayoutId id="2147484298" r:id="rId10"/>
    <p:sldLayoutId id="2147484299" r:id="rId11"/>
    <p:sldLayoutId id="2147484300" r:id="rId12"/>
    <p:sldLayoutId id="2147484301" r:id="rId13"/>
    <p:sldLayoutId id="2147484302" r:id="rId14"/>
    <p:sldLayoutId id="2147484303" r:id="rId15"/>
    <p:sldLayoutId id="2147484304" r:id="rId16"/>
    <p:sldLayoutId id="214748430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16C57BFC-0D94-43FB-AD26-7F6B56D8FCC5}" type="datetimeFigureOut">
              <a:rPr lang="es-BO" smtClean="0"/>
              <a:t>9/5/2026</a:t>
            </a:fld>
            <a:endParaRPr lang="es-BO"/>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s-BO"/>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F1754A9F-17FB-4546-AD48-49BAE3B5B01A}" type="slidenum">
              <a:rPr lang="es-BO" smtClean="0"/>
              <a:t>‹Nº›</a:t>
            </a:fld>
            <a:endParaRPr lang="es-BO"/>
          </a:p>
        </p:txBody>
      </p:sp>
    </p:spTree>
    <p:extLst>
      <p:ext uri="{BB962C8B-B14F-4D97-AF65-F5344CB8AC3E}">
        <p14:creationId xmlns:p14="http://schemas.microsoft.com/office/powerpoint/2010/main" val="655063691"/>
      </p:ext>
    </p:extLst>
  </p:cSld>
  <p:clrMap bg1="dk1" tx1="lt1" bg2="dk2" tx2="lt2" accent1="accent1" accent2="accent2" accent3="accent3" accent4="accent4" accent5="accent5" accent6="accent6" hlink="hlink" folHlink="folHlink"/>
  <p:sldLayoutIdLst>
    <p:sldLayoutId id="2147484342" r:id="rId1"/>
    <p:sldLayoutId id="2147484343" r:id="rId2"/>
    <p:sldLayoutId id="2147484344" r:id="rId3"/>
    <p:sldLayoutId id="2147484345" r:id="rId4"/>
    <p:sldLayoutId id="2147484346" r:id="rId5"/>
    <p:sldLayoutId id="2147484347" r:id="rId6"/>
    <p:sldLayoutId id="2147484348" r:id="rId7"/>
    <p:sldLayoutId id="2147484349" r:id="rId8"/>
    <p:sldLayoutId id="2147484350" r:id="rId9"/>
    <p:sldLayoutId id="2147484351" r:id="rId10"/>
    <p:sldLayoutId id="2147484352"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8.emf"/><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7.png"/><Relationship Id="rId17" Type="http://schemas.openxmlformats.org/officeDocument/2006/relationships/image" Target="../media/image12.png"/><Relationship Id="rId2" Type="http://schemas.openxmlformats.org/officeDocument/2006/relationships/diagramData" Target="../diagrams/data1.xml"/><Relationship Id="rId16" Type="http://schemas.openxmlformats.org/officeDocument/2006/relationships/image" Target="../media/image11.png"/><Relationship Id="rId1" Type="http://schemas.openxmlformats.org/officeDocument/2006/relationships/slideLayout" Target="../slideLayouts/slideLayout2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image" Target="../media/image10.jpeg"/><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3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5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192294CC-701F-4910-AD9D-43E71AFFD53E}"/>
              </a:ext>
            </a:extLst>
          </p:cNvPr>
          <p:cNvSpPr txBox="1"/>
          <p:nvPr/>
        </p:nvSpPr>
        <p:spPr>
          <a:xfrm>
            <a:off x="1229709" y="1712958"/>
            <a:ext cx="9963807" cy="2062103"/>
          </a:xfrm>
          <a:custGeom>
            <a:avLst/>
            <a:gdLst>
              <a:gd name="connsiteX0" fmla="*/ 0 w 9963807"/>
              <a:gd name="connsiteY0" fmla="*/ 0 h 2062103"/>
              <a:gd name="connsiteX1" fmla="*/ 386830 w 9963807"/>
              <a:gd name="connsiteY1" fmla="*/ 0 h 2062103"/>
              <a:gd name="connsiteX2" fmla="*/ 773660 w 9963807"/>
              <a:gd name="connsiteY2" fmla="*/ 0 h 2062103"/>
              <a:gd name="connsiteX3" fmla="*/ 1260129 w 9963807"/>
              <a:gd name="connsiteY3" fmla="*/ 0 h 2062103"/>
              <a:gd name="connsiteX4" fmla="*/ 1646959 w 9963807"/>
              <a:gd name="connsiteY4" fmla="*/ 0 h 2062103"/>
              <a:gd name="connsiteX5" fmla="*/ 2432341 w 9963807"/>
              <a:gd name="connsiteY5" fmla="*/ 0 h 2062103"/>
              <a:gd name="connsiteX6" fmla="*/ 2918809 w 9963807"/>
              <a:gd name="connsiteY6" fmla="*/ 0 h 2062103"/>
              <a:gd name="connsiteX7" fmla="*/ 3504916 w 9963807"/>
              <a:gd name="connsiteY7" fmla="*/ 0 h 2062103"/>
              <a:gd name="connsiteX8" fmla="*/ 4290298 w 9963807"/>
              <a:gd name="connsiteY8" fmla="*/ 0 h 2062103"/>
              <a:gd name="connsiteX9" fmla="*/ 4976042 w 9963807"/>
              <a:gd name="connsiteY9" fmla="*/ 0 h 2062103"/>
              <a:gd name="connsiteX10" fmla="*/ 5661787 w 9963807"/>
              <a:gd name="connsiteY10" fmla="*/ 0 h 2062103"/>
              <a:gd name="connsiteX11" fmla="*/ 6048617 w 9963807"/>
              <a:gd name="connsiteY11" fmla="*/ 0 h 2062103"/>
              <a:gd name="connsiteX12" fmla="*/ 6833999 w 9963807"/>
              <a:gd name="connsiteY12" fmla="*/ 0 h 2062103"/>
              <a:gd name="connsiteX13" fmla="*/ 7519744 w 9963807"/>
              <a:gd name="connsiteY13" fmla="*/ 0 h 2062103"/>
              <a:gd name="connsiteX14" fmla="*/ 8006212 w 9963807"/>
              <a:gd name="connsiteY14" fmla="*/ 0 h 2062103"/>
              <a:gd name="connsiteX15" fmla="*/ 8791594 w 9963807"/>
              <a:gd name="connsiteY15" fmla="*/ 0 h 2062103"/>
              <a:gd name="connsiteX16" fmla="*/ 9078786 w 9963807"/>
              <a:gd name="connsiteY16" fmla="*/ 0 h 2062103"/>
              <a:gd name="connsiteX17" fmla="*/ 9963807 w 9963807"/>
              <a:gd name="connsiteY17" fmla="*/ 0 h 2062103"/>
              <a:gd name="connsiteX18" fmla="*/ 9963807 w 9963807"/>
              <a:gd name="connsiteY18" fmla="*/ 474284 h 2062103"/>
              <a:gd name="connsiteX19" fmla="*/ 9963807 w 9963807"/>
              <a:gd name="connsiteY19" fmla="*/ 927946 h 2062103"/>
              <a:gd name="connsiteX20" fmla="*/ 9963807 w 9963807"/>
              <a:gd name="connsiteY20" fmla="*/ 1381609 h 2062103"/>
              <a:gd name="connsiteX21" fmla="*/ 9963807 w 9963807"/>
              <a:gd name="connsiteY21" fmla="*/ 2062103 h 2062103"/>
              <a:gd name="connsiteX22" fmla="*/ 9477339 w 9963807"/>
              <a:gd name="connsiteY22" fmla="*/ 2062103 h 2062103"/>
              <a:gd name="connsiteX23" fmla="*/ 8891232 w 9963807"/>
              <a:gd name="connsiteY23" fmla="*/ 2062103 h 2062103"/>
              <a:gd name="connsiteX24" fmla="*/ 8105850 w 9963807"/>
              <a:gd name="connsiteY24" fmla="*/ 2062103 h 2062103"/>
              <a:gd name="connsiteX25" fmla="*/ 7619382 w 9963807"/>
              <a:gd name="connsiteY25" fmla="*/ 2062103 h 2062103"/>
              <a:gd name="connsiteX26" fmla="*/ 6933637 w 9963807"/>
              <a:gd name="connsiteY26" fmla="*/ 2062103 h 2062103"/>
              <a:gd name="connsiteX27" fmla="*/ 6148255 w 9963807"/>
              <a:gd name="connsiteY27" fmla="*/ 2062103 h 2062103"/>
              <a:gd name="connsiteX28" fmla="*/ 5562149 w 9963807"/>
              <a:gd name="connsiteY28" fmla="*/ 2062103 h 2062103"/>
              <a:gd name="connsiteX29" fmla="*/ 5175319 w 9963807"/>
              <a:gd name="connsiteY29" fmla="*/ 2062103 h 2062103"/>
              <a:gd name="connsiteX30" fmla="*/ 4788488 w 9963807"/>
              <a:gd name="connsiteY30" fmla="*/ 2062103 h 2062103"/>
              <a:gd name="connsiteX31" fmla="*/ 4003106 w 9963807"/>
              <a:gd name="connsiteY31" fmla="*/ 2062103 h 2062103"/>
              <a:gd name="connsiteX32" fmla="*/ 3715914 w 9963807"/>
              <a:gd name="connsiteY32" fmla="*/ 2062103 h 2062103"/>
              <a:gd name="connsiteX33" fmla="*/ 3329084 w 9963807"/>
              <a:gd name="connsiteY33" fmla="*/ 2062103 h 2062103"/>
              <a:gd name="connsiteX34" fmla="*/ 2643339 w 9963807"/>
              <a:gd name="connsiteY34" fmla="*/ 2062103 h 2062103"/>
              <a:gd name="connsiteX35" fmla="*/ 1957595 w 9963807"/>
              <a:gd name="connsiteY35" fmla="*/ 2062103 h 2062103"/>
              <a:gd name="connsiteX36" fmla="*/ 1471127 w 9963807"/>
              <a:gd name="connsiteY36" fmla="*/ 2062103 h 2062103"/>
              <a:gd name="connsiteX37" fmla="*/ 685744 w 9963807"/>
              <a:gd name="connsiteY37" fmla="*/ 2062103 h 2062103"/>
              <a:gd name="connsiteX38" fmla="*/ 0 w 9963807"/>
              <a:gd name="connsiteY38" fmla="*/ 2062103 h 2062103"/>
              <a:gd name="connsiteX39" fmla="*/ 0 w 9963807"/>
              <a:gd name="connsiteY39" fmla="*/ 1546577 h 2062103"/>
              <a:gd name="connsiteX40" fmla="*/ 0 w 9963807"/>
              <a:gd name="connsiteY40" fmla="*/ 1092915 h 2062103"/>
              <a:gd name="connsiteX41" fmla="*/ 0 w 9963807"/>
              <a:gd name="connsiteY41" fmla="*/ 536147 h 2062103"/>
              <a:gd name="connsiteX42" fmla="*/ 0 w 9963807"/>
              <a:gd name="connsiteY42" fmla="*/ 0 h 206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963807" h="2062103" fill="none" extrusionOk="0">
                <a:moveTo>
                  <a:pt x="0" y="0"/>
                </a:moveTo>
                <a:cubicBezTo>
                  <a:pt x="94303" y="-8678"/>
                  <a:pt x="249597" y="32130"/>
                  <a:pt x="386830" y="0"/>
                </a:cubicBezTo>
                <a:cubicBezTo>
                  <a:pt x="524063" y="-32130"/>
                  <a:pt x="587178" y="21238"/>
                  <a:pt x="773660" y="0"/>
                </a:cubicBezTo>
                <a:cubicBezTo>
                  <a:pt x="960142" y="-21238"/>
                  <a:pt x="1149266" y="8286"/>
                  <a:pt x="1260129" y="0"/>
                </a:cubicBezTo>
                <a:cubicBezTo>
                  <a:pt x="1370992" y="-8286"/>
                  <a:pt x="1516663" y="35176"/>
                  <a:pt x="1646959" y="0"/>
                </a:cubicBezTo>
                <a:cubicBezTo>
                  <a:pt x="1777255" y="-35176"/>
                  <a:pt x="2112505" y="14714"/>
                  <a:pt x="2432341" y="0"/>
                </a:cubicBezTo>
                <a:cubicBezTo>
                  <a:pt x="2752177" y="-14714"/>
                  <a:pt x="2813857" y="31370"/>
                  <a:pt x="2918809" y="0"/>
                </a:cubicBezTo>
                <a:cubicBezTo>
                  <a:pt x="3023761" y="-31370"/>
                  <a:pt x="3328524" y="45819"/>
                  <a:pt x="3504916" y="0"/>
                </a:cubicBezTo>
                <a:cubicBezTo>
                  <a:pt x="3681308" y="-45819"/>
                  <a:pt x="4103866" y="39859"/>
                  <a:pt x="4290298" y="0"/>
                </a:cubicBezTo>
                <a:cubicBezTo>
                  <a:pt x="4476730" y="-39859"/>
                  <a:pt x="4739823" y="19250"/>
                  <a:pt x="4976042" y="0"/>
                </a:cubicBezTo>
                <a:cubicBezTo>
                  <a:pt x="5212261" y="-19250"/>
                  <a:pt x="5441842" y="58660"/>
                  <a:pt x="5661787" y="0"/>
                </a:cubicBezTo>
                <a:cubicBezTo>
                  <a:pt x="5881733" y="-58660"/>
                  <a:pt x="5861530" y="23871"/>
                  <a:pt x="6048617" y="0"/>
                </a:cubicBezTo>
                <a:cubicBezTo>
                  <a:pt x="6235704" y="-23871"/>
                  <a:pt x="6603667" y="80965"/>
                  <a:pt x="6833999" y="0"/>
                </a:cubicBezTo>
                <a:cubicBezTo>
                  <a:pt x="7064331" y="-80965"/>
                  <a:pt x="7307784" y="43477"/>
                  <a:pt x="7519744" y="0"/>
                </a:cubicBezTo>
                <a:cubicBezTo>
                  <a:pt x="7731704" y="-43477"/>
                  <a:pt x="7860212" y="46851"/>
                  <a:pt x="8006212" y="0"/>
                </a:cubicBezTo>
                <a:cubicBezTo>
                  <a:pt x="8152212" y="-46851"/>
                  <a:pt x="8516290" y="5776"/>
                  <a:pt x="8791594" y="0"/>
                </a:cubicBezTo>
                <a:cubicBezTo>
                  <a:pt x="9066898" y="-5776"/>
                  <a:pt x="8996058" y="13063"/>
                  <a:pt x="9078786" y="0"/>
                </a:cubicBezTo>
                <a:cubicBezTo>
                  <a:pt x="9161514" y="-13063"/>
                  <a:pt x="9720052" y="32495"/>
                  <a:pt x="9963807" y="0"/>
                </a:cubicBezTo>
                <a:cubicBezTo>
                  <a:pt x="10015049" y="118774"/>
                  <a:pt x="9908314" y="323829"/>
                  <a:pt x="9963807" y="474284"/>
                </a:cubicBezTo>
                <a:cubicBezTo>
                  <a:pt x="10019300" y="624739"/>
                  <a:pt x="9911901" y="801751"/>
                  <a:pt x="9963807" y="927946"/>
                </a:cubicBezTo>
                <a:cubicBezTo>
                  <a:pt x="10015713" y="1054141"/>
                  <a:pt x="9930432" y="1226945"/>
                  <a:pt x="9963807" y="1381609"/>
                </a:cubicBezTo>
                <a:cubicBezTo>
                  <a:pt x="9997182" y="1536273"/>
                  <a:pt x="9935960" y="1913259"/>
                  <a:pt x="9963807" y="2062103"/>
                </a:cubicBezTo>
                <a:cubicBezTo>
                  <a:pt x="9828164" y="2082080"/>
                  <a:pt x="9689062" y="2004009"/>
                  <a:pt x="9477339" y="2062103"/>
                </a:cubicBezTo>
                <a:cubicBezTo>
                  <a:pt x="9265616" y="2120197"/>
                  <a:pt x="9042258" y="2039873"/>
                  <a:pt x="8891232" y="2062103"/>
                </a:cubicBezTo>
                <a:cubicBezTo>
                  <a:pt x="8740206" y="2084333"/>
                  <a:pt x="8440996" y="1999792"/>
                  <a:pt x="8105850" y="2062103"/>
                </a:cubicBezTo>
                <a:cubicBezTo>
                  <a:pt x="7770704" y="2124414"/>
                  <a:pt x="7826563" y="2031772"/>
                  <a:pt x="7619382" y="2062103"/>
                </a:cubicBezTo>
                <a:cubicBezTo>
                  <a:pt x="7412201" y="2092434"/>
                  <a:pt x="7250986" y="2032723"/>
                  <a:pt x="6933637" y="2062103"/>
                </a:cubicBezTo>
                <a:cubicBezTo>
                  <a:pt x="6616288" y="2091483"/>
                  <a:pt x="6495610" y="2034891"/>
                  <a:pt x="6148255" y="2062103"/>
                </a:cubicBezTo>
                <a:cubicBezTo>
                  <a:pt x="5800900" y="2089315"/>
                  <a:pt x="5765280" y="2020988"/>
                  <a:pt x="5562149" y="2062103"/>
                </a:cubicBezTo>
                <a:cubicBezTo>
                  <a:pt x="5359018" y="2103218"/>
                  <a:pt x="5322883" y="2030705"/>
                  <a:pt x="5175319" y="2062103"/>
                </a:cubicBezTo>
                <a:cubicBezTo>
                  <a:pt x="5027755" y="2093501"/>
                  <a:pt x="4927569" y="2016155"/>
                  <a:pt x="4788488" y="2062103"/>
                </a:cubicBezTo>
                <a:cubicBezTo>
                  <a:pt x="4649407" y="2108051"/>
                  <a:pt x="4338526" y="2023055"/>
                  <a:pt x="4003106" y="2062103"/>
                </a:cubicBezTo>
                <a:cubicBezTo>
                  <a:pt x="3667686" y="2101151"/>
                  <a:pt x="3817553" y="2055828"/>
                  <a:pt x="3715914" y="2062103"/>
                </a:cubicBezTo>
                <a:cubicBezTo>
                  <a:pt x="3614275" y="2068378"/>
                  <a:pt x="3516091" y="2028473"/>
                  <a:pt x="3329084" y="2062103"/>
                </a:cubicBezTo>
                <a:cubicBezTo>
                  <a:pt x="3142077" y="2095733"/>
                  <a:pt x="2781457" y="2055074"/>
                  <a:pt x="2643339" y="2062103"/>
                </a:cubicBezTo>
                <a:cubicBezTo>
                  <a:pt x="2505222" y="2069132"/>
                  <a:pt x="2258944" y="2014338"/>
                  <a:pt x="1957595" y="2062103"/>
                </a:cubicBezTo>
                <a:cubicBezTo>
                  <a:pt x="1656246" y="2109868"/>
                  <a:pt x="1665583" y="2016895"/>
                  <a:pt x="1471127" y="2062103"/>
                </a:cubicBezTo>
                <a:cubicBezTo>
                  <a:pt x="1276671" y="2107311"/>
                  <a:pt x="945239" y="2009673"/>
                  <a:pt x="685744" y="2062103"/>
                </a:cubicBezTo>
                <a:cubicBezTo>
                  <a:pt x="426249" y="2114533"/>
                  <a:pt x="239517" y="2060890"/>
                  <a:pt x="0" y="2062103"/>
                </a:cubicBezTo>
                <a:cubicBezTo>
                  <a:pt x="-39154" y="1822961"/>
                  <a:pt x="9574" y="1792994"/>
                  <a:pt x="0" y="1546577"/>
                </a:cubicBezTo>
                <a:cubicBezTo>
                  <a:pt x="-9574" y="1300160"/>
                  <a:pt x="31348" y="1315326"/>
                  <a:pt x="0" y="1092915"/>
                </a:cubicBezTo>
                <a:cubicBezTo>
                  <a:pt x="-31348" y="870504"/>
                  <a:pt x="11475" y="783428"/>
                  <a:pt x="0" y="536147"/>
                </a:cubicBezTo>
                <a:cubicBezTo>
                  <a:pt x="-11475" y="288866"/>
                  <a:pt x="40921" y="253974"/>
                  <a:pt x="0" y="0"/>
                </a:cubicBezTo>
                <a:close/>
              </a:path>
              <a:path w="9963807" h="2062103" stroke="0" extrusionOk="0">
                <a:moveTo>
                  <a:pt x="0" y="0"/>
                </a:moveTo>
                <a:cubicBezTo>
                  <a:pt x="126241" y="-27404"/>
                  <a:pt x="169563" y="33734"/>
                  <a:pt x="287192" y="0"/>
                </a:cubicBezTo>
                <a:cubicBezTo>
                  <a:pt x="404821" y="-33734"/>
                  <a:pt x="899672" y="29663"/>
                  <a:pt x="1072575" y="0"/>
                </a:cubicBezTo>
                <a:cubicBezTo>
                  <a:pt x="1245478" y="-29663"/>
                  <a:pt x="1421755" y="24183"/>
                  <a:pt x="1559043" y="0"/>
                </a:cubicBezTo>
                <a:cubicBezTo>
                  <a:pt x="1696331" y="-24183"/>
                  <a:pt x="1862164" y="46275"/>
                  <a:pt x="2145149" y="0"/>
                </a:cubicBezTo>
                <a:cubicBezTo>
                  <a:pt x="2428134" y="-46275"/>
                  <a:pt x="2533887" y="43328"/>
                  <a:pt x="2731255" y="0"/>
                </a:cubicBezTo>
                <a:cubicBezTo>
                  <a:pt x="2928623" y="-43328"/>
                  <a:pt x="3033516" y="20124"/>
                  <a:pt x="3118085" y="0"/>
                </a:cubicBezTo>
                <a:cubicBezTo>
                  <a:pt x="3202654" y="-20124"/>
                  <a:pt x="3411769" y="29576"/>
                  <a:pt x="3504916" y="0"/>
                </a:cubicBezTo>
                <a:cubicBezTo>
                  <a:pt x="3598063" y="-29576"/>
                  <a:pt x="3890486" y="56010"/>
                  <a:pt x="4190660" y="0"/>
                </a:cubicBezTo>
                <a:cubicBezTo>
                  <a:pt x="4490834" y="-56010"/>
                  <a:pt x="4428345" y="44912"/>
                  <a:pt x="4577490" y="0"/>
                </a:cubicBezTo>
                <a:cubicBezTo>
                  <a:pt x="4726635" y="-44912"/>
                  <a:pt x="4985628" y="40390"/>
                  <a:pt x="5163596" y="0"/>
                </a:cubicBezTo>
                <a:cubicBezTo>
                  <a:pt x="5341564" y="-40390"/>
                  <a:pt x="5328133" y="9314"/>
                  <a:pt x="5450789" y="0"/>
                </a:cubicBezTo>
                <a:cubicBezTo>
                  <a:pt x="5573445" y="-9314"/>
                  <a:pt x="5853350" y="46543"/>
                  <a:pt x="6136533" y="0"/>
                </a:cubicBezTo>
                <a:cubicBezTo>
                  <a:pt x="6419716" y="-46543"/>
                  <a:pt x="6341432" y="31231"/>
                  <a:pt x="6423725" y="0"/>
                </a:cubicBezTo>
                <a:cubicBezTo>
                  <a:pt x="6506018" y="-31231"/>
                  <a:pt x="6976161" y="74140"/>
                  <a:pt x="7209107" y="0"/>
                </a:cubicBezTo>
                <a:cubicBezTo>
                  <a:pt x="7442053" y="-74140"/>
                  <a:pt x="7589528" y="16721"/>
                  <a:pt x="7695576" y="0"/>
                </a:cubicBezTo>
                <a:cubicBezTo>
                  <a:pt x="7801624" y="-16721"/>
                  <a:pt x="7939380" y="34011"/>
                  <a:pt x="8082406" y="0"/>
                </a:cubicBezTo>
                <a:cubicBezTo>
                  <a:pt x="8225432" y="-34011"/>
                  <a:pt x="8495858" y="8776"/>
                  <a:pt x="8668512" y="0"/>
                </a:cubicBezTo>
                <a:cubicBezTo>
                  <a:pt x="8841166" y="-8776"/>
                  <a:pt x="9293506" y="85495"/>
                  <a:pt x="9453895" y="0"/>
                </a:cubicBezTo>
                <a:cubicBezTo>
                  <a:pt x="9614284" y="-85495"/>
                  <a:pt x="9733192" y="1677"/>
                  <a:pt x="9963807" y="0"/>
                </a:cubicBezTo>
                <a:cubicBezTo>
                  <a:pt x="10020969" y="163775"/>
                  <a:pt x="9963424" y="331949"/>
                  <a:pt x="9963807" y="536147"/>
                </a:cubicBezTo>
                <a:cubicBezTo>
                  <a:pt x="9964190" y="740345"/>
                  <a:pt x="9943797" y="861287"/>
                  <a:pt x="9963807" y="1092915"/>
                </a:cubicBezTo>
                <a:cubicBezTo>
                  <a:pt x="9983817" y="1324543"/>
                  <a:pt x="9883618" y="1612962"/>
                  <a:pt x="9963807" y="2062103"/>
                </a:cubicBezTo>
                <a:cubicBezTo>
                  <a:pt x="9731653" y="2150829"/>
                  <a:pt x="9543620" y="2003709"/>
                  <a:pt x="9178425" y="2062103"/>
                </a:cubicBezTo>
                <a:cubicBezTo>
                  <a:pt x="8813230" y="2120497"/>
                  <a:pt x="8552451" y="1989059"/>
                  <a:pt x="8393042" y="2062103"/>
                </a:cubicBezTo>
                <a:cubicBezTo>
                  <a:pt x="8233633" y="2135147"/>
                  <a:pt x="7872063" y="2024887"/>
                  <a:pt x="7707298" y="2062103"/>
                </a:cubicBezTo>
                <a:cubicBezTo>
                  <a:pt x="7542533" y="2099319"/>
                  <a:pt x="7437873" y="2031110"/>
                  <a:pt x="7320468" y="2062103"/>
                </a:cubicBezTo>
                <a:cubicBezTo>
                  <a:pt x="7203063" y="2093096"/>
                  <a:pt x="7007335" y="2048602"/>
                  <a:pt x="6833999" y="2062103"/>
                </a:cubicBezTo>
                <a:cubicBezTo>
                  <a:pt x="6660663" y="2075604"/>
                  <a:pt x="6562401" y="2016078"/>
                  <a:pt x="6447169" y="2062103"/>
                </a:cubicBezTo>
                <a:cubicBezTo>
                  <a:pt x="6331937" y="2108128"/>
                  <a:pt x="6220228" y="2056722"/>
                  <a:pt x="6159977" y="2062103"/>
                </a:cubicBezTo>
                <a:cubicBezTo>
                  <a:pt x="6099726" y="2067484"/>
                  <a:pt x="5694073" y="2003878"/>
                  <a:pt x="5374595" y="2062103"/>
                </a:cubicBezTo>
                <a:cubicBezTo>
                  <a:pt x="5055117" y="2120328"/>
                  <a:pt x="5229613" y="2039921"/>
                  <a:pt x="5087403" y="2062103"/>
                </a:cubicBezTo>
                <a:cubicBezTo>
                  <a:pt x="4945193" y="2084285"/>
                  <a:pt x="4901068" y="2032606"/>
                  <a:pt x="4800211" y="2062103"/>
                </a:cubicBezTo>
                <a:cubicBezTo>
                  <a:pt x="4699354" y="2091600"/>
                  <a:pt x="4602242" y="2043173"/>
                  <a:pt x="4413380" y="2062103"/>
                </a:cubicBezTo>
                <a:cubicBezTo>
                  <a:pt x="4224518" y="2081033"/>
                  <a:pt x="4074025" y="2059372"/>
                  <a:pt x="3827274" y="2062103"/>
                </a:cubicBezTo>
                <a:cubicBezTo>
                  <a:pt x="3580523" y="2064834"/>
                  <a:pt x="3524318" y="2042488"/>
                  <a:pt x="3241168" y="2062103"/>
                </a:cubicBezTo>
                <a:cubicBezTo>
                  <a:pt x="2958018" y="2081718"/>
                  <a:pt x="2933525" y="2023461"/>
                  <a:pt x="2655062" y="2062103"/>
                </a:cubicBezTo>
                <a:cubicBezTo>
                  <a:pt x="2376599" y="2100745"/>
                  <a:pt x="2226273" y="2038974"/>
                  <a:pt x="2068955" y="2062103"/>
                </a:cubicBezTo>
                <a:cubicBezTo>
                  <a:pt x="1911637" y="2085232"/>
                  <a:pt x="1890106" y="2042552"/>
                  <a:pt x="1781763" y="2062103"/>
                </a:cubicBezTo>
                <a:cubicBezTo>
                  <a:pt x="1673420" y="2081654"/>
                  <a:pt x="1557203" y="2044926"/>
                  <a:pt x="1494571" y="2062103"/>
                </a:cubicBezTo>
                <a:cubicBezTo>
                  <a:pt x="1431939" y="2079280"/>
                  <a:pt x="1275186" y="2036249"/>
                  <a:pt x="1207379" y="2062103"/>
                </a:cubicBezTo>
                <a:cubicBezTo>
                  <a:pt x="1139572" y="2087957"/>
                  <a:pt x="703416" y="2002490"/>
                  <a:pt x="521635" y="2062103"/>
                </a:cubicBezTo>
                <a:cubicBezTo>
                  <a:pt x="339854" y="2121716"/>
                  <a:pt x="136130" y="2041259"/>
                  <a:pt x="0" y="2062103"/>
                </a:cubicBezTo>
                <a:cubicBezTo>
                  <a:pt x="-49477" y="1875962"/>
                  <a:pt x="48481" y="1713807"/>
                  <a:pt x="0" y="1608440"/>
                </a:cubicBezTo>
                <a:cubicBezTo>
                  <a:pt x="-48481" y="1503073"/>
                  <a:pt x="33454" y="1308077"/>
                  <a:pt x="0" y="1113536"/>
                </a:cubicBezTo>
                <a:cubicBezTo>
                  <a:pt x="-33454" y="918995"/>
                  <a:pt x="9641" y="841688"/>
                  <a:pt x="0" y="618631"/>
                </a:cubicBezTo>
                <a:cubicBezTo>
                  <a:pt x="-9641" y="395575"/>
                  <a:pt x="17234" y="217386"/>
                  <a:pt x="0" y="0"/>
                </a:cubicBezTo>
                <a:close/>
              </a:path>
            </a:pathLst>
          </a:custGeom>
          <a:solidFill>
            <a:srgbClr val="FFFF00"/>
          </a:solidFill>
          <a:ln w="76200">
            <a:solidFill>
              <a:srgbClr val="00B050"/>
            </a:solidFill>
            <a:extLst>
              <a:ext uri="{C807C97D-BFC1-408E-A445-0C87EB9F89A2}">
                <ask:lineSketchStyleProps xmlns:ask="http://schemas.microsoft.com/office/drawing/2018/sketchyshapes" sd="3771138623">
                  <a:prstGeom prst="rect">
                    <a:avLst/>
                  </a:prstGeom>
                  <ask:type>
                    <ask:lineSketchScribble/>
                  </ask:type>
                </ask:lineSketchStyleProps>
              </a:ext>
            </a:extLst>
          </a:ln>
        </p:spPr>
        <p:txBody>
          <a:bodyPr wrap="square">
            <a:spAutoFit/>
          </a:bodyPr>
          <a:lstStyle/>
          <a:p>
            <a:r>
              <a:rPr lang="es-MX" sz="1600" dirty="0"/>
              <a:t>Presupuestos para el ejercicio de la Jurisdicción IOC</a:t>
            </a:r>
          </a:p>
          <a:p>
            <a:r>
              <a:rPr lang="es-MX" sz="1600" dirty="0"/>
              <a:t>La SCP 0764/2014, estableció la existencia de tres presupuestos esenciales para el ejercicio de la jurisdicción IOC: </a:t>
            </a:r>
          </a:p>
          <a:p>
            <a:pPr marL="342900" indent="-342900">
              <a:buAutoNum type="alphaLcParenR"/>
            </a:pPr>
            <a:r>
              <a:rPr lang="es-MX" sz="1600" dirty="0"/>
              <a:t>Los vínculos personales; </a:t>
            </a:r>
          </a:p>
          <a:p>
            <a:pPr marL="342900" indent="-342900">
              <a:buAutoNum type="alphaLcParenR"/>
            </a:pPr>
            <a:r>
              <a:rPr lang="es-MX" sz="1600" dirty="0"/>
              <a:t>La existencia de actos, hechos y conflictos que histórica y tradicionalmente conocieron las NPIOC bajo sus normas, procedimientos propios y saberes, cuyo conocimiento es inherente a la esencia de la plurinacionalidad y a su libre determinación; y, </a:t>
            </a:r>
          </a:p>
          <a:p>
            <a:pPr marL="342900" indent="-342900">
              <a:buAutoNum type="alphaLcParenR"/>
            </a:pPr>
            <a:r>
              <a:rPr lang="es-MX" sz="1600" dirty="0"/>
              <a:t>La generación de dichos actos, hechos o conflictos en la nación o pueblo indígena originario campesino o que surtan efectos en ella.</a:t>
            </a:r>
            <a:endParaRPr lang="es-BO" sz="1600" dirty="0"/>
          </a:p>
        </p:txBody>
      </p:sp>
      <p:sp>
        <p:nvSpPr>
          <p:cNvPr id="6" name="CuadroTexto 5">
            <a:extLst>
              <a:ext uri="{FF2B5EF4-FFF2-40B4-BE49-F238E27FC236}">
                <a16:creationId xmlns:a16="http://schemas.microsoft.com/office/drawing/2014/main" id="{FE2513FF-3836-4268-8842-3AF9ED07ED66}"/>
              </a:ext>
            </a:extLst>
          </p:cNvPr>
          <p:cNvSpPr txBox="1"/>
          <p:nvPr/>
        </p:nvSpPr>
        <p:spPr>
          <a:xfrm>
            <a:off x="1334814" y="204723"/>
            <a:ext cx="9963807" cy="1077218"/>
          </a:xfrm>
          <a:custGeom>
            <a:avLst/>
            <a:gdLst>
              <a:gd name="connsiteX0" fmla="*/ 0 w 9963807"/>
              <a:gd name="connsiteY0" fmla="*/ 0 h 1077218"/>
              <a:gd name="connsiteX1" fmla="*/ 586106 w 9963807"/>
              <a:gd name="connsiteY1" fmla="*/ 0 h 1077218"/>
              <a:gd name="connsiteX2" fmla="*/ 972936 w 9963807"/>
              <a:gd name="connsiteY2" fmla="*/ 0 h 1077218"/>
              <a:gd name="connsiteX3" fmla="*/ 1658681 w 9963807"/>
              <a:gd name="connsiteY3" fmla="*/ 0 h 1077218"/>
              <a:gd name="connsiteX4" fmla="*/ 2444063 w 9963807"/>
              <a:gd name="connsiteY4" fmla="*/ 0 h 1077218"/>
              <a:gd name="connsiteX5" fmla="*/ 2731255 w 9963807"/>
              <a:gd name="connsiteY5" fmla="*/ 0 h 1077218"/>
              <a:gd name="connsiteX6" fmla="*/ 3217724 w 9963807"/>
              <a:gd name="connsiteY6" fmla="*/ 0 h 1077218"/>
              <a:gd name="connsiteX7" fmla="*/ 3903468 w 9963807"/>
              <a:gd name="connsiteY7" fmla="*/ 0 h 1077218"/>
              <a:gd name="connsiteX8" fmla="*/ 4290298 w 9963807"/>
              <a:gd name="connsiteY8" fmla="*/ 0 h 1077218"/>
              <a:gd name="connsiteX9" fmla="*/ 4776766 w 9963807"/>
              <a:gd name="connsiteY9" fmla="*/ 0 h 1077218"/>
              <a:gd name="connsiteX10" fmla="*/ 5163596 w 9963807"/>
              <a:gd name="connsiteY10" fmla="*/ 0 h 1077218"/>
              <a:gd name="connsiteX11" fmla="*/ 5450789 w 9963807"/>
              <a:gd name="connsiteY11" fmla="*/ 0 h 1077218"/>
              <a:gd name="connsiteX12" fmla="*/ 5837619 w 9963807"/>
              <a:gd name="connsiteY12" fmla="*/ 0 h 1077218"/>
              <a:gd name="connsiteX13" fmla="*/ 6523363 w 9963807"/>
              <a:gd name="connsiteY13" fmla="*/ 0 h 1077218"/>
              <a:gd name="connsiteX14" fmla="*/ 7209107 w 9963807"/>
              <a:gd name="connsiteY14" fmla="*/ 0 h 1077218"/>
              <a:gd name="connsiteX15" fmla="*/ 7595938 w 9963807"/>
              <a:gd name="connsiteY15" fmla="*/ 0 h 1077218"/>
              <a:gd name="connsiteX16" fmla="*/ 7982768 w 9963807"/>
              <a:gd name="connsiteY16" fmla="*/ 0 h 1077218"/>
              <a:gd name="connsiteX17" fmla="*/ 8469236 w 9963807"/>
              <a:gd name="connsiteY17" fmla="*/ 0 h 1077218"/>
              <a:gd name="connsiteX18" fmla="*/ 9254618 w 9963807"/>
              <a:gd name="connsiteY18" fmla="*/ 0 h 1077218"/>
              <a:gd name="connsiteX19" fmla="*/ 9963807 w 9963807"/>
              <a:gd name="connsiteY19" fmla="*/ 0 h 1077218"/>
              <a:gd name="connsiteX20" fmla="*/ 9963807 w 9963807"/>
              <a:gd name="connsiteY20" fmla="*/ 517065 h 1077218"/>
              <a:gd name="connsiteX21" fmla="*/ 9963807 w 9963807"/>
              <a:gd name="connsiteY21" fmla="*/ 1077218 h 1077218"/>
              <a:gd name="connsiteX22" fmla="*/ 9178425 w 9963807"/>
              <a:gd name="connsiteY22" fmla="*/ 1077218 h 1077218"/>
              <a:gd name="connsiteX23" fmla="*/ 8592318 w 9963807"/>
              <a:gd name="connsiteY23" fmla="*/ 1077218 h 1077218"/>
              <a:gd name="connsiteX24" fmla="*/ 7806936 w 9963807"/>
              <a:gd name="connsiteY24" fmla="*/ 1077218 h 1077218"/>
              <a:gd name="connsiteX25" fmla="*/ 7220830 w 9963807"/>
              <a:gd name="connsiteY25" fmla="*/ 1077218 h 1077218"/>
              <a:gd name="connsiteX26" fmla="*/ 6933637 w 9963807"/>
              <a:gd name="connsiteY26" fmla="*/ 1077218 h 1077218"/>
              <a:gd name="connsiteX27" fmla="*/ 6546807 w 9963807"/>
              <a:gd name="connsiteY27" fmla="*/ 1077218 h 1077218"/>
              <a:gd name="connsiteX28" fmla="*/ 6259615 w 9963807"/>
              <a:gd name="connsiteY28" fmla="*/ 1077218 h 1077218"/>
              <a:gd name="connsiteX29" fmla="*/ 5773147 w 9963807"/>
              <a:gd name="connsiteY29" fmla="*/ 1077218 h 1077218"/>
              <a:gd name="connsiteX30" fmla="*/ 5187041 w 9963807"/>
              <a:gd name="connsiteY30" fmla="*/ 1077218 h 1077218"/>
              <a:gd name="connsiteX31" fmla="*/ 4401658 w 9963807"/>
              <a:gd name="connsiteY31" fmla="*/ 1077218 h 1077218"/>
              <a:gd name="connsiteX32" fmla="*/ 3915190 w 9963807"/>
              <a:gd name="connsiteY32" fmla="*/ 1077218 h 1077218"/>
              <a:gd name="connsiteX33" fmla="*/ 3229446 w 9963807"/>
              <a:gd name="connsiteY33" fmla="*/ 1077218 h 1077218"/>
              <a:gd name="connsiteX34" fmla="*/ 2942254 w 9963807"/>
              <a:gd name="connsiteY34" fmla="*/ 1077218 h 1077218"/>
              <a:gd name="connsiteX35" fmla="*/ 2455785 w 9963807"/>
              <a:gd name="connsiteY35" fmla="*/ 1077218 h 1077218"/>
              <a:gd name="connsiteX36" fmla="*/ 1969317 w 9963807"/>
              <a:gd name="connsiteY36" fmla="*/ 1077218 h 1077218"/>
              <a:gd name="connsiteX37" fmla="*/ 1183935 w 9963807"/>
              <a:gd name="connsiteY37" fmla="*/ 1077218 h 1077218"/>
              <a:gd name="connsiteX38" fmla="*/ 896743 w 9963807"/>
              <a:gd name="connsiteY38" fmla="*/ 1077218 h 1077218"/>
              <a:gd name="connsiteX39" fmla="*/ 509912 w 9963807"/>
              <a:gd name="connsiteY39" fmla="*/ 1077218 h 1077218"/>
              <a:gd name="connsiteX40" fmla="*/ 0 w 9963807"/>
              <a:gd name="connsiteY40" fmla="*/ 1077218 h 1077218"/>
              <a:gd name="connsiteX41" fmla="*/ 0 w 9963807"/>
              <a:gd name="connsiteY41" fmla="*/ 570926 h 1077218"/>
              <a:gd name="connsiteX42" fmla="*/ 0 w 9963807"/>
              <a:gd name="connsiteY42" fmla="*/ 0 h 1077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963807" h="1077218" extrusionOk="0">
                <a:moveTo>
                  <a:pt x="0" y="0"/>
                </a:moveTo>
                <a:cubicBezTo>
                  <a:pt x="243319" y="-42737"/>
                  <a:pt x="324022" y="44733"/>
                  <a:pt x="586106" y="0"/>
                </a:cubicBezTo>
                <a:cubicBezTo>
                  <a:pt x="848190" y="-44733"/>
                  <a:pt x="888379" y="12609"/>
                  <a:pt x="972936" y="0"/>
                </a:cubicBezTo>
                <a:cubicBezTo>
                  <a:pt x="1057493" y="-12609"/>
                  <a:pt x="1449105" y="18759"/>
                  <a:pt x="1658681" y="0"/>
                </a:cubicBezTo>
                <a:cubicBezTo>
                  <a:pt x="1868257" y="-18759"/>
                  <a:pt x="2053189" y="70264"/>
                  <a:pt x="2444063" y="0"/>
                </a:cubicBezTo>
                <a:cubicBezTo>
                  <a:pt x="2834937" y="-70264"/>
                  <a:pt x="2644786" y="30788"/>
                  <a:pt x="2731255" y="0"/>
                </a:cubicBezTo>
                <a:cubicBezTo>
                  <a:pt x="2817724" y="-30788"/>
                  <a:pt x="3045639" y="27228"/>
                  <a:pt x="3217724" y="0"/>
                </a:cubicBezTo>
                <a:cubicBezTo>
                  <a:pt x="3389809" y="-27228"/>
                  <a:pt x="3687382" y="1976"/>
                  <a:pt x="3903468" y="0"/>
                </a:cubicBezTo>
                <a:cubicBezTo>
                  <a:pt x="4119554" y="-1976"/>
                  <a:pt x="4123616" y="16637"/>
                  <a:pt x="4290298" y="0"/>
                </a:cubicBezTo>
                <a:cubicBezTo>
                  <a:pt x="4456980" y="-16637"/>
                  <a:pt x="4584545" y="53008"/>
                  <a:pt x="4776766" y="0"/>
                </a:cubicBezTo>
                <a:cubicBezTo>
                  <a:pt x="4968987" y="-53008"/>
                  <a:pt x="5016820" y="11967"/>
                  <a:pt x="5163596" y="0"/>
                </a:cubicBezTo>
                <a:cubicBezTo>
                  <a:pt x="5310372" y="-11967"/>
                  <a:pt x="5340870" y="29672"/>
                  <a:pt x="5450789" y="0"/>
                </a:cubicBezTo>
                <a:cubicBezTo>
                  <a:pt x="5560708" y="-29672"/>
                  <a:pt x="5700543" y="19204"/>
                  <a:pt x="5837619" y="0"/>
                </a:cubicBezTo>
                <a:cubicBezTo>
                  <a:pt x="5974695" y="-19204"/>
                  <a:pt x="6267904" y="79777"/>
                  <a:pt x="6523363" y="0"/>
                </a:cubicBezTo>
                <a:cubicBezTo>
                  <a:pt x="6778822" y="-79777"/>
                  <a:pt x="7012760" y="19984"/>
                  <a:pt x="7209107" y="0"/>
                </a:cubicBezTo>
                <a:cubicBezTo>
                  <a:pt x="7405454" y="-19984"/>
                  <a:pt x="7485485" y="9343"/>
                  <a:pt x="7595938" y="0"/>
                </a:cubicBezTo>
                <a:cubicBezTo>
                  <a:pt x="7706391" y="-9343"/>
                  <a:pt x="7836703" y="44029"/>
                  <a:pt x="7982768" y="0"/>
                </a:cubicBezTo>
                <a:cubicBezTo>
                  <a:pt x="8128833" y="-44029"/>
                  <a:pt x="8262330" y="6922"/>
                  <a:pt x="8469236" y="0"/>
                </a:cubicBezTo>
                <a:cubicBezTo>
                  <a:pt x="8676142" y="-6922"/>
                  <a:pt x="8881175" y="63887"/>
                  <a:pt x="9254618" y="0"/>
                </a:cubicBezTo>
                <a:cubicBezTo>
                  <a:pt x="9628061" y="-63887"/>
                  <a:pt x="9727258" y="50888"/>
                  <a:pt x="9963807" y="0"/>
                </a:cubicBezTo>
                <a:cubicBezTo>
                  <a:pt x="10022078" y="252987"/>
                  <a:pt x="9919128" y="326840"/>
                  <a:pt x="9963807" y="517065"/>
                </a:cubicBezTo>
                <a:cubicBezTo>
                  <a:pt x="10008486" y="707291"/>
                  <a:pt x="9943686" y="827390"/>
                  <a:pt x="9963807" y="1077218"/>
                </a:cubicBezTo>
                <a:cubicBezTo>
                  <a:pt x="9636365" y="1157953"/>
                  <a:pt x="9364030" y="1076072"/>
                  <a:pt x="9178425" y="1077218"/>
                </a:cubicBezTo>
                <a:cubicBezTo>
                  <a:pt x="8992820" y="1078364"/>
                  <a:pt x="8758085" y="1008919"/>
                  <a:pt x="8592318" y="1077218"/>
                </a:cubicBezTo>
                <a:cubicBezTo>
                  <a:pt x="8426551" y="1145517"/>
                  <a:pt x="8080564" y="994907"/>
                  <a:pt x="7806936" y="1077218"/>
                </a:cubicBezTo>
                <a:cubicBezTo>
                  <a:pt x="7533308" y="1159529"/>
                  <a:pt x="7413725" y="1050811"/>
                  <a:pt x="7220830" y="1077218"/>
                </a:cubicBezTo>
                <a:cubicBezTo>
                  <a:pt x="7027935" y="1103625"/>
                  <a:pt x="7007391" y="1062296"/>
                  <a:pt x="6933637" y="1077218"/>
                </a:cubicBezTo>
                <a:cubicBezTo>
                  <a:pt x="6859883" y="1092140"/>
                  <a:pt x="6643611" y="1066349"/>
                  <a:pt x="6546807" y="1077218"/>
                </a:cubicBezTo>
                <a:cubicBezTo>
                  <a:pt x="6450003" y="1088087"/>
                  <a:pt x="6318518" y="1069172"/>
                  <a:pt x="6259615" y="1077218"/>
                </a:cubicBezTo>
                <a:cubicBezTo>
                  <a:pt x="6200712" y="1085264"/>
                  <a:pt x="5997880" y="1073282"/>
                  <a:pt x="5773147" y="1077218"/>
                </a:cubicBezTo>
                <a:cubicBezTo>
                  <a:pt x="5548414" y="1081154"/>
                  <a:pt x="5443639" y="1017423"/>
                  <a:pt x="5187041" y="1077218"/>
                </a:cubicBezTo>
                <a:cubicBezTo>
                  <a:pt x="4930443" y="1137013"/>
                  <a:pt x="4719427" y="1037821"/>
                  <a:pt x="4401658" y="1077218"/>
                </a:cubicBezTo>
                <a:cubicBezTo>
                  <a:pt x="4083889" y="1116615"/>
                  <a:pt x="4130883" y="1024174"/>
                  <a:pt x="3915190" y="1077218"/>
                </a:cubicBezTo>
                <a:cubicBezTo>
                  <a:pt x="3699497" y="1130262"/>
                  <a:pt x="3529750" y="1010660"/>
                  <a:pt x="3229446" y="1077218"/>
                </a:cubicBezTo>
                <a:cubicBezTo>
                  <a:pt x="2929142" y="1143776"/>
                  <a:pt x="3071443" y="1043291"/>
                  <a:pt x="2942254" y="1077218"/>
                </a:cubicBezTo>
                <a:cubicBezTo>
                  <a:pt x="2813065" y="1111145"/>
                  <a:pt x="2649855" y="1068991"/>
                  <a:pt x="2455785" y="1077218"/>
                </a:cubicBezTo>
                <a:cubicBezTo>
                  <a:pt x="2261715" y="1085445"/>
                  <a:pt x="2145500" y="1036679"/>
                  <a:pt x="1969317" y="1077218"/>
                </a:cubicBezTo>
                <a:cubicBezTo>
                  <a:pt x="1793134" y="1117757"/>
                  <a:pt x="1418969" y="1027263"/>
                  <a:pt x="1183935" y="1077218"/>
                </a:cubicBezTo>
                <a:cubicBezTo>
                  <a:pt x="948901" y="1127173"/>
                  <a:pt x="972808" y="1055093"/>
                  <a:pt x="896743" y="1077218"/>
                </a:cubicBezTo>
                <a:cubicBezTo>
                  <a:pt x="820678" y="1099343"/>
                  <a:pt x="587566" y="1064602"/>
                  <a:pt x="509912" y="1077218"/>
                </a:cubicBezTo>
                <a:cubicBezTo>
                  <a:pt x="432258" y="1089834"/>
                  <a:pt x="177700" y="1076396"/>
                  <a:pt x="0" y="1077218"/>
                </a:cubicBezTo>
                <a:cubicBezTo>
                  <a:pt x="-39011" y="887220"/>
                  <a:pt x="41951" y="803103"/>
                  <a:pt x="0" y="570926"/>
                </a:cubicBezTo>
                <a:cubicBezTo>
                  <a:pt x="-41951" y="338749"/>
                  <a:pt x="13513" y="256256"/>
                  <a:pt x="0" y="0"/>
                </a:cubicBezTo>
                <a:close/>
              </a:path>
            </a:pathLst>
          </a:custGeom>
          <a:noFill/>
          <a:ln w="76200">
            <a:solidFill>
              <a:srgbClr val="00B050"/>
            </a:solidFill>
            <a:extLst>
              <a:ext uri="{C807C97D-BFC1-408E-A445-0C87EB9F89A2}">
                <ask:lineSketchStyleProps xmlns:ask="http://schemas.microsoft.com/office/drawing/2018/sketchyshapes" sd="3447362299">
                  <a:prstGeom prst="rect">
                    <a:avLst/>
                  </a:prstGeom>
                  <ask:type>
                    <ask:lineSketchScribble/>
                  </ask:type>
                </ask:lineSketchStyleProps>
              </a:ext>
            </a:extLst>
          </a:ln>
        </p:spPr>
        <p:txBody>
          <a:bodyPr wrap="square">
            <a:spAutoFit/>
          </a:bodyPr>
          <a:lstStyle/>
          <a:p>
            <a:pPr algn="just"/>
            <a:r>
              <a:rPr lang="es-MX" sz="1600" dirty="0"/>
              <a:t>La SCP 0487/2014, indicó que la interpretación plural o intercultural del derecho, debe ser comprendida en dos dimensiones: </a:t>
            </a:r>
          </a:p>
          <a:p>
            <a:pPr marL="342900" indent="-342900" algn="just">
              <a:buAutoNum type="alphaLcParenR"/>
            </a:pPr>
            <a:r>
              <a:rPr lang="es-MX" sz="1600" dirty="0"/>
              <a:t>Cuando uno o más miembros de las NPIOC intervienen en un proceso del sistema ordinario o agroambiental; y, </a:t>
            </a:r>
          </a:p>
          <a:p>
            <a:pPr marL="342900" indent="-342900" algn="just">
              <a:buAutoNum type="alphaLcParenR"/>
            </a:pPr>
            <a:r>
              <a:rPr lang="es-MX" sz="1600" dirty="0"/>
              <a:t>Cuando se alegue lesión a derechos individuales al interior de la jurisdicción indígena originaria campesina. </a:t>
            </a:r>
            <a:endParaRPr lang="es-BO" sz="1600" dirty="0"/>
          </a:p>
        </p:txBody>
      </p:sp>
      <p:sp>
        <p:nvSpPr>
          <p:cNvPr id="7" name="CuadroTexto 6">
            <a:extLst>
              <a:ext uri="{FF2B5EF4-FFF2-40B4-BE49-F238E27FC236}">
                <a16:creationId xmlns:a16="http://schemas.microsoft.com/office/drawing/2014/main" id="{44903435-5804-4969-8AE0-920C22CA49B9}"/>
              </a:ext>
            </a:extLst>
          </p:cNvPr>
          <p:cNvSpPr txBox="1"/>
          <p:nvPr/>
        </p:nvSpPr>
        <p:spPr>
          <a:xfrm>
            <a:off x="7893269" y="4945116"/>
            <a:ext cx="3888827" cy="954107"/>
          </a:xfrm>
          <a:prstGeom prst="rect">
            <a:avLst/>
          </a:prstGeom>
          <a:noFill/>
          <a:ln>
            <a:solidFill>
              <a:srgbClr val="7030A0"/>
            </a:solidFill>
          </a:ln>
        </p:spPr>
        <p:txBody>
          <a:bodyPr wrap="square">
            <a:spAutoFit/>
          </a:bodyPr>
          <a:lstStyle/>
          <a:p>
            <a:pPr algn="just"/>
            <a:r>
              <a:rPr lang="es-MX" sz="1400" b="0" i="0" dirty="0">
                <a:effectLst/>
                <a:latin typeface="Open Sans" panose="020B0606030504020204" pitchFamily="34" charset="0"/>
              </a:rPr>
              <a:t>Freddy Mamani, presidente del Consejo Directivo del Fondo para el Desarrollo de los Pueblos Indígenas de América Latina y el Caribe (FILAC)</a:t>
            </a:r>
            <a:r>
              <a:rPr lang="es-MX" sz="1400" b="0" i="0" dirty="0">
                <a:solidFill>
                  <a:srgbClr val="666666"/>
                </a:solidFill>
                <a:effectLst/>
                <a:latin typeface="Open Sans" panose="020B0606030504020204" pitchFamily="34" charset="0"/>
              </a:rPr>
              <a:t> , </a:t>
            </a:r>
            <a:endParaRPr lang="es-BO" sz="1400" dirty="0"/>
          </a:p>
        </p:txBody>
      </p:sp>
      <p:sp>
        <p:nvSpPr>
          <p:cNvPr id="8" name="CuadroTexto 7">
            <a:extLst>
              <a:ext uri="{FF2B5EF4-FFF2-40B4-BE49-F238E27FC236}">
                <a16:creationId xmlns:a16="http://schemas.microsoft.com/office/drawing/2014/main" id="{733E3DDD-6A64-491C-AE80-7771D896C39E}"/>
              </a:ext>
            </a:extLst>
          </p:cNvPr>
          <p:cNvSpPr txBox="1"/>
          <p:nvPr/>
        </p:nvSpPr>
        <p:spPr>
          <a:xfrm>
            <a:off x="1334814" y="4191064"/>
            <a:ext cx="6243145" cy="2462213"/>
          </a:xfrm>
          <a:prstGeom prst="rect">
            <a:avLst/>
          </a:prstGeom>
          <a:solidFill>
            <a:schemeClr val="bg1"/>
          </a:solidFill>
        </p:spPr>
        <p:txBody>
          <a:bodyPr wrap="square">
            <a:spAutoFit/>
          </a:bodyPr>
          <a:lstStyle/>
          <a:p>
            <a:pPr algn="l" fontAlgn="base"/>
            <a:r>
              <a:rPr lang="es-MX" sz="1400" b="0" i="0" dirty="0">
                <a:effectLst/>
                <a:latin typeface="Arial" panose="020B0604020202020204" pitchFamily="34" charset="0"/>
                <a:cs typeface="Arial" panose="020B0604020202020204" pitchFamily="34" charset="0"/>
              </a:rPr>
              <a:t>Freddy Mamani : </a:t>
            </a:r>
            <a:r>
              <a:rPr lang="es-MX" sz="1400" b="1" i="0" dirty="0">
                <a:solidFill>
                  <a:srgbClr val="666666"/>
                </a:solidFill>
                <a:effectLst/>
                <a:latin typeface="Arial" panose="020B0604020202020204" pitchFamily="34" charset="0"/>
                <a:cs typeface="Arial" panose="020B0604020202020204" pitchFamily="34" charset="0"/>
              </a:rPr>
              <a:t>Derechos reconocidos</a:t>
            </a:r>
            <a:endParaRPr lang="es-MX" sz="1400" b="0" i="0" dirty="0">
              <a:solidFill>
                <a:srgbClr val="666666"/>
              </a:solidFill>
              <a:effectLst/>
              <a:latin typeface="Arial" panose="020B0604020202020204" pitchFamily="34" charset="0"/>
              <a:cs typeface="Arial" panose="020B0604020202020204" pitchFamily="34" charset="0"/>
            </a:endParaRPr>
          </a:p>
          <a:p>
            <a:pPr algn="l" fontAlgn="base"/>
            <a:r>
              <a:rPr lang="es-MX" sz="1400" b="0" i="0" dirty="0">
                <a:solidFill>
                  <a:srgbClr val="666666"/>
                </a:solidFill>
                <a:effectLst/>
                <a:latin typeface="Arial" panose="020B0604020202020204" pitchFamily="34" charset="0"/>
                <a:cs typeface="Arial" panose="020B0604020202020204" pitchFamily="34" charset="0"/>
              </a:rPr>
              <a:t>“uno de los derechos colectivos clave que han sido reconocidos a los </a:t>
            </a:r>
            <a:r>
              <a:rPr lang="es-MX" sz="1400" b="1" i="0" dirty="0">
                <a:solidFill>
                  <a:srgbClr val="FF0000"/>
                </a:solidFill>
                <a:effectLst/>
                <a:latin typeface="Arial" panose="020B0604020202020204" pitchFamily="34" charset="0"/>
                <a:cs typeface="Arial" panose="020B0604020202020204" pitchFamily="34" charset="0"/>
              </a:rPr>
              <a:t>Pueblos Indígenas </a:t>
            </a:r>
            <a:r>
              <a:rPr lang="es-MX" sz="1400" b="0" i="0" dirty="0">
                <a:solidFill>
                  <a:srgbClr val="666666"/>
                </a:solidFill>
                <a:effectLst/>
                <a:latin typeface="Arial" panose="020B0604020202020204" pitchFamily="34" charset="0"/>
                <a:cs typeface="Arial" panose="020B0604020202020204" pitchFamily="34" charset="0"/>
              </a:rPr>
              <a:t>es el </a:t>
            </a:r>
            <a:r>
              <a:rPr lang="es-MX" sz="1400" b="1" i="0" dirty="0">
                <a:solidFill>
                  <a:srgbClr val="666666"/>
                </a:solidFill>
                <a:effectLst/>
                <a:latin typeface="Arial" panose="020B0604020202020204" pitchFamily="34" charset="0"/>
                <a:cs typeface="Arial" panose="020B0604020202020204" pitchFamily="34" charset="0"/>
              </a:rPr>
              <a:t>derecho a tener su propio derecho, sus propias instituciones, sus propios mecanismos para organizarse socialmente y para determinar consecuencias ante el cumplimiento o incumplimiento de las normas que se establezcan</a:t>
            </a:r>
            <a:r>
              <a:rPr lang="es-MX" sz="1400" b="0" i="0" dirty="0">
                <a:solidFill>
                  <a:srgbClr val="666666"/>
                </a:solidFill>
                <a:effectLst/>
                <a:latin typeface="Arial" panose="020B0604020202020204" pitchFamily="34" charset="0"/>
                <a:cs typeface="Arial" panose="020B0604020202020204" pitchFamily="34" charset="0"/>
              </a:rPr>
              <a:t>”.</a:t>
            </a:r>
          </a:p>
          <a:p>
            <a:pPr algn="l" fontAlgn="base"/>
            <a:endParaRPr lang="es-MX" sz="1400" b="0" i="0" dirty="0">
              <a:solidFill>
                <a:srgbClr val="666666"/>
              </a:solidFill>
              <a:effectLst/>
              <a:latin typeface="Arial" panose="020B0604020202020204" pitchFamily="34" charset="0"/>
              <a:cs typeface="Arial" panose="020B0604020202020204" pitchFamily="34" charset="0"/>
            </a:endParaRPr>
          </a:p>
          <a:p>
            <a:pPr algn="l" fontAlgn="base"/>
            <a:r>
              <a:rPr lang="es-MX" sz="1400" b="0" i="0" dirty="0">
                <a:solidFill>
                  <a:srgbClr val="666666"/>
                </a:solidFill>
                <a:effectLst/>
                <a:latin typeface="Arial" panose="020B0604020202020204" pitchFamily="34" charset="0"/>
                <a:cs typeface="Arial" panose="020B0604020202020204" pitchFamily="34" charset="0"/>
              </a:rPr>
              <a:t>“Un corolario del derecho al autogobierno es el derecho al sistema jurídico propio”, dijo por su parte Francisco Cali, relator especial sobre los Derechos de los PI de las NNUU,. “Mientras que el sistema jurídico estatal es punitivo, el sistema jurídico de los pueblos indígenas es reparador”,.</a:t>
            </a:r>
          </a:p>
        </p:txBody>
      </p:sp>
    </p:spTree>
    <p:extLst>
      <p:ext uri="{BB962C8B-B14F-4D97-AF65-F5344CB8AC3E}">
        <p14:creationId xmlns:p14="http://schemas.microsoft.com/office/powerpoint/2010/main" val="3876496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Marcador de contenido 3">
            <a:extLst>
              <a:ext uri="{FF2B5EF4-FFF2-40B4-BE49-F238E27FC236}">
                <a16:creationId xmlns:a16="http://schemas.microsoft.com/office/drawing/2014/main" id="{36206BCD-A942-4CFE-A8C0-27C2FEC1EBA0}"/>
              </a:ext>
            </a:extLst>
          </p:cNvPr>
          <p:cNvGraphicFramePr>
            <a:graphicFrameLocks/>
          </p:cNvGraphicFramePr>
          <p:nvPr>
            <p:extLst>
              <p:ext uri="{D42A27DB-BD31-4B8C-83A1-F6EECF244321}">
                <p14:modId xmlns:p14="http://schemas.microsoft.com/office/powerpoint/2010/main" val="466006992"/>
              </p:ext>
            </p:extLst>
          </p:nvPr>
        </p:nvGraphicFramePr>
        <p:xfrm>
          <a:off x="1351162" y="0"/>
          <a:ext cx="8272235" cy="26486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uadroTexto 6">
            <a:extLst>
              <a:ext uri="{FF2B5EF4-FFF2-40B4-BE49-F238E27FC236}">
                <a16:creationId xmlns:a16="http://schemas.microsoft.com/office/drawing/2014/main" id="{714B2DA9-0DCC-4CE2-B24C-471C3A619F8E}"/>
              </a:ext>
            </a:extLst>
          </p:cNvPr>
          <p:cNvSpPr txBox="1"/>
          <p:nvPr/>
        </p:nvSpPr>
        <p:spPr>
          <a:xfrm>
            <a:off x="4923344" y="122789"/>
            <a:ext cx="1127872"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Acápites: </a:t>
            </a:r>
          </a:p>
        </p:txBody>
      </p:sp>
      <p:graphicFrame>
        <p:nvGraphicFramePr>
          <p:cNvPr id="2" name="Diagrama 1">
            <a:extLst>
              <a:ext uri="{FF2B5EF4-FFF2-40B4-BE49-F238E27FC236}">
                <a16:creationId xmlns:a16="http://schemas.microsoft.com/office/drawing/2014/main" id="{7B817924-56A9-4466-B92D-E91DE4045AFC}"/>
              </a:ext>
            </a:extLst>
          </p:cNvPr>
          <p:cNvGraphicFramePr/>
          <p:nvPr>
            <p:extLst>
              <p:ext uri="{D42A27DB-BD31-4B8C-83A1-F6EECF244321}">
                <p14:modId xmlns:p14="http://schemas.microsoft.com/office/powerpoint/2010/main" val="2284734748"/>
              </p:ext>
            </p:extLst>
          </p:nvPr>
        </p:nvGraphicFramePr>
        <p:xfrm>
          <a:off x="1481721" y="2648607"/>
          <a:ext cx="9802648" cy="364191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Flecha: hacia abajo 5">
            <a:extLst>
              <a:ext uri="{FF2B5EF4-FFF2-40B4-BE49-F238E27FC236}">
                <a16:creationId xmlns:a16="http://schemas.microsoft.com/office/drawing/2014/main" id="{C15A0E70-F32D-40E4-AEC5-FAC698E9AB5A}"/>
              </a:ext>
            </a:extLst>
          </p:cNvPr>
          <p:cNvSpPr/>
          <p:nvPr/>
        </p:nvSpPr>
        <p:spPr>
          <a:xfrm>
            <a:off x="5255173" y="1931623"/>
            <a:ext cx="1127872" cy="672662"/>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pic>
        <p:nvPicPr>
          <p:cNvPr id="10" name="Imagen 9">
            <a:extLst>
              <a:ext uri="{FF2B5EF4-FFF2-40B4-BE49-F238E27FC236}">
                <a16:creationId xmlns:a16="http://schemas.microsoft.com/office/drawing/2014/main" id="{8CCE0DE3-B1B8-4B33-8FDB-06A7852FF971}"/>
              </a:ext>
            </a:extLst>
          </p:cNvPr>
          <p:cNvPicPr>
            <a:picLocks noChangeAspect="1"/>
          </p:cNvPicPr>
          <p:nvPr/>
        </p:nvPicPr>
        <p:blipFill>
          <a:blip r:embed="rId12"/>
          <a:stretch>
            <a:fillRect/>
          </a:stretch>
        </p:blipFill>
        <p:spPr>
          <a:xfrm>
            <a:off x="154914" y="122789"/>
            <a:ext cx="1528078" cy="1913940"/>
          </a:xfrm>
          <a:prstGeom prst="rect">
            <a:avLst/>
          </a:prstGeom>
        </p:spPr>
      </p:pic>
      <p:pic>
        <p:nvPicPr>
          <p:cNvPr id="8" name="Imagen 7">
            <a:extLst>
              <a:ext uri="{FF2B5EF4-FFF2-40B4-BE49-F238E27FC236}">
                <a16:creationId xmlns:a16="http://schemas.microsoft.com/office/drawing/2014/main" id="{C072216C-0012-4202-860D-195C59164874}"/>
              </a:ext>
            </a:extLst>
          </p:cNvPr>
          <p:cNvPicPr>
            <a:picLocks noChangeAspect="1"/>
          </p:cNvPicPr>
          <p:nvPr/>
        </p:nvPicPr>
        <p:blipFill>
          <a:blip r:embed="rId13"/>
          <a:stretch>
            <a:fillRect/>
          </a:stretch>
        </p:blipFill>
        <p:spPr>
          <a:xfrm>
            <a:off x="10287055" y="2695203"/>
            <a:ext cx="1528079" cy="2034452"/>
          </a:xfrm>
          <a:prstGeom prst="rect">
            <a:avLst/>
          </a:prstGeom>
        </p:spPr>
      </p:pic>
      <p:pic>
        <p:nvPicPr>
          <p:cNvPr id="4" name="Imagen 3">
            <a:extLst>
              <a:ext uri="{FF2B5EF4-FFF2-40B4-BE49-F238E27FC236}">
                <a16:creationId xmlns:a16="http://schemas.microsoft.com/office/drawing/2014/main" id="{D8CD0DBD-84AF-4E62-8E5E-7CC54484FABD}"/>
              </a:ext>
            </a:extLst>
          </p:cNvPr>
          <p:cNvPicPr>
            <a:picLocks noChangeAspect="1"/>
          </p:cNvPicPr>
          <p:nvPr/>
        </p:nvPicPr>
        <p:blipFill>
          <a:blip r:embed="rId14"/>
          <a:stretch>
            <a:fillRect/>
          </a:stretch>
        </p:blipFill>
        <p:spPr>
          <a:xfrm>
            <a:off x="186917" y="2815716"/>
            <a:ext cx="1528078" cy="19139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p:spPr>
      </p:pic>
      <p:pic>
        <p:nvPicPr>
          <p:cNvPr id="11" name="Picture 2" descr="T R D 2009">
            <a:extLst>
              <a:ext uri="{FF2B5EF4-FFF2-40B4-BE49-F238E27FC236}">
                <a16:creationId xmlns:a16="http://schemas.microsoft.com/office/drawing/2014/main" id="{2AB752B7-F324-4CC4-A699-5E6D5C6ACDE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735102" y="0"/>
            <a:ext cx="1348770" cy="1650124"/>
          </a:xfrm>
          <a:prstGeom prst="rect">
            <a:avLst/>
          </a:prstGeom>
          <a:noFill/>
          <a:ln>
            <a:solidFill>
              <a:schemeClr val="tx2"/>
            </a:solidFill>
          </a:ln>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8A7D9878-9E99-4ADC-8CB6-20D47514B5CD}"/>
              </a:ext>
            </a:extLst>
          </p:cNvPr>
          <p:cNvPicPr>
            <a:picLocks noChangeAspect="1"/>
          </p:cNvPicPr>
          <p:nvPr/>
        </p:nvPicPr>
        <p:blipFill>
          <a:blip r:embed="rId16"/>
          <a:stretch>
            <a:fillRect/>
          </a:stretch>
        </p:blipFill>
        <p:spPr>
          <a:xfrm>
            <a:off x="9401666" y="154528"/>
            <a:ext cx="1127872" cy="98845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3" name="Imagen 12">
            <a:extLst>
              <a:ext uri="{FF2B5EF4-FFF2-40B4-BE49-F238E27FC236}">
                <a16:creationId xmlns:a16="http://schemas.microsoft.com/office/drawing/2014/main" id="{7DF592CA-D067-4D31-946D-FDD66711F523}"/>
              </a:ext>
            </a:extLst>
          </p:cNvPr>
          <p:cNvPicPr>
            <a:picLocks noChangeAspect="1"/>
          </p:cNvPicPr>
          <p:nvPr/>
        </p:nvPicPr>
        <p:blipFill>
          <a:blip r:embed="rId17"/>
          <a:stretch>
            <a:fillRect/>
          </a:stretch>
        </p:blipFill>
        <p:spPr>
          <a:xfrm>
            <a:off x="1867098" y="71707"/>
            <a:ext cx="1243964" cy="83218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69343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2" descr="Convenio 169 de la OIT">
            <a:extLst>
              <a:ext uri="{FF2B5EF4-FFF2-40B4-BE49-F238E27FC236}">
                <a16:creationId xmlns:a16="http://schemas.microsoft.com/office/drawing/2014/main" id="{26332425-A373-4230-BB63-24A64A98D5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BO"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21" name="AutoShape 4" descr="72 años de la Declaración Universal de Derechos Humanos – COPROFAM">
            <a:extLst>
              <a:ext uri="{FF2B5EF4-FFF2-40B4-BE49-F238E27FC236}">
                <a16:creationId xmlns:a16="http://schemas.microsoft.com/office/drawing/2014/main" id="{C41EF523-BD46-48CD-A969-BC07D23672F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BO"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8" name="CuadroTexto 7">
            <a:extLst>
              <a:ext uri="{FF2B5EF4-FFF2-40B4-BE49-F238E27FC236}">
                <a16:creationId xmlns:a16="http://schemas.microsoft.com/office/drawing/2014/main" id="{6E69E59D-CF05-4177-85FE-C2A9A50A6DA3}"/>
              </a:ext>
            </a:extLst>
          </p:cNvPr>
          <p:cNvSpPr txBox="1"/>
          <p:nvPr/>
        </p:nvSpPr>
        <p:spPr>
          <a:xfrm>
            <a:off x="0" y="0"/>
            <a:ext cx="2364828" cy="375552"/>
          </a:xfrm>
          <a:prstGeom prst="rect">
            <a:avLst/>
          </a:prstGeom>
          <a:solidFill>
            <a:schemeClr val="accent3">
              <a:lumMod val="40000"/>
              <a:lumOff val="60000"/>
            </a:schemeClr>
          </a:solidFill>
        </p:spPr>
        <p:txBody>
          <a:bodyPr wrap="square">
            <a:spAutoFit/>
          </a:bodyPr>
          <a:lstStyle/>
          <a:p>
            <a:pPr algn="just">
              <a:lnSpc>
                <a:spcPct val="107000"/>
              </a:lnSpc>
              <a:spcAft>
                <a:spcPts val="800"/>
              </a:spcAft>
            </a:pPr>
            <a:r>
              <a:rPr lang="es-BO" sz="1800" b="1" dirty="0">
                <a:effectLst/>
                <a:latin typeface="Calibri" panose="020F0502020204030204" pitchFamily="34" charset="0"/>
                <a:ea typeface="Calibri" panose="020F0502020204030204" pitchFamily="34" charset="0"/>
                <a:cs typeface="Times New Roman" panose="02020603050405020304" pitchFamily="18" charset="0"/>
              </a:rPr>
              <a:t>II.1. INTRODUCCIÓN </a:t>
            </a:r>
            <a:endParaRPr lang="es-BO" sz="1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Diagrama 2">
            <a:extLst>
              <a:ext uri="{FF2B5EF4-FFF2-40B4-BE49-F238E27FC236}">
                <a16:creationId xmlns:a16="http://schemas.microsoft.com/office/drawing/2014/main" id="{4174E60C-66F2-4A4A-A1D2-ABACA578351A}"/>
              </a:ext>
            </a:extLst>
          </p:cNvPr>
          <p:cNvGraphicFramePr/>
          <p:nvPr>
            <p:extLst>
              <p:ext uri="{D42A27DB-BD31-4B8C-83A1-F6EECF244321}">
                <p14:modId xmlns:p14="http://schemas.microsoft.com/office/powerpoint/2010/main" val="3257537402"/>
              </p:ext>
            </p:extLst>
          </p:nvPr>
        </p:nvGraphicFramePr>
        <p:xfrm>
          <a:off x="182178" y="0"/>
          <a:ext cx="11873188" cy="670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CuadroTexto 9">
            <a:extLst>
              <a:ext uri="{FF2B5EF4-FFF2-40B4-BE49-F238E27FC236}">
                <a16:creationId xmlns:a16="http://schemas.microsoft.com/office/drawing/2014/main" id="{7ABF752D-4E5C-40C6-9575-59551CCA8F91}"/>
              </a:ext>
            </a:extLst>
          </p:cNvPr>
          <p:cNvSpPr txBox="1"/>
          <p:nvPr/>
        </p:nvSpPr>
        <p:spPr>
          <a:xfrm>
            <a:off x="1778876" y="5320605"/>
            <a:ext cx="3213538" cy="1600438"/>
          </a:xfrm>
          <a:prstGeom prst="rect">
            <a:avLst/>
          </a:prstGeom>
          <a:solidFill>
            <a:schemeClr val="bg1">
              <a:lumMod val="95000"/>
            </a:schemeClr>
          </a:solidFill>
          <a:ln>
            <a:solidFill>
              <a:srgbClr val="FF0000"/>
            </a:solidFill>
          </a:ln>
        </p:spPr>
        <p:txBody>
          <a:bodyPr wrap="square">
            <a:spAutoFit/>
          </a:bodyPr>
          <a:lstStyle/>
          <a:p>
            <a:pPr algn="just">
              <a:spcAft>
                <a:spcPts val="800"/>
              </a:spcAft>
            </a:pPr>
            <a:r>
              <a:rPr lang="es-BO" sz="1400" b="1" dirty="0">
                <a:solidFill>
                  <a:srgbClr val="FF0000"/>
                </a:solidFill>
                <a:effectLst/>
                <a:latin typeface="Cambria" panose="02040503050406030204" pitchFamily="18" charset="0"/>
                <a:ea typeface="Calibri" panose="020F0502020204030204" pitchFamily="34" charset="0"/>
                <a:cs typeface="Cambria" panose="02040503050406030204" pitchFamily="18" charset="0"/>
              </a:rPr>
              <a:t>a. </a:t>
            </a:r>
            <a:r>
              <a:rPr lang="es-BO" sz="1400" b="1" i="1" dirty="0">
                <a:effectLst/>
                <a:latin typeface="Cambria" panose="02040503050406030204" pitchFamily="18" charset="0"/>
                <a:ea typeface="Calibri" panose="020F0502020204030204" pitchFamily="34" charset="0"/>
                <a:cs typeface="Cambria" panose="02040503050406030204" pitchFamily="18" charset="0"/>
              </a:rPr>
              <a:t>Definir su competencia</a:t>
            </a:r>
            <a:r>
              <a:rPr lang="es-BO" sz="1400" dirty="0">
                <a:solidFill>
                  <a:srgbClr val="FF0000"/>
                </a:solidFill>
                <a:effectLst/>
                <a:latin typeface="Cambria" panose="02040503050406030204" pitchFamily="18" charset="0"/>
                <a:ea typeface="Calibri" panose="020F0502020204030204" pitchFamily="34" charset="0"/>
                <a:cs typeface="Cambria" panose="02040503050406030204" pitchFamily="18" charset="0"/>
              </a:rPr>
              <a:t>, con la finalidad de no invadir la jurisdicción IOC y actuar en el marco del respeto al pluralismo jurídico igualitario y los derechos de las NPIOC a la libre determinación y a ejercer sus sistemas jurídicos; y </a:t>
            </a:r>
            <a:endParaRPr lang="es-BO"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CuadroTexto 10">
            <a:extLst>
              <a:ext uri="{FF2B5EF4-FFF2-40B4-BE49-F238E27FC236}">
                <a16:creationId xmlns:a16="http://schemas.microsoft.com/office/drawing/2014/main" id="{A4C7F387-BFD7-4EEE-9CA4-CF18A316F18A}"/>
              </a:ext>
            </a:extLst>
          </p:cNvPr>
          <p:cNvSpPr txBox="1"/>
          <p:nvPr/>
        </p:nvSpPr>
        <p:spPr>
          <a:xfrm>
            <a:off x="5174592" y="5320605"/>
            <a:ext cx="2813270" cy="1569660"/>
          </a:xfrm>
          <a:prstGeom prst="rect">
            <a:avLst/>
          </a:prstGeom>
          <a:solidFill>
            <a:schemeClr val="bg1">
              <a:lumMod val="95000"/>
            </a:schemeClr>
          </a:solidFill>
          <a:ln>
            <a:solidFill>
              <a:srgbClr val="FF0000"/>
            </a:solidFill>
          </a:ln>
        </p:spPr>
        <p:txBody>
          <a:bodyPr wrap="square">
            <a:spAutoFit/>
          </a:bodyPr>
          <a:lstStyle/>
          <a:p>
            <a:pPr algn="just">
              <a:spcAft>
                <a:spcPts val="800"/>
              </a:spcAft>
            </a:pPr>
            <a:r>
              <a:rPr lang="es-BO" sz="1600" b="1" dirty="0">
                <a:solidFill>
                  <a:srgbClr val="FF0000"/>
                </a:solidFill>
                <a:effectLst/>
                <a:latin typeface="Cambria" panose="02040503050406030204" pitchFamily="18" charset="0"/>
                <a:ea typeface="Calibri" panose="020F0502020204030204" pitchFamily="34" charset="0"/>
                <a:cs typeface="Cambria" panose="02040503050406030204" pitchFamily="18" charset="0"/>
              </a:rPr>
              <a:t>b. </a:t>
            </a:r>
            <a:r>
              <a:rPr lang="es-BO" sz="1600" dirty="0">
                <a:effectLst/>
                <a:latin typeface="Cambria" panose="02040503050406030204" pitchFamily="18" charset="0"/>
                <a:ea typeface="Calibri" panose="020F0502020204030204" pitchFamily="34" charset="0"/>
                <a:cs typeface="Cambria" panose="02040503050406030204" pitchFamily="18" charset="0"/>
              </a:rPr>
              <a:t>Garantizar el acceso a la justicia plural de las NPIOC o de sus miembros</a:t>
            </a:r>
            <a:r>
              <a:rPr lang="es-BO" sz="1600" dirty="0">
                <a:solidFill>
                  <a:srgbClr val="FF0000"/>
                </a:solidFill>
                <a:effectLst/>
                <a:latin typeface="Cambria" panose="02040503050406030204" pitchFamily="18" charset="0"/>
                <a:ea typeface="Calibri" panose="020F0502020204030204" pitchFamily="34" charset="0"/>
                <a:cs typeface="Cambria" panose="02040503050406030204" pitchFamily="18" charset="0"/>
              </a:rPr>
              <a:t>, una vez definida qué autoridad jurisdiccional es competente para conocer el caso. </a:t>
            </a:r>
            <a:endParaRPr lang="es-BO" sz="16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 name="Conector recto de flecha 5">
            <a:extLst>
              <a:ext uri="{FF2B5EF4-FFF2-40B4-BE49-F238E27FC236}">
                <a16:creationId xmlns:a16="http://schemas.microsoft.com/office/drawing/2014/main" id="{6EB6E888-853D-4382-A97C-6C3139A959CD}"/>
              </a:ext>
            </a:extLst>
          </p:cNvPr>
          <p:cNvCxnSpPr>
            <a:cxnSpLocks/>
          </p:cNvCxnSpPr>
          <p:nvPr/>
        </p:nvCxnSpPr>
        <p:spPr>
          <a:xfrm flipH="1">
            <a:off x="3804745" y="4561490"/>
            <a:ext cx="977462" cy="75911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F1FA37C8-ACD2-481C-B7F0-AC79426A297D}"/>
              </a:ext>
            </a:extLst>
          </p:cNvPr>
          <p:cNvCxnSpPr>
            <a:cxnSpLocks/>
          </p:cNvCxnSpPr>
          <p:nvPr/>
        </p:nvCxnSpPr>
        <p:spPr>
          <a:xfrm>
            <a:off x="4992414" y="4561490"/>
            <a:ext cx="557048" cy="75911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F5F62051-B9DF-4C32-9201-D14B28CF3C23}"/>
              </a:ext>
            </a:extLst>
          </p:cNvPr>
          <p:cNvSpPr txBox="1"/>
          <p:nvPr/>
        </p:nvSpPr>
        <p:spPr>
          <a:xfrm>
            <a:off x="4794031" y="443915"/>
            <a:ext cx="2813270" cy="1077218"/>
          </a:xfrm>
          <a:prstGeom prst="rect">
            <a:avLst/>
          </a:prstGeom>
          <a:solidFill>
            <a:schemeClr val="bg1">
              <a:lumMod val="95000"/>
            </a:schemeClr>
          </a:solidFill>
          <a:ln>
            <a:solidFill>
              <a:srgbClr val="FF0000"/>
            </a:solidFill>
          </a:ln>
        </p:spPr>
        <p:txBody>
          <a:bodyPr wrap="square">
            <a:spAutoFit/>
          </a:bodyPr>
          <a:lstStyle/>
          <a:p>
            <a:pPr algn="just">
              <a:spcAft>
                <a:spcPts val="800"/>
              </a:spcAft>
            </a:pPr>
            <a:r>
              <a:rPr lang="es-BO" sz="1600" b="1" dirty="0">
                <a:solidFill>
                  <a:srgbClr val="FF0000"/>
                </a:solidFill>
                <a:effectLst/>
                <a:latin typeface="Cambria" panose="02040503050406030204" pitchFamily="18" charset="0"/>
                <a:ea typeface="Calibri" panose="020F0502020204030204" pitchFamily="34" charset="0"/>
                <a:cs typeface="Cambria" panose="02040503050406030204" pitchFamily="18" charset="0"/>
              </a:rPr>
              <a:t>a. </a:t>
            </a:r>
            <a:r>
              <a:rPr lang="es-BO" sz="1600" dirty="0">
                <a:solidFill>
                  <a:srgbClr val="FF0000"/>
                </a:solidFill>
                <a:effectLst/>
                <a:latin typeface="Cambria" panose="02040503050406030204" pitchFamily="18" charset="0"/>
                <a:ea typeface="Calibri" panose="020F0502020204030204" pitchFamily="34" charset="0"/>
                <a:cs typeface="Cambria" panose="02040503050406030204" pitchFamily="18" charset="0"/>
              </a:rPr>
              <a:t>Analizar la lesión de derechos individuales por la aplicación de normas y procedimientos de las NPIOC, </a:t>
            </a:r>
            <a:endParaRPr lang="es-BO"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190C1D20-F947-4535-8B50-3374ED8DADE0}"/>
              </a:ext>
            </a:extLst>
          </p:cNvPr>
          <p:cNvSpPr txBox="1"/>
          <p:nvPr/>
        </p:nvSpPr>
        <p:spPr>
          <a:xfrm>
            <a:off x="7789479" y="382359"/>
            <a:ext cx="2489638" cy="1200329"/>
          </a:xfrm>
          <a:prstGeom prst="rect">
            <a:avLst/>
          </a:prstGeom>
          <a:solidFill>
            <a:schemeClr val="bg1">
              <a:lumMod val="95000"/>
            </a:schemeClr>
          </a:solidFill>
          <a:ln>
            <a:solidFill>
              <a:srgbClr val="FF0000"/>
            </a:solidFill>
          </a:ln>
        </p:spPr>
        <p:txBody>
          <a:bodyPr wrap="square">
            <a:spAutoFit/>
          </a:bodyPr>
          <a:lstStyle/>
          <a:p>
            <a:pPr algn="just">
              <a:spcAft>
                <a:spcPts val="800"/>
              </a:spcAft>
            </a:pPr>
            <a:r>
              <a:rPr lang="es-BO" sz="1400" b="1" dirty="0">
                <a:solidFill>
                  <a:srgbClr val="FF0000"/>
                </a:solidFill>
                <a:effectLst/>
                <a:latin typeface="Cambria" panose="02040503050406030204" pitchFamily="18" charset="0"/>
                <a:ea typeface="Calibri" panose="020F0502020204030204" pitchFamily="34" charset="0"/>
                <a:cs typeface="Cambria" panose="02040503050406030204" pitchFamily="18" charset="0"/>
              </a:rPr>
              <a:t>b. </a:t>
            </a:r>
            <a:r>
              <a:rPr lang="es-BO" sz="1400" dirty="0">
                <a:solidFill>
                  <a:srgbClr val="FF0000"/>
                </a:solidFill>
                <a:effectLst/>
                <a:latin typeface="Cambria" panose="02040503050406030204" pitchFamily="18" charset="0"/>
                <a:ea typeface="Calibri" panose="020F0502020204030204" pitchFamily="34" charset="0"/>
                <a:cs typeface="Cambria" panose="02040503050406030204" pitchFamily="18" charset="0"/>
              </a:rPr>
              <a:t>Tramitar y resolver las acciones populares que presenten las NPIOC en defensa de sus derechos colectivos.</a:t>
            </a:r>
            <a:r>
              <a:rPr lang="es-BO" sz="1600" dirty="0">
                <a:solidFill>
                  <a:srgbClr val="FF0000"/>
                </a:solidFill>
                <a:effectLst/>
                <a:latin typeface="Cambria" panose="02040503050406030204" pitchFamily="18" charset="0"/>
                <a:ea typeface="Calibri" panose="020F0502020204030204" pitchFamily="34" charset="0"/>
                <a:cs typeface="Cambria" panose="02040503050406030204" pitchFamily="18" charset="0"/>
              </a:rPr>
              <a:t>, </a:t>
            </a:r>
            <a:endParaRPr lang="es-BO" sz="16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4" name="Conector recto de flecha 23">
            <a:extLst>
              <a:ext uri="{FF2B5EF4-FFF2-40B4-BE49-F238E27FC236}">
                <a16:creationId xmlns:a16="http://schemas.microsoft.com/office/drawing/2014/main" id="{C0F079FF-51FD-4658-A53C-49181B7EE961}"/>
              </a:ext>
            </a:extLst>
          </p:cNvPr>
          <p:cNvCxnSpPr>
            <a:cxnSpLocks/>
          </p:cNvCxnSpPr>
          <p:nvPr/>
        </p:nvCxnSpPr>
        <p:spPr>
          <a:xfrm flipV="1">
            <a:off x="8773949" y="1258769"/>
            <a:ext cx="161157" cy="86328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E0F9F969-038F-47CB-9764-16C4CF6CE3C0}"/>
              </a:ext>
            </a:extLst>
          </p:cNvPr>
          <p:cNvCxnSpPr>
            <a:cxnSpLocks/>
          </p:cNvCxnSpPr>
          <p:nvPr/>
        </p:nvCxnSpPr>
        <p:spPr>
          <a:xfrm flipH="1" flipV="1">
            <a:off x="6581228" y="1408387"/>
            <a:ext cx="469899" cy="71366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8109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9AE65CC-7A6B-431F-965C-68FBADE17F99}"/>
              </a:ext>
            </a:extLst>
          </p:cNvPr>
          <p:cNvSpPr txBox="1"/>
          <p:nvPr/>
        </p:nvSpPr>
        <p:spPr>
          <a:xfrm>
            <a:off x="1492470" y="77712"/>
            <a:ext cx="9375227" cy="369332"/>
          </a:xfrm>
          <a:prstGeom prst="rect">
            <a:avLst/>
          </a:prstGeom>
          <a:solidFill>
            <a:srgbClr val="FFFF00"/>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II.2. Consideraciones generales para la construcción de relaciones de igualdad y respeto </a:t>
            </a:r>
            <a:endParaRPr kumimoji="0" lang="es-BO"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uadroTexto 8">
            <a:extLst>
              <a:ext uri="{FF2B5EF4-FFF2-40B4-BE49-F238E27FC236}">
                <a16:creationId xmlns:a16="http://schemas.microsoft.com/office/drawing/2014/main" id="{85F5B24C-AAE3-4522-B61E-AC907648EAFC}"/>
              </a:ext>
            </a:extLst>
          </p:cNvPr>
          <p:cNvSpPr txBox="1"/>
          <p:nvPr/>
        </p:nvSpPr>
        <p:spPr>
          <a:xfrm>
            <a:off x="7155136" y="532636"/>
            <a:ext cx="4827587" cy="1711107"/>
          </a:xfrm>
          <a:prstGeom prst="roundRect">
            <a:avLst/>
          </a:prstGeom>
          <a:solidFill>
            <a:schemeClr val="tx1">
              <a:lumMod val="85000"/>
            </a:schemeClr>
          </a:solidFill>
          <a:ln w="76200">
            <a:solidFill>
              <a:srgbClr val="FFFF00"/>
            </a:solidFill>
          </a:ln>
        </p:spPr>
        <p:txBody>
          <a:bodyPr wrap="square">
            <a:spAutoFit/>
          </a:bodyPr>
          <a:lstStyle/>
          <a:p>
            <a:pPr marL="0" lvl="1" indent="0" algn="just" defTabSz="622300">
              <a:lnSpc>
                <a:spcPct val="90000"/>
              </a:lnSpc>
              <a:spcBef>
                <a:spcPct val="0"/>
              </a:spcBef>
              <a:spcAft>
                <a:spcPct val="15000"/>
              </a:spcAft>
              <a:buChar char="•"/>
            </a:pPr>
            <a:r>
              <a:rPr lang="es-MX" sz="1400" b="0" i="0" u="none" strike="noStrike" kern="1200" baseline="0" dirty="0">
                <a:solidFill>
                  <a:srgbClr val="000000"/>
                </a:solidFill>
                <a:latin typeface="Arial" panose="020B0604020202020204" pitchFamily="34" charset="0"/>
                <a:cs typeface="Arial" panose="020B0604020202020204" pitchFamily="34" charset="0"/>
              </a:rPr>
              <a:t>Consideraciones destinados, a las </a:t>
            </a:r>
            <a:r>
              <a:rPr lang="es-MX" sz="1400" b="1" i="1" u="sng" strike="noStrike" kern="1200" baseline="0" dirty="0">
                <a:solidFill>
                  <a:srgbClr val="FF0000"/>
                </a:solidFill>
                <a:latin typeface="Arial" panose="020B0604020202020204" pitchFamily="34" charset="0"/>
                <a:cs typeface="Arial" panose="020B0604020202020204" pitchFamily="34" charset="0"/>
              </a:rPr>
              <a:t>autoridades jurisdiccionales, próximos a la jurisdicción de las NPIOC , para que se informen </a:t>
            </a:r>
            <a:endParaRPr lang="es-BO" sz="1400" kern="1200" dirty="0">
              <a:latin typeface="Arial" panose="020B0604020202020204" pitchFamily="34" charset="0"/>
              <a:cs typeface="Arial" panose="020B0604020202020204" pitchFamily="34" charset="0"/>
            </a:endParaRPr>
          </a:p>
          <a:p>
            <a:pPr marL="114300" lvl="1" indent="0" algn="just" defTabSz="622300">
              <a:lnSpc>
                <a:spcPct val="90000"/>
              </a:lnSpc>
              <a:spcBef>
                <a:spcPct val="0"/>
              </a:spcBef>
              <a:spcAft>
                <a:spcPct val="15000"/>
              </a:spcAft>
              <a:buChar char="•"/>
            </a:pPr>
            <a:r>
              <a:rPr lang="es-MX" sz="1400" b="0" i="0" u="none" strike="noStrike" kern="1200" baseline="0" dirty="0">
                <a:solidFill>
                  <a:srgbClr val="000000"/>
                </a:solidFill>
                <a:latin typeface="Arial" panose="020B0604020202020204" pitchFamily="34" charset="0"/>
                <a:cs typeface="Arial" panose="020B0604020202020204" pitchFamily="34" charset="0"/>
              </a:rPr>
              <a:t>normas, procedimientos, </a:t>
            </a:r>
            <a:endParaRPr lang="es-BO" sz="1400" kern="1200" dirty="0">
              <a:latin typeface="Arial" panose="020B0604020202020204" pitchFamily="34" charset="0"/>
              <a:cs typeface="Arial" panose="020B0604020202020204" pitchFamily="34" charset="0"/>
            </a:endParaRPr>
          </a:p>
          <a:p>
            <a:pPr marL="114300" lvl="1" indent="0" algn="just" defTabSz="622300">
              <a:lnSpc>
                <a:spcPct val="90000"/>
              </a:lnSpc>
              <a:spcBef>
                <a:spcPct val="0"/>
              </a:spcBef>
              <a:spcAft>
                <a:spcPct val="15000"/>
              </a:spcAft>
              <a:buChar char="•"/>
            </a:pPr>
            <a:r>
              <a:rPr lang="es-MX" sz="1400" b="0" i="0" u="none" strike="noStrike" kern="1200" baseline="0" dirty="0">
                <a:solidFill>
                  <a:srgbClr val="000000"/>
                </a:solidFill>
                <a:latin typeface="Arial" panose="020B0604020202020204" pitchFamily="34" charset="0"/>
                <a:cs typeface="Arial" panose="020B0604020202020204" pitchFamily="34" charset="0"/>
              </a:rPr>
              <a:t>instituciones autoridades y,</a:t>
            </a:r>
          </a:p>
          <a:p>
            <a:pPr marL="0" lvl="1" indent="0" algn="just" defTabSz="622300">
              <a:lnSpc>
                <a:spcPct val="90000"/>
              </a:lnSpc>
              <a:spcBef>
                <a:spcPct val="0"/>
              </a:spcBef>
              <a:spcAft>
                <a:spcPct val="15000"/>
              </a:spcAft>
              <a:buNone/>
            </a:pPr>
            <a:r>
              <a:rPr lang="es-MX" sz="1400" b="1" i="0" u="none" strike="noStrike" kern="1200" baseline="0" dirty="0">
                <a:solidFill>
                  <a:srgbClr val="000000"/>
                </a:solidFill>
                <a:latin typeface="Arial" panose="020B0604020202020204" pitchFamily="34" charset="0"/>
                <a:cs typeface="Arial" panose="020B0604020202020204" pitchFamily="34" charset="0"/>
              </a:rPr>
              <a:t>sobre esa base, generar relaciones de igualdad y respeto con las autoridades de la jurisdicción IOC</a:t>
            </a:r>
            <a:endParaRPr lang="es-BO" sz="1400" b="1" kern="1200" dirty="0">
              <a:latin typeface="Arial" panose="020B0604020202020204" pitchFamily="34" charset="0"/>
              <a:cs typeface="Arial" panose="020B0604020202020204" pitchFamily="34" charset="0"/>
            </a:endParaRPr>
          </a:p>
        </p:txBody>
      </p:sp>
      <p:sp>
        <p:nvSpPr>
          <p:cNvPr id="10" name="CuadroTexto 9">
            <a:extLst>
              <a:ext uri="{FF2B5EF4-FFF2-40B4-BE49-F238E27FC236}">
                <a16:creationId xmlns:a16="http://schemas.microsoft.com/office/drawing/2014/main" id="{E2718D6C-42CF-47DB-A3B5-140B83DFAC74}"/>
              </a:ext>
            </a:extLst>
          </p:cNvPr>
          <p:cNvSpPr txBox="1"/>
          <p:nvPr/>
        </p:nvSpPr>
        <p:spPr>
          <a:xfrm>
            <a:off x="8530760" y="2410333"/>
            <a:ext cx="3672000" cy="4081701"/>
          </a:xfrm>
          <a:prstGeom prst="roundRect">
            <a:avLst/>
          </a:prstGeom>
          <a:solidFill>
            <a:schemeClr val="accent4">
              <a:lumMod val="40000"/>
              <a:lumOff val="60000"/>
            </a:schemeClr>
          </a:solidFill>
          <a:ln w="76200"/>
        </p:spPr>
        <p:style>
          <a:lnRef idx="2">
            <a:schemeClr val="accent2"/>
          </a:lnRef>
          <a:fillRef idx="1">
            <a:schemeClr val="lt1"/>
          </a:fillRef>
          <a:effectRef idx="0">
            <a:schemeClr val="accent2"/>
          </a:effectRef>
          <a:fontRef idx="minor">
            <a:schemeClr val="dk1"/>
          </a:fontRef>
        </p:style>
        <p:txBody>
          <a:bodyPr wrap="square">
            <a:spAutoFit/>
          </a:bodyPr>
          <a:lstStyle/>
          <a:p>
            <a:pPr lvl="0" algn="just">
              <a:buClrTx/>
              <a:buSzTx/>
              <a:buFontTx/>
              <a:buNone/>
            </a:pPr>
            <a:r>
              <a:rPr kumimoji="0" lang="es-BO" sz="1400" b="0" i="0" u="none" strike="noStrike"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La relación interjurisdiccional sólo puede construirse a partir del reconocimiento de la diversidad y de la igualdad de las NPIOC  y de sus diferentes sistemas jurídicos (Principio de pluralismo jurídico igualitario), lo que conlleva necesariamente al conocimiento de los</a:t>
            </a:r>
          </a:p>
          <a:p>
            <a:pPr lvl="0" algn="just">
              <a:buClrTx/>
              <a:buSzTx/>
              <a:buFontTx/>
              <a:buNone/>
            </a:pPr>
            <a:r>
              <a:rPr kumimoji="0" lang="es-BO" sz="1400" b="0" i="0" u="none" strike="noStrike"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a:t>
            </a:r>
            <a:endParaRPr lang="es-BO" sz="1400" dirty="0"/>
          </a:p>
          <a:p>
            <a:pPr lvl="0" algn="just">
              <a:buClrTx/>
              <a:buSzTx/>
              <a:buFont typeface="Wingdings" panose="05000000000000000000" pitchFamily="2" charset="2"/>
              <a:buChar char=""/>
            </a:pPr>
            <a:r>
              <a:rPr kumimoji="0" lang="es-BO" sz="1400" b="0" i="0" u="none" strike="noStrike"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Sistemas jurídicos indígenas</a:t>
            </a:r>
          </a:p>
          <a:p>
            <a:pPr lvl="0" algn="just">
              <a:buClrTx/>
              <a:buSzTx/>
              <a:buFont typeface="Wingdings" panose="05000000000000000000" pitchFamily="2" charset="2"/>
              <a:buChar char=""/>
            </a:pPr>
            <a:r>
              <a:rPr kumimoji="0" lang="es-BO" sz="1400" b="0" i="0" u="none" strike="noStrike"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A las funciones de sus autoridades,</a:t>
            </a:r>
          </a:p>
          <a:p>
            <a:pPr lvl="0" algn="just">
              <a:buClrTx/>
              <a:buSzTx/>
              <a:buFont typeface="Wingdings" panose="05000000000000000000" pitchFamily="2" charset="2"/>
              <a:buChar char=""/>
            </a:pPr>
            <a:r>
              <a:rPr kumimoji="0" lang="es-BO" sz="1400" b="0" i="0" u="none" strike="noStrike"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A las competencias de la jurisdicción IOC (principio de interculturalidad), </a:t>
            </a:r>
          </a:p>
          <a:p>
            <a:pPr lvl="0" algn="just"/>
            <a:endParaRPr kumimoji="0" lang="es-BO" sz="1400" b="0" i="0" u="none" strike="noStrike"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a:p>
            <a:pPr lvl="0" algn="just"/>
            <a:r>
              <a:rPr kumimoji="0" lang="es-BO" sz="1400" b="0" i="0" u="none" strike="noStrike"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Desechando todo preconcepto, prejuicio o concepción de superioridad de una jurisdicción sobre la otra</a:t>
            </a:r>
            <a:r>
              <a:rPr kumimoji="0" lang="es-BO" sz="1400" b="0" i="0" u="none" strike="noStrike" cap="none" spc="0" normalizeH="0" baseline="0" noProof="0" dirty="0">
                <a:ln>
                  <a:noFill/>
                </a:ln>
                <a:solidFill>
                  <a:srgbClr val="000000"/>
                </a:solidFill>
                <a:effectLst/>
                <a:uLnTx/>
                <a:uFillTx/>
                <a:latin typeface="Cambria" panose="02040503050406030204" pitchFamily="18" charset="0"/>
                <a:ea typeface="Calibri" panose="020F0502020204030204" pitchFamily="34" charset="0"/>
                <a:cs typeface="Cambria" panose="02040503050406030204" pitchFamily="18" charset="0"/>
              </a:rPr>
              <a:t>.</a:t>
            </a:r>
          </a:p>
        </p:txBody>
      </p:sp>
      <p:sp>
        <p:nvSpPr>
          <p:cNvPr id="13" name="Flecha: curvada hacia la derecha 12">
            <a:extLst>
              <a:ext uri="{FF2B5EF4-FFF2-40B4-BE49-F238E27FC236}">
                <a16:creationId xmlns:a16="http://schemas.microsoft.com/office/drawing/2014/main" id="{F37DA9F0-E7E7-4A35-B208-36DDCC6A7554}"/>
              </a:ext>
            </a:extLst>
          </p:cNvPr>
          <p:cNvSpPr/>
          <p:nvPr/>
        </p:nvSpPr>
        <p:spPr>
          <a:xfrm rot="19129845">
            <a:off x="7676327" y="2148913"/>
            <a:ext cx="725940" cy="1733287"/>
          </a:xfrm>
          <a:prstGeom prst="curv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solidFill>
                <a:schemeClr val="tx1"/>
              </a:solidFill>
            </a:endParaRPr>
          </a:p>
        </p:txBody>
      </p:sp>
      <p:sp>
        <p:nvSpPr>
          <p:cNvPr id="18" name="CuadroTexto 17">
            <a:extLst>
              <a:ext uri="{FF2B5EF4-FFF2-40B4-BE49-F238E27FC236}">
                <a16:creationId xmlns:a16="http://schemas.microsoft.com/office/drawing/2014/main" id="{710F0524-D2B7-496A-8066-72BA6CB5D431}"/>
              </a:ext>
            </a:extLst>
          </p:cNvPr>
          <p:cNvSpPr txBox="1"/>
          <p:nvPr/>
        </p:nvSpPr>
        <p:spPr>
          <a:xfrm>
            <a:off x="209277" y="532636"/>
            <a:ext cx="4940792" cy="369332"/>
          </a:xfrm>
          <a:prstGeom prst="rect">
            <a:avLst/>
          </a:prstGeom>
          <a:solidFill>
            <a:schemeClr val="accent6">
              <a:lumMod val="40000"/>
              <a:lumOff val="60000"/>
            </a:schemeClr>
          </a:solidFill>
        </p:spPr>
        <p:txBody>
          <a:bodyPr wrap="square" rtlCol="0">
            <a:spAutoFit/>
          </a:bodyPr>
          <a:lstStyle/>
          <a:p>
            <a:r>
              <a:rPr lang="es-BO" sz="1800" b="1" dirty="0">
                <a:solidFill>
                  <a:srgbClr val="3D2A1F"/>
                </a:solidFill>
                <a:effectLst/>
                <a:latin typeface="Arial" panose="020B0604020202020204" pitchFamily="34" charset="0"/>
                <a:ea typeface="Times New Roman" panose="02020603050405020304" pitchFamily="18" charset="0"/>
                <a:cs typeface="Times New Roman" panose="02020603050405020304" pitchFamily="18" charset="0"/>
              </a:rPr>
              <a:t>CPE: Jurisdicción IOC:  Art, 190, 191 y 192 </a:t>
            </a:r>
            <a:endParaRPr lang="es-BO"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CuadroTexto 20">
            <a:extLst>
              <a:ext uri="{FF2B5EF4-FFF2-40B4-BE49-F238E27FC236}">
                <a16:creationId xmlns:a16="http://schemas.microsoft.com/office/drawing/2014/main" id="{CF4F78DD-6A41-4579-8D06-FDF318AB4B31}"/>
              </a:ext>
            </a:extLst>
          </p:cNvPr>
          <p:cNvSpPr txBox="1"/>
          <p:nvPr/>
        </p:nvSpPr>
        <p:spPr>
          <a:xfrm>
            <a:off x="209277" y="1015558"/>
            <a:ext cx="6668684" cy="1394775"/>
          </a:xfrm>
          <a:custGeom>
            <a:avLst/>
            <a:gdLst>
              <a:gd name="connsiteX0" fmla="*/ 0 w 6668684"/>
              <a:gd name="connsiteY0" fmla="*/ 0 h 1394775"/>
              <a:gd name="connsiteX1" fmla="*/ 713835 w 6668684"/>
              <a:gd name="connsiteY1" fmla="*/ 0 h 1394775"/>
              <a:gd name="connsiteX2" fmla="*/ 1105859 w 6668684"/>
              <a:gd name="connsiteY2" fmla="*/ 0 h 1394775"/>
              <a:gd name="connsiteX3" fmla="*/ 1819694 w 6668684"/>
              <a:gd name="connsiteY3" fmla="*/ 0 h 1394775"/>
              <a:gd name="connsiteX4" fmla="*/ 2469167 w 6668684"/>
              <a:gd name="connsiteY4" fmla="*/ 0 h 1394775"/>
              <a:gd name="connsiteX5" fmla="*/ 3054278 w 6668684"/>
              <a:gd name="connsiteY5" fmla="*/ 0 h 1394775"/>
              <a:gd name="connsiteX6" fmla="*/ 3703750 w 6668684"/>
              <a:gd name="connsiteY6" fmla="*/ 0 h 1394775"/>
              <a:gd name="connsiteX7" fmla="*/ 4353223 w 6668684"/>
              <a:gd name="connsiteY7" fmla="*/ 0 h 1394775"/>
              <a:gd name="connsiteX8" fmla="*/ 4938334 w 6668684"/>
              <a:gd name="connsiteY8" fmla="*/ 0 h 1394775"/>
              <a:gd name="connsiteX9" fmla="*/ 5523444 w 6668684"/>
              <a:gd name="connsiteY9" fmla="*/ 0 h 1394775"/>
              <a:gd name="connsiteX10" fmla="*/ 6436217 w 6668684"/>
              <a:gd name="connsiteY10" fmla="*/ 0 h 1394775"/>
              <a:gd name="connsiteX11" fmla="*/ 6668684 w 6668684"/>
              <a:gd name="connsiteY11" fmla="*/ 232467 h 1394775"/>
              <a:gd name="connsiteX12" fmla="*/ 6668684 w 6668684"/>
              <a:gd name="connsiteY12" fmla="*/ 790375 h 1394775"/>
              <a:gd name="connsiteX13" fmla="*/ 6668684 w 6668684"/>
              <a:gd name="connsiteY13" fmla="*/ 1394775 h 1394775"/>
              <a:gd name="connsiteX14" fmla="*/ 6668684 w 6668684"/>
              <a:gd name="connsiteY14" fmla="*/ 1394775 h 1394775"/>
              <a:gd name="connsiteX15" fmla="*/ 6212298 w 6668684"/>
              <a:gd name="connsiteY15" fmla="*/ 1394775 h 1394775"/>
              <a:gd name="connsiteX16" fmla="*/ 5691549 w 6668684"/>
              <a:gd name="connsiteY16" fmla="*/ 1394775 h 1394775"/>
              <a:gd name="connsiteX17" fmla="*/ 4977714 w 6668684"/>
              <a:gd name="connsiteY17" fmla="*/ 1394775 h 1394775"/>
              <a:gd name="connsiteX18" fmla="*/ 4521328 w 6668684"/>
              <a:gd name="connsiteY18" fmla="*/ 1394775 h 1394775"/>
              <a:gd name="connsiteX19" fmla="*/ 3936217 w 6668684"/>
              <a:gd name="connsiteY19" fmla="*/ 1394775 h 1394775"/>
              <a:gd name="connsiteX20" fmla="*/ 3351107 w 6668684"/>
              <a:gd name="connsiteY20" fmla="*/ 1394775 h 1394775"/>
              <a:gd name="connsiteX21" fmla="*/ 2701634 w 6668684"/>
              <a:gd name="connsiteY21" fmla="*/ 1394775 h 1394775"/>
              <a:gd name="connsiteX22" fmla="*/ 2116523 w 6668684"/>
              <a:gd name="connsiteY22" fmla="*/ 1394775 h 1394775"/>
              <a:gd name="connsiteX23" fmla="*/ 1531413 w 6668684"/>
              <a:gd name="connsiteY23" fmla="*/ 1394775 h 1394775"/>
              <a:gd name="connsiteX24" fmla="*/ 1010664 w 6668684"/>
              <a:gd name="connsiteY24" fmla="*/ 1394775 h 1394775"/>
              <a:gd name="connsiteX25" fmla="*/ 232467 w 6668684"/>
              <a:gd name="connsiteY25" fmla="*/ 1394775 h 1394775"/>
              <a:gd name="connsiteX26" fmla="*/ 0 w 6668684"/>
              <a:gd name="connsiteY26" fmla="*/ 1162308 h 1394775"/>
              <a:gd name="connsiteX27" fmla="*/ 0 w 6668684"/>
              <a:gd name="connsiteY27" fmla="*/ 604400 h 1394775"/>
              <a:gd name="connsiteX28" fmla="*/ 0 w 6668684"/>
              <a:gd name="connsiteY28" fmla="*/ 0 h 139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68684" h="1394775" fill="none" extrusionOk="0">
                <a:moveTo>
                  <a:pt x="0" y="0"/>
                </a:moveTo>
                <a:cubicBezTo>
                  <a:pt x="146021" y="-34203"/>
                  <a:pt x="383857" y="49708"/>
                  <a:pt x="713835" y="0"/>
                </a:cubicBezTo>
                <a:cubicBezTo>
                  <a:pt x="1043813" y="-49708"/>
                  <a:pt x="911782" y="30962"/>
                  <a:pt x="1105859" y="0"/>
                </a:cubicBezTo>
                <a:cubicBezTo>
                  <a:pt x="1299936" y="-30962"/>
                  <a:pt x="1504902" y="72170"/>
                  <a:pt x="1819694" y="0"/>
                </a:cubicBezTo>
                <a:cubicBezTo>
                  <a:pt x="2134486" y="-72170"/>
                  <a:pt x="2181667" y="41669"/>
                  <a:pt x="2469167" y="0"/>
                </a:cubicBezTo>
                <a:cubicBezTo>
                  <a:pt x="2756667" y="-41669"/>
                  <a:pt x="2804865" y="8459"/>
                  <a:pt x="3054278" y="0"/>
                </a:cubicBezTo>
                <a:cubicBezTo>
                  <a:pt x="3303691" y="-8459"/>
                  <a:pt x="3511703" y="65233"/>
                  <a:pt x="3703750" y="0"/>
                </a:cubicBezTo>
                <a:cubicBezTo>
                  <a:pt x="3895797" y="-65233"/>
                  <a:pt x="4120405" y="64767"/>
                  <a:pt x="4353223" y="0"/>
                </a:cubicBezTo>
                <a:cubicBezTo>
                  <a:pt x="4586041" y="-64767"/>
                  <a:pt x="4765972" y="13326"/>
                  <a:pt x="4938334" y="0"/>
                </a:cubicBezTo>
                <a:cubicBezTo>
                  <a:pt x="5110696" y="-13326"/>
                  <a:pt x="5238269" y="22425"/>
                  <a:pt x="5523444" y="0"/>
                </a:cubicBezTo>
                <a:cubicBezTo>
                  <a:pt x="5808619" y="-22425"/>
                  <a:pt x="6221242" y="48818"/>
                  <a:pt x="6436217" y="0"/>
                </a:cubicBezTo>
                <a:cubicBezTo>
                  <a:pt x="6562514" y="103650"/>
                  <a:pt x="6557939" y="133820"/>
                  <a:pt x="6668684" y="232467"/>
                </a:cubicBezTo>
                <a:cubicBezTo>
                  <a:pt x="6698876" y="404973"/>
                  <a:pt x="6609219" y="516017"/>
                  <a:pt x="6668684" y="790375"/>
                </a:cubicBezTo>
                <a:cubicBezTo>
                  <a:pt x="6728149" y="1064733"/>
                  <a:pt x="6629833" y="1257110"/>
                  <a:pt x="6668684" y="1394775"/>
                </a:cubicBezTo>
                <a:lnTo>
                  <a:pt x="6668684" y="1394775"/>
                </a:lnTo>
                <a:cubicBezTo>
                  <a:pt x="6554118" y="1412005"/>
                  <a:pt x="6402078" y="1355080"/>
                  <a:pt x="6212298" y="1394775"/>
                </a:cubicBezTo>
                <a:cubicBezTo>
                  <a:pt x="6022518" y="1434470"/>
                  <a:pt x="5908950" y="1335270"/>
                  <a:pt x="5691549" y="1394775"/>
                </a:cubicBezTo>
                <a:cubicBezTo>
                  <a:pt x="5474148" y="1454280"/>
                  <a:pt x="5145514" y="1387647"/>
                  <a:pt x="4977714" y="1394775"/>
                </a:cubicBezTo>
                <a:cubicBezTo>
                  <a:pt x="4809915" y="1401903"/>
                  <a:pt x="4747934" y="1354990"/>
                  <a:pt x="4521328" y="1394775"/>
                </a:cubicBezTo>
                <a:cubicBezTo>
                  <a:pt x="4294722" y="1434560"/>
                  <a:pt x="4163202" y="1352083"/>
                  <a:pt x="3936217" y="1394775"/>
                </a:cubicBezTo>
                <a:cubicBezTo>
                  <a:pt x="3709232" y="1437467"/>
                  <a:pt x="3476814" y="1372858"/>
                  <a:pt x="3351107" y="1394775"/>
                </a:cubicBezTo>
                <a:cubicBezTo>
                  <a:pt x="3225400" y="1416692"/>
                  <a:pt x="2976969" y="1322870"/>
                  <a:pt x="2701634" y="1394775"/>
                </a:cubicBezTo>
                <a:cubicBezTo>
                  <a:pt x="2426299" y="1466680"/>
                  <a:pt x="2321463" y="1333416"/>
                  <a:pt x="2116523" y="1394775"/>
                </a:cubicBezTo>
                <a:cubicBezTo>
                  <a:pt x="1911583" y="1456134"/>
                  <a:pt x="1696174" y="1378454"/>
                  <a:pt x="1531413" y="1394775"/>
                </a:cubicBezTo>
                <a:cubicBezTo>
                  <a:pt x="1366652" y="1411096"/>
                  <a:pt x="1166141" y="1377428"/>
                  <a:pt x="1010664" y="1394775"/>
                </a:cubicBezTo>
                <a:cubicBezTo>
                  <a:pt x="855187" y="1412122"/>
                  <a:pt x="454885" y="1391332"/>
                  <a:pt x="232467" y="1394775"/>
                </a:cubicBezTo>
                <a:cubicBezTo>
                  <a:pt x="158630" y="1357982"/>
                  <a:pt x="90316" y="1197370"/>
                  <a:pt x="0" y="1162308"/>
                </a:cubicBezTo>
                <a:cubicBezTo>
                  <a:pt x="-57574" y="937247"/>
                  <a:pt x="36377" y="873522"/>
                  <a:pt x="0" y="604400"/>
                </a:cubicBezTo>
                <a:cubicBezTo>
                  <a:pt x="-36377" y="335278"/>
                  <a:pt x="52829" y="168075"/>
                  <a:pt x="0" y="0"/>
                </a:cubicBezTo>
                <a:close/>
              </a:path>
              <a:path w="6668684" h="1394775" stroke="0" extrusionOk="0">
                <a:moveTo>
                  <a:pt x="0" y="0"/>
                </a:moveTo>
                <a:cubicBezTo>
                  <a:pt x="243181" y="-36161"/>
                  <a:pt x="399138" y="43877"/>
                  <a:pt x="585111" y="0"/>
                </a:cubicBezTo>
                <a:cubicBezTo>
                  <a:pt x="771084" y="-43877"/>
                  <a:pt x="830426" y="23219"/>
                  <a:pt x="1041497" y="0"/>
                </a:cubicBezTo>
                <a:cubicBezTo>
                  <a:pt x="1252568" y="-23219"/>
                  <a:pt x="1367255" y="58558"/>
                  <a:pt x="1626608" y="0"/>
                </a:cubicBezTo>
                <a:cubicBezTo>
                  <a:pt x="1885961" y="-58558"/>
                  <a:pt x="1955614" y="27902"/>
                  <a:pt x="2082994" y="0"/>
                </a:cubicBezTo>
                <a:cubicBezTo>
                  <a:pt x="2210374" y="-27902"/>
                  <a:pt x="2499946" y="12985"/>
                  <a:pt x="2732467" y="0"/>
                </a:cubicBezTo>
                <a:cubicBezTo>
                  <a:pt x="2964988" y="-12985"/>
                  <a:pt x="3161388" y="47236"/>
                  <a:pt x="3317577" y="0"/>
                </a:cubicBezTo>
                <a:cubicBezTo>
                  <a:pt x="3473766" y="-47236"/>
                  <a:pt x="3676215" y="14974"/>
                  <a:pt x="4031412" y="0"/>
                </a:cubicBezTo>
                <a:cubicBezTo>
                  <a:pt x="4386609" y="-14974"/>
                  <a:pt x="4230781" y="5279"/>
                  <a:pt x="4423436" y="0"/>
                </a:cubicBezTo>
                <a:cubicBezTo>
                  <a:pt x="4616091" y="-5279"/>
                  <a:pt x="4796572" y="43477"/>
                  <a:pt x="5072909" y="0"/>
                </a:cubicBezTo>
                <a:cubicBezTo>
                  <a:pt x="5349246" y="-43477"/>
                  <a:pt x="5300724" y="26860"/>
                  <a:pt x="5464933" y="0"/>
                </a:cubicBezTo>
                <a:cubicBezTo>
                  <a:pt x="5629142" y="-26860"/>
                  <a:pt x="6199683" y="28321"/>
                  <a:pt x="6436217" y="0"/>
                </a:cubicBezTo>
                <a:cubicBezTo>
                  <a:pt x="6524818" y="73405"/>
                  <a:pt x="6594109" y="206353"/>
                  <a:pt x="6668684" y="232467"/>
                </a:cubicBezTo>
                <a:cubicBezTo>
                  <a:pt x="6720365" y="458085"/>
                  <a:pt x="6614394" y="540832"/>
                  <a:pt x="6668684" y="825244"/>
                </a:cubicBezTo>
                <a:cubicBezTo>
                  <a:pt x="6722974" y="1109656"/>
                  <a:pt x="6634172" y="1219361"/>
                  <a:pt x="6668684" y="1394775"/>
                </a:cubicBezTo>
                <a:lnTo>
                  <a:pt x="6668684" y="1394775"/>
                </a:lnTo>
                <a:cubicBezTo>
                  <a:pt x="6450062" y="1417442"/>
                  <a:pt x="6356856" y="1385402"/>
                  <a:pt x="6212298" y="1394775"/>
                </a:cubicBezTo>
                <a:cubicBezTo>
                  <a:pt x="6067740" y="1404148"/>
                  <a:pt x="5908109" y="1393603"/>
                  <a:pt x="5820274" y="1394775"/>
                </a:cubicBezTo>
                <a:cubicBezTo>
                  <a:pt x="5732439" y="1395947"/>
                  <a:pt x="5517860" y="1392651"/>
                  <a:pt x="5363887" y="1394775"/>
                </a:cubicBezTo>
                <a:cubicBezTo>
                  <a:pt x="5209914" y="1396899"/>
                  <a:pt x="5027393" y="1384424"/>
                  <a:pt x="4778777" y="1394775"/>
                </a:cubicBezTo>
                <a:cubicBezTo>
                  <a:pt x="4530161" y="1405126"/>
                  <a:pt x="4579080" y="1377322"/>
                  <a:pt x="4386753" y="1394775"/>
                </a:cubicBezTo>
                <a:cubicBezTo>
                  <a:pt x="4194426" y="1412228"/>
                  <a:pt x="4037174" y="1382754"/>
                  <a:pt x="3737280" y="1394775"/>
                </a:cubicBezTo>
                <a:cubicBezTo>
                  <a:pt x="3437386" y="1406796"/>
                  <a:pt x="3282492" y="1357769"/>
                  <a:pt x="3023445" y="1394775"/>
                </a:cubicBezTo>
                <a:cubicBezTo>
                  <a:pt x="2764399" y="1431781"/>
                  <a:pt x="2666152" y="1336021"/>
                  <a:pt x="2373972" y="1394775"/>
                </a:cubicBezTo>
                <a:cubicBezTo>
                  <a:pt x="2081792" y="1453529"/>
                  <a:pt x="2060584" y="1350280"/>
                  <a:pt x="1981948" y="1394775"/>
                </a:cubicBezTo>
                <a:cubicBezTo>
                  <a:pt x="1903312" y="1439270"/>
                  <a:pt x="1661546" y="1362246"/>
                  <a:pt x="1525562" y="1394775"/>
                </a:cubicBezTo>
                <a:cubicBezTo>
                  <a:pt x="1389578" y="1427304"/>
                  <a:pt x="1309713" y="1348970"/>
                  <a:pt x="1133537" y="1394775"/>
                </a:cubicBezTo>
                <a:cubicBezTo>
                  <a:pt x="957362" y="1440580"/>
                  <a:pt x="480728" y="1327744"/>
                  <a:pt x="232467" y="1394775"/>
                </a:cubicBezTo>
                <a:cubicBezTo>
                  <a:pt x="113757" y="1285376"/>
                  <a:pt x="116017" y="1223333"/>
                  <a:pt x="0" y="1162308"/>
                </a:cubicBezTo>
                <a:cubicBezTo>
                  <a:pt x="-12057" y="999128"/>
                  <a:pt x="53005" y="745783"/>
                  <a:pt x="0" y="581154"/>
                </a:cubicBezTo>
                <a:cubicBezTo>
                  <a:pt x="-53005" y="416525"/>
                  <a:pt x="14776" y="230067"/>
                  <a:pt x="0" y="0"/>
                </a:cubicBezTo>
                <a:close/>
              </a:path>
            </a:pathLst>
          </a:custGeom>
          <a:ln w="76200">
            <a:extLst>
              <a:ext uri="{C807C97D-BFC1-408E-A445-0C87EB9F89A2}">
                <ask:lineSketchStyleProps xmlns:ask="http://schemas.microsoft.com/office/drawing/2018/sketchyshapes" sd="984671061">
                  <a:prstGeom prst="snip2DiagRect">
                    <a:avLst/>
                  </a:prstGeom>
                  <ask:type>
                    <ask:lineSketchScribble/>
                  </ask:type>
                </ask:lineSketchStyleProps>
              </a:ext>
            </a:extLst>
          </a:ln>
        </p:spPr>
        <p:style>
          <a:lnRef idx="2">
            <a:schemeClr val="accent2"/>
          </a:lnRef>
          <a:fillRef idx="1">
            <a:schemeClr val="lt1"/>
          </a:fillRef>
          <a:effectRef idx="0">
            <a:schemeClr val="accent2"/>
          </a:effectRef>
          <a:fontRef idx="minor">
            <a:schemeClr val="dk1"/>
          </a:fontRef>
        </p:style>
        <p:txBody>
          <a:bodyPr wrap="square">
            <a:spAutoFit/>
          </a:bodyPr>
          <a:lstStyle/>
          <a:p>
            <a:pPr marL="84138" lvl="0" indent="-84138" algn="just">
              <a:lnSpc>
                <a:spcPct val="107000"/>
              </a:lnSpc>
              <a:spcAft>
                <a:spcPts val="800"/>
              </a:spcAft>
              <a:buFont typeface="+mj-lt"/>
              <a:buAutoNum type="romanUcPeriod"/>
              <a:tabLst>
                <a:tab pos="457200" algn="l"/>
              </a:tabLst>
            </a:pPr>
            <a:r>
              <a:rPr lang="es-BO" sz="1200" dirty="0">
                <a:solidFill>
                  <a:srgbClr val="3D2A1F"/>
                </a:solidFill>
                <a:effectLst/>
                <a:latin typeface="Arial" panose="020B0604020202020204" pitchFamily="34" charset="0"/>
                <a:ea typeface="Times New Roman" panose="02020603050405020304" pitchFamily="18" charset="0"/>
                <a:cs typeface="Arial" panose="020B0604020202020204" pitchFamily="34" charset="0"/>
              </a:rPr>
              <a:t>Las NPIOC ejercerán sus funciones jurisdiccionales y de </a:t>
            </a:r>
            <a:r>
              <a:rPr lang="es-BO" sz="1200" b="1" i="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competencia a través de sus autoridades</a:t>
            </a:r>
            <a:r>
              <a:rPr lang="es-BO" sz="1200" dirty="0">
                <a:solidFill>
                  <a:srgbClr val="3D2A1F"/>
                </a:solidFill>
                <a:effectLst/>
                <a:latin typeface="Arial Black" panose="020B0A04020102020204" pitchFamily="34" charset="0"/>
                <a:ea typeface="Times New Roman" panose="02020603050405020304" pitchFamily="18" charset="0"/>
                <a:cs typeface="Arial" panose="020B0604020202020204" pitchFamily="34" charset="0"/>
              </a:rPr>
              <a:t>,</a:t>
            </a:r>
            <a:r>
              <a:rPr lang="es-BO" sz="1200" dirty="0">
                <a:solidFill>
                  <a:srgbClr val="3D2A1F"/>
                </a:solidFill>
                <a:effectLst/>
                <a:latin typeface="Arial" panose="020B0604020202020204" pitchFamily="34" charset="0"/>
                <a:ea typeface="Times New Roman" panose="02020603050405020304" pitchFamily="18" charset="0"/>
                <a:cs typeface="Arial" panose="020B0604020202020204" pitchFamily="34" charset="0"/>
              </a:rPr>
              <a:t> y aplicarán sus principios, valores culturales, normas y procedimientos propios.</a:t>
            </a:r>
            <a:endParaRPr lang="es-BO" sz="1200" dirty="0">
              <a:solidFill>
                <a:srgbClr val="3D2A1F"/>
              </a:solidFill>
              <a:effectLst/>
              <a:latin typeface="Arial" panose="020B0604020202020204" pitchFamily="34" charset="0"/>
              <a:ea typeface="Calibri" panose="020F0502020204030204" pitchFamily="34" charset="0"/>
              <a:cs typeface="Arial" panose="020B0604020202020204" pitchFamily="34" charset="0"/>
            </a:endParaRPr>
          </a:p>
          <a:p>
            <a:pPr marL="84138" lvl="0" indent="-84138" algn="just">
              <a:lnSpc>
                <a:spcPct val="107000"/>
              </a:lnSpc>
              <a:spcAft>
                <a:spcPts val="800"/>
              </a:spcAft>
              <a:buFont typeface="+mj-lt"/>
              <a:buAutoNum type="romanUcPeriod"/>
              <a:tabLst>
                <a:tab pos="457200" algn="l"/>
              </a:tabLst>
            </a:pPr>
            <a:r>
              <a:rPr lang="es-BO" sz="1200" dirty="0">
                <a:solidFill>
                  <a:srgbClr val="3D2A1F"/>
                </a:solidFill>
                <a:effectLst/>
                <a:latin typeface="Arial" panose="020B0604020202020204" pitchFamily="34" charset="0"/>
                <a:ea typeface="Times New Roman" panose="02020603050405020304" pitchFamily="18" charset="0"/>
                <a:cs typeface="Arial" panose="020B0604020202020204" pitchFamily="34" charset="0"/>
              </a:rPr>
              <a:t>La jurisdicción IOC respeta el derecho a la vida, el derecho a la defensa y demás derechos y garantías establecidos en la presente Constitución.</a:t>
            </a:r>
            <a:endParaRPr lang="es-BO" sz="1200" dirty="0">
              <a:solidFill>
                <a:srgbClr val="3D2A1F"/>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2" name="CuadroTexto 21">
            <a:extLst>
              <a:ext uri="{FF2B5EF4-FFF2-40B4-BE49-F238E27FC236}">
                <a16:creationId xmlns:a16="http://schemas.microsoft.com/office/drawing/2014/main" id="{D784BC47-7681-4F4B-8CD8-47B95C54D5DC}"/>
              </a:ext>
            </a:extLst>
          </p:cNvPr>
          <p:cNvSpPr txBox="1"/>
          <p:nvPr/>
        </p:nvSpPr>
        <p:spPr>
          <a:xfrm>
            <a:off x="110802" y="2657623"/>
            <a:ext cx="7246439" cy="2599293"/>
          </a:xfrm>
          <a:custGeom>
            <a:avLst/>
            <a:gdLst>
              <a:gd name="connsiteX0" fmla="*/ 0 w 7246439"/>
              <a:gd name="connsiteY0" fmla="*/ 433224 h 2599293"/>
              <a:gd name="connsiteX1" fmla="*/ 433224 w 7246439"/>
              <a:gd name="connsiteY1" fmla="*/ 0 h 2599293"/>
              <a:gd name="connsiteX2" fmla="*/ 1077023 w 7246439"/>
              <a:gd name="connsiteY2" fmla="*/ 0 h 2599293"/>
              <a:gd name="connsiteX3" fmla="*/ 1720822 w 7246439"/>
              <a:gd name="connsiteY3" fmla="*/ 0 h 2599293"/>
              <a:gd name="connsiteX4" fmla="*/ 2364621 w 7246439"/>
              <a:gd name="connsiteY4" fmla="*/ 0 h 2599293"/>
              <a:gd name="connsiteX5" fmla="*/ 2944620 w 7246439"/>
              <a:gd name="connsiteY5" fmla="*/ 0 h 2599293"/>
              <a:gd name="connsiteX6" fmla="*/ 3588420 w 7246439"/>
              <a:gd name="connsiteY6" fmla="*/ 0 h 2599293"/>
              <a:gd name="connsiteX7" fmla="*/ 4232219 w 7246439"/>
              <a:gd name="connsiteY7" fmla="*/ 0 h 2599293"/>
              <a:gd name="connsiteX8" fmla="*/ 4876018 w 7246439"/>
              <a:gd name="connsiteY8" fmla="*/ 0 h 2599293"/>
              <a:gd name="connsiteX9" fmla="*/ 5519817 w 7246439"/>
              <a:gd name="connsiteY9" fmla="*/ 0 h 2599293"/>
              <a:gd name="connsiteX10" fmla="*/ 5972216 w 7246439"/>
              <a:gd name="connsiteY10" fmla="*/ 0 h 2599293"/>
              <a:gd name="connsiteX11" fmla="*/ 6813215 w 7246439"/>
              <a:gd name="connsiteY11" fmla="*/ 0 h 2599293"/>
              <a:gd name="connsiteX12" fmla="*/ 7246439 w 7246439"/>
              <a:gd name="connsiteY12" fmla="*/ 433224 h 2599293"/>
              <a:gd name="connsiteX13" fmla="*/ 7246439 w 7246439"/>
              <a:gd name="connsiteY13" fmla="*/ 993511 h 2599293"/>
              <a:gd name="connsiteX14" fmla="*/ 7246439 w 7246439"/>
              <a:gd name="connsiteY14" fmla="*/ 1553797 h 2599293"/>
              <a:gd name="connsiteX15" fmla="*/ 7246439 w 7246439"/>
              <a:gd name="connsiteY15" fmla="*/ 2166069 h 2599293"/>
              <a:gd name="connsiteX16" fmla="*/ 6813215 w 7246439"/>
              <a:gd name="connsiteY16" fmla="*/ 2599293 h 2599293"/>
              <a:gd name="connsiteX17" fmla="*/ 6424616 w 7246439"/>
              <a:gd name="connsiteY17" fmla="*/ 2599293 h 2599293"/>
              <a:gd name="connsiteX18" fmla="*/ 5908416 w 7246439"/>
              <a:gd name="connsiteY18" fmla="*/ 2599293 h 2599293"/>
              <a:gd name="connsiteX19" fmla="*/ 5392217 w 7246439"/>
              <a:gd name="connsiteY19" fmla="*/ 2599293 h 2599293"/>
              <a:gd name="connsiteX20" fmla="*/ 4812218 w 7246439"/>
              <a:gd name="connsiteY20" fmla="*/ 2599293 h 2599293"/>
              <a:gd name="connsiteX21" fmla="*/ 4359818 w 7246439"/>
              <a:gd name="connsiteY21" fmla="*/ 2599293 h 2599293"/>
              <a:gd name="connsiteX22" fmla="*/ 3716019 w 7246439"/>
              <a:gd name="connsiteY22" fmla="*/ 2599293 h 2599293"/>
              <a:gd name="connsiteX23" fmla="*/ 3199820 w 7246439"/>
              <a:gd name="connsiteY23" fmla="*/ 2599293 h 2599293"/>
              <a:gd name="connsiteX24" fmla="*/ 2492221 w 7246439"/>
              <a:gd name="connsiteY24" fmla="*/ 2599293 h 2599293"/>
              <a:gd name="connsiteX25" fmla="*/ 2103622 w 7246439"/>
              <a:gd name="connsiteY25" fmla="*/ 2599293 h 2599293"/>
              <a:gd name="connsiteX26" fmla="*/ 1587422 w 7246439"/>
              <a:gd name="connsiteY26" fmla="*/ 2599293 h 2599293"/>
              <a:gd name="connsiteX27" fmla="*/ 1007423 w 7246439"/>
              <a:gd name="connsiteY27" fmla="*/ 2599293 h 2599293"/>
              <a:gd name="connsiteX28" fmla="*/ 433224 w 7246439"/>
              <a:gd name="connsiteY28" fmla="*/ 2599293 h 2599293"/>
              <a:gd name="connsiteX29" fmla="*/ 0 w 7246439"/>
              <a:gd name="connsiteY29" fmla="*/ 2166069 h 2599293"/>
              <a:gd name="connsiteX30" fmla="*/ 0 w 7246439"/>
              <a:gd name="connsiteY30" fmla="*/ 1605782 h 2599293"/>
              <a:gd name="connsiteX31" fmla="*/ 0 w 7246439"/>
              <a:gd name="connsiteY31" fmla="*/ 1028167 h 2599293"/>
              <a:gd name="connsiteX32" fmla="*/ 0 w 7246439"/>
              <a:gd name="connsiteY32" fmla="*/ 433224 h 259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246439" h="2599293" fill="none" extrusionOk="0">
                <a:moveTo>
                  <a:pt x="0" y="433224"/>
                </a:moveTo>
                <a:cubicBezTo>
                  <a:pt x="30656" y="225162"/>
                  <a:pt x="172538" y="-26432"/>
                  <a:pt x="433224" y="0"/>
                </a:cubicBezTo>
                <a:cubicBezTo>
                  <a:pt x="693740" y="-61368"/>
                  <a:pt x="878909" y="33899"/>
                  <a:pt x="1077023" y="0"/>
                </a:cubicBezTo>
                <a:cubicBezTo>
                  <a:pt x="1275137" y="-33899"/>
                  <a:pt x="1437896" y="70527"/>
                  <a:pt x="1720822" y="0"/>
                </a:cubicBezTo>
                <a:cubicBezTo>
                  <a:pt x="2003748" y="-70527"/>
                  <a:pt x="2198033" y="47896"/>
                  <a:pt x="2364621" y="0"/>
                </a:cubicBezTo>
                <a:cubicBezTo>
                  <a:pt x="2531209" y="-47896"/>
                  <a:pt x="2769294" y="61500"/>
                  <a:pt x="2944620" y="0"/>
                </a:cubicBezTo>
                <a:cubicBezTo>
                  <a:pt x="3119946" y="-61500"/>
                  <a:pt x="3405398" y="39500"/>
                  <a:pt x="3588420" y="0"/>
                </a:cubicBezTo>
                <a:cubicBezTo>
                  <a:pt x="3771442" y="-39500"/>
                  <a:pt x="3914298" y="17457"/>
                  <a:pt x="4232219" y="0"/>
                </a:cubicBezTo>
                <a:cubicBezTo>
                  <a:pt x="4550140" y="-17457"/>
                  <a:pt x="4586052" y="58778"/>
                  <a:pt x="4876018" y="0"/>
                </a:cubicBezTo>
                <a:cubicBezTo>
                  <a:pt x="5165984" y="-58778"/>
                  <a:pt x="5261331" y="10006"/>
                  <a:pt x="5519817" y="0"/>
                </a:cubicBezTo>
                <a:cubicBezTo>
                  <a:pt x="5778303" y="-10006"/>
                  <a:pt x="5827309" y="37132"/>
                  <a:pt x="5972216" y="0"/>
                </a:cubicBezTo>
                <a:cubicBezTo>
                  <a:pt x="6117123" y="-37132"/>
                  <a:pt x="6448870" y="34269"/>
                  <a:pt x="6813215" y="0"/>
                </a:cubicBezTo>
                <a:cubicBezTo>
                  <a:pt x="7035200" y="-3069"/>
                  <a:pt x="7233641" y="226844"/>
                  <a:pt x="7246439" y="433224"/>
                </a:cubicBezTo>
                <a:cubicBezTo>
                  <a:pt x="7254758" y="649103"/>
                  <a:pt x="7212035" y="802626"/>
                  <a:pt x="7246439" y="993511"/>
                </a:cubicBezTo>
                <a:cubicBezTo>
                  <a:pt x="7280843" y="1184396"/>
                  <a:pt x="7208430" y="1337742"/>
                  <a:pt x="7246439" y="1553797"/>
                </a:cubicBezTo>
                <a:cubicBezTo>
                  <a:pt x="7284448" y="1769852"/>
                  <a:pt x="7228991" y="1881324"/>
                  <a:pt x="7246439" y="2166069"/>
                </a:cubicBezTo>
                <a:cubicBezTo>
                  <a:pt x="7252008" y="2408790"/>
                  <a:pt x="7108215" y="2600092"/>
                  <a:pt x="6813215" y="2599293"/>
                </a:cubicBezTo>
                <a:cubicBezTo>
                  <a:pt x="6714132" y="2635357"/>
                  <a:pt x="6548451" y="2581044"/>
                  <a:pt x="6424616" y="2599293"/>
                </a:cubicBezTo>
                <a:cubicBezTo>
                  <a:pt x="6300781" y="2617542"/>
                  <a:pt x="6145133" y="2560488"/>
                  <a:pt x="5908416" y="2599293"/>
                </a:cubicBezTo>
                <a:cubicBezTo>
                  <a:pt x="5671699" y="2638098"/>
                  <a:pt x="5540481" y="2591678"/>
                  <a:pt x="5392217" y="2599293"/>
                </a:cubicBezTo>
                <a:cubicBezTo>
                  <a:pt x="5243953" y="2606908"/>
                  <a:pt x="5034479" y="2574051"/>
                  <a:pt x="4812218" y="2599293"/>
                </a:cubicBezTo>
                <a:cubicBezTo>
                  <a:pt x="4589957" y="2624535"/>
                  <a:pt x="4512673" y="2551959"/>
                  <a:pt x="4359818" y="2599293"/>
                </a:cubicBezTo>
                <a:cubicBezTo>
                  <a:pt x="4206963" y="2646627"/>
                  <a:pt x="4015601" y="2535092"/>
                  <a:pt x="3716019" y="2599293"/>
                </a:cubicBezTo>
                <a:cubicBezTo>
                  <a:pt x="3416437" y="2663494"/>
                  <a:pt x="3327624" y="2557166"/>
                  <a:pt x="3199820" y="2599293"/>
                </a:cubicBezTo>
                <a:cubicBezTo>
                  <a:pt x="3072016" y="2641420"/>
                  <a:pt x="2700487" y="2578940"/>
                  <a:pt x="2492221" y="2599293"/>
                </a:cubicBezTo>
                <a:cubicBezTo>
                  <a:pt x="2283955" y="2619646"/>
                  <a:pt x="2258503" y="2566199"/>
                  <a:pt x="2103622" y="2599293"/>
                </a:cubicBezTo>
                <a:cubicBezTo>
                  <a:pt x="1948741" y="2632387"/>
                  <a:pt x="1799277" y="2566414"/>
                  <a:pt x="1587422" y="2599293"/>
                </a:cubicBezTo>
                <a:cubicBezTo>
                  <a:pt x="1375567" y="2632172"/>
                  <a:pt x="1201798" y="2571044"/>
                  <a:pt x="1007423" y="2599293"/>
                </a:cubicBezTo>
                <a:cubicBezTo>
                  <a:pt x="813048" y="2627542"/>
                  <a:pt x="711400" y="2554911"/>
                  <a:pt x="433224" y="2599293"/>
                </a:cubicBezTo>
                <a:cubicBezTo>
                  <a:pt x="196958" y="2611644"/>
                  <a:pt x="40234" y="2445103"/>
                  <a:pt x="0" y="2166069"/>
                </a:cubicBezTo>
                <a:cubicBezTo>
                  <a:pt x="-58851" y="2016271"/>
                  <a:pt x="62602" y="1837364"/>
                  <a:pt x="0" y="1605782"/>
                </a:cubicBezTo>
                <a:cubicBezTo>
                  <a:pt x="-62602" y="1374200"/>
                  <a:pt x="60141" y="1245257"/>
                  <a:pt x="0" y="1028167"/>
                </a:cubicBezTo>
                <a:cubicBezTo>
                  <a:pt x="-60141" y="811078"/>
                  <a:pt x="35419" y="692076"/>
                  <a:pt x="0" y="433224"/>
                </a:cubicBezTo>
                <a:close/>
              </a:path>
              <a:path w="7246439" h="2599293" stroke="0" extrusionOk="0">
                <a:moveTo>
                  <a:pt x="0" y="433224"/>
                </a:moveTo>
                <a:cubicBezTo>
                  <a:pt x="15436" y="197944"/>
                  <a:pt x="244328" y="-25479"/>
                  <a:pt x="433224" y="0"/>
                </a:cubicBezTo>
                <a:cubicBezTo>
                  <a:pt x="596206" y="-43036"/>
                  <a:pt x="911137" y="46522"/>
                  <a:pt x="1077023" y="0"/>
                </a:cubicBezTo>
                <a:cubicBezTo>
                  <a:pt x="1242909" y="-46522"/>
                  <a:pt x="1340345" y="16123"/>
                  <a:pt x="1465623" y="0"/>
                </a:cubicBezTo>
                <a:cubicBezTo>
                  <a:pt x="1590901" y="-16123"/>
                  <a:pt x="1876149" y="25485"/>
                  <a:pt x="2173222" y="0"/>
                </a:cubicBezTo>
                <a:cubicBezTo>
                  <a:pt x="2470295" y="-25485"/>
                  <a:pt x="2618809" y="36864"/>
                  <a:pt x="2753221" y="0"/>
                </a:cubicBezTo>
                <a:cubicBezTo>
                  <a:pt x="2887633" y="-36864"/>
                  <a:pt x="3036557" y="29110"/>
                  <a:pt x="3269420" y="0"/>
                </a:cubicBezTo>
                <a:cubicBezTo>
                  <a:pt x="3502283" y="-29110"/>
                  <a:pt x="3599408" y="34056"/>
                  <a:pt x="3785619" y="0"/>
                </a:cubicBezTo>
                <a:cubicBezTo>
                  <a:pt x="3971830" y="-34056"/>
                  <a:pt x="4133405" y="62353"/>
                  <a:pt x="4365618" y="0"/>
                </a:cubicBezTo>
                <a:cubicBezTo>
                  <a:pt x="4597831" y="-62353"/>
                  <a:pt x="4781514" y="57150"/>
                  <a:pt x="4945618" y="0"/>
                </a:cubicBezTo>
                <a:cubicBezTo>
                  <a:pt x="5109722" y="-57150"/>
                  <a:pt x="5140273" y="14157"/>
                  <a:pt x="5334217" y="0"/>
                </a:cubicBezTo>
                <a:cubicBezTo>
                  <a:pt x="5528161" y="-14157"/>
                  <a:pt x="5717762" y="6562"/>
                  <a:pt x="6041816" y="0"/>
                </a:cubicBezTo>
                <a:cubicBezTo>
                  <a:pt x="6365870" y="-6562"/>
                  <a:pt x="6534123" y="39743"/>
                  <a:pt x="6813215" y="0"/>
                </a:cubicBezTo>
                <a:cubicBezTo>
                  <a:pt x="7052228" y="5821"/>
                  <a:pt x="7221274" y="209598"/>
                  <a:pt x="7246439" y="433224"/>
                </a:cubicBezTo>
                <a:cubicBezTo>
                  <a:pt x="7280066" y="572491"/>
                  <a:pt x="7215794" y="866580"/>
                  <a:pt x="7246439" y="976182"/>
                </a:cubicBezTo>
                <a:cubicBezTo>
                  <a:pt x="7277084" y="1085784"/>
                  <a:pt x="7207205" y="1395276"/>
                  <a:pt x="7246439" y="1519140"/>
                </a:cubicBezTo>
                <a:cubicBezTo>
                  <a:pt x="7285673" y="1643004"/>
                  <a:pt x="7242200" y="1954162"/>
                  <a:pt x="7246439" y="2166069"/>
                </a:cubicBezTo>
                <a:cubicBezTo>
                  <a:pt x="7252537" y="2426370"/>
                  <a:pt x="7055826" y="2589583"/>
                  <a:pt x="6813215" y="2599293"/>
                </a:cubicBezTo>
                <a:cubicBezTo>
                  <a:pt x="6699162" y="2634839"/>
                  <a:pt x="6548625" y="2598318"/>
                  <a:pt x="6424616" y="2599293"/>
                </a:cubicBezTo>
                <a:cubicBezTo>
                  <a:pt x="6300607" y="2600268"/>
                  <a:pt x="6033536" y="2556413"/>
                  <a:pt x="5780816" y="2599293"/>
                </a:cubicBezTo>
                <a:cubicBezTo>
                  <a:pt x="5528096" y="2642173"/>
                  <a:pt x="5575969" y="2569500"/>
                  <a:pt x="5392217" y="2599293"/>
                </a:cubicBezTo>
                <a:cubicBezTo>
                  <a:pt x="5208465" y="2629086"/>
                  <a:pt x="5026329" y="2564881"/>
                  <a:pt x="4748418" y="2599293"/>
                </a:cubicBezTo>
                <a:cubicBezTo>
                  <a:pt x="4470507" y="2633705"/>
                  <a:pt x="4419393" y="2553258"/>
                  <a:pt x="4296019" y="2599293"/>
                </a:cubicBezTo>
                <a:cubicBezTo>
                  <a:pt x="4172645" y="2645328"/>
                  <a:pt x="3944995" y="2572280"/>
                  <a:pt x="3843619" y="2599293"/>
                </a:cubicBezTo>
                <a:cubicBezTo>
                  <a:pt x="3742243" y="2626306"/>
                  <a:pt x="3547469" y="2585663"/>
                  <a:pt x="3391220" y="2599293"/>
                </a:cubicBezTo>
                <a:cubicBezTo>
                  <a:pt x="3234971" y="2612923"/>
                  <a:pt x="2903451" y="2582876"/>
                  <a:pt x="2747421" y="2599293"/>
                </a:cubicBezTo>
                <a:cubicBezTo>
                  <a:pt x="2591391" y="2615710"/>
                  <a:pt x="2237204" y="2527102"/>
                  <a:pt x="2103622" y="2599293"/>
                </a:cubicBezTo>
                <a:cubicBezTo>
                  <a:pt x="1970040" y="2671484"/>
                  <a:pt x="1672962" y="2543688"/>
                  <a:pt x="1459823" y="2599293"/>
                </a:cubicBezTo>
                <a:cubicBezTo>
                  <a:pt x="1246684" y="2654898"/>
                  <a:pt x="905242" y="2509456"/>
                  <a:pt x="433224" y="2599293"/>
                </a:cubicBezTo>
                <a:cubicBezTo>
                  <a:pt x="188168" y="2569859"/>
                  <a:pt x="8630" y="2403516"/>
                  <a:pt x="0" y="2166069"/>
                </a:cubicBezTo>
                <a:cubicBezTo>
                  <a:pt x="-5521" y="2035408"/>
                  <a:pt x="50591" y="1772551"/>
                  <a:pt x="0" y="1623111"/>
                </a:cubicBezTo>
                <a:cubicBezTo>
                  <a:pt x="-50591" y="1473671"/>
                  <a:pt x="10214" y="1341476"/>
                  <a:pt x="0" y="1080153"/>
                </a:cubicBezTo>
                <a:cubicBezTo>
                  <a:pt x="-10214" y="818830"/>
                  <a:pt x="12399" y="731276"/>
                  <a:pt x="0" y="433224"/>
                </a:cubicBezTo>
                <a:close/>
              </a:path>
            </a:pathLst>
          </a:custGeom>
          <a:ln w="76200">
            <a:extLst>
              <a:ext uri="{C807C97D-BFC1-408E-A445-0C87EB9F89A2}">
                <ask:lineSketchStyleProps xmlns:ask="http://schemas.microsoft.com/office/drawing/2018/sketchyshapes" sd="984671061">
                  <a:prstGeom prst="roundRect">
                    <a:avLst/>
                  </a:prstGeom>
                  <ask:type>
                    <ask:lineSketchScribble/>
                  </ask:type>
                </ask:lineSketchStyleProps>
              </a:ext>
            </a:extLst>
          </a:ln>
        </p:spPr>
        <p:style>
          <a:lnRef idx="2">
            <a:schemeClr val="accent2"/>
          </a:lnRef>
          <a:fillRef idx="1">
            <a:schemeClr val="lt1"/>
          </a:fillRef>
          <a:effectRef idx="0">
            <a:schemeClr val="accent2"/>
          </a:effectRef>
          <a:fontRef idx="minor">
            <a:schemeClr val="dk1"/>
          </a:fontRef>
        </p:style>
        <p:txBody>
          <a:bodyPr wrap="square">
            <a:spAutoFit/>
          </a:bodyPr>
          <a:lstStyle/>
          <a:p>
            <a:pPr marL="84138" lvl="0" indent="-84138" algn="just">
              <a:spcAft>
                <a:spcPts val="800"/>
              </a:spcAft>
              <a:buFont typeface="+mj-lt"/>
              <a:buAutoNum type="romanUcPeriod"/>
              <a:tabLst>
                <a:tab pos="457200" algn="l"/>
              </a:tabLst>
            </a:pPr>
            <a:r>
              <a:rPr lang="es-BO" sz="1200" dirty="0">
                <a:solidFill>
                  <a:srgbClr val="3D2A1F"/>
                </a:solidFill>
                <a:effectLst/>
                <a:latin typeface="Arial" panose="020B0604020202020204" pitchFamily="34" charset="0"/>
                <a:ea typeface="Times New Roman" panose="02020603050405020304" pitchFamily="18" charset="0"/>
                <a:cs typeface="Times New Roman" panose="02020603050405020304" pitchFamily="18" charset="0"/>
              </a:rPr>
              <a:t>La jurisdicción IOC se fundamenta en </a:t>
            </a:r>
            <a:r>
              <a:rPr lang="es-BO" sz="1200" dirty="0">
                <a:solidFill>
                  <a:srgbClr val="3D2A1F"/>
                </a:solidFill>
                <a:effectLst/>
                <a:latin typeface="Arial Black" panose="020B0A04020102020204" pitchFamily="34" charset="0"/>
                <a:ea typeface="Times New Roman" panose="02020603050405020304" pitchFamily="18" charset="0"/>
                <a:cs typeface="Times New Roman" panose="02020603050405020304" pitchFamily="18" charset="0"/>
              </a:rPr>
              <a:t>un </a:t>
            </a:r>
            <a:r>
              <a:rPr lang="es-BO" sz="12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vínculo particular de las personas que son miembros de la respectiva NPIOC</a:t>
            </a:r>
            <a:r>
              <a:rPr lang="es-BO" sz="1200" dirty="0">
                <a:solidFill>
                  <a:srgbClr val="3D2A1F"/>
                </a:solidFill>
                <a:effectLst/>
                <a:latin typeface="Arial Black" panose="020B0A04020102020204" pitchFamily="34" charset="0"/>
                <a:ea typeface="Times New Roman" panose="02020603050405020304" pitchFamily="18" charset="0"/>
                <a:cs typeface="Times New Roman" panose="02020603050405020304" pitchFamily="18" charset="0"/>
              </a:rPr>
              <a:t>.</a:t>
            </a:r>
            <a:endParaRPr lang="es-BO" sz="1200" dirty="0">
              <a:solidFill>
                <a:srgbClr val="3D2A1F"/>
              </a:solidFill>
              <a:effectLst/>
              <a:latin typeface="Arial Black" panose="020B0A04020102020204" pitchFamily="34" charset="0"/>
              <a:ea typeface="Calibri" panose="020F0502020204030204" pitchFamily="34" charset="0"/>
              <a:cs typeface="Times New Roman" panose="02020603050405020304" pitchFamily="18" charset="0"/>
            </a:endParaRPr>
          </a:p>
          <a:p>
            <a:pPr marL="84138" lvl="0" indent="-84138" algn="just">
              <a:spcAft>
                <a:spcPts val="800"/>
              </a:spcAft>
              <a:buFont typeface="+mj-lt"/>
              <a:buAutoNum type="romanUcPeriod"/>
              <a:tabLst>
                <a:tab pos="457200" algn="l"/>
              </a:tabLst>
            </a:pPr>
            <a:r>
              <a:rPr lang="es-BO" sz="1200" dirty="0">
                <a:solidFill>
                  <a:srgbClr val="3D2A1F"/>
                </a:solidFill>
                <a:effectLst/>
                <a:latin typeface="Arial" panose="020B0604020202020204" pitchFamily="34" charset="0"/>
                <a:ea typeface="Times New Roman" panose="02020603050405020304" pitchFamily="18" charset="0"/>
                <a:cs typeface="Times New Roman" panose="02020603050405020304" pitchFamily="18" charset="0"/>
              </a:rPr>
              <a:t>La jurisdicción IOC  se ejerce en los siguientes </a:t>
            </a:r>
            <a:r>
              <a:rPr lang="es-BO" sz="12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ámbitos de vigencia personal, material y territorial:</a:t>
            </a:r>
            <a:endParaRPr lang="es-BO" sz="1200" dirty="0">
              <a:solidFill>
                <a:srgbClr val="FF0000"/>
              </a:solidFill>
              <a:effectLst/>
              <a:latin typeface="Arial Black" panose="020B0A04020102020204" pitchFamily="34" charset="0"/>
              <a:ea typeface="Calibri" panose="020F0502020204030204" pitchFamily="34" charset="0"/>
              <a:cs typeface="Times New Roman" panose="02020603050405020304" pitchFamily="18" charset="0"/>
            </a:endParaRPr>
          </a:p>
          <a:p>
            <a:pPr marL="273050" lvl="1" indent="-93663" algn="just">
              <a:spcAft>
                <a:spcPts val="800"/>
              </a:spcAft>
              <a:buFont typeface="+mj-lt"/>
              <a:buAutoNum type="arabicPeriod"/>
              <a:tabLst>
                <a:tab pos="914400" algn="l"/>
              </a:tabLst>
            </a:pPr>
            <a:r>
              <a:rPr lang="es-BO" sz="1200" dirty="0">
                <a:solidFill>
                  <a:srgbClr val="3D2A1F"/>
                </a:solidFill>
                <a:effectLst/>
                <a:latin typeface="Arial" panose="020B0604020202020204" pitchFamily="34" charset="0"/>
                <a:ea typeface="Times New Roman" panose="02020603050405020304" pitchFamily="18" charset="0"/>
                <a:cs typeface="Times New Roman" panose="02020603050405020304" pitchFamily="18" charset="0"/>
              </a:rPr>
              <a:t>Están sujetos a esta jurisdicción los miembros de la NPIOC, sea que actúen como actores o demandado, denunciantes o querellantes, denunciados o imputados, recurrentes o recurridos.</a:t>
            </a:r>
            <a:endParaRPr lang="es-BO" sz="1200" dirty="0">
              <a:solidFill>
                <a:srgbClr val="3D2A1F"/>
              </a:solidFill>
              <a:effectLst/>
              <a:latin typeface="Calibri" panose="020F0502020204030204" pitchFamily="34" charset="0"/>
              <a:ea typeface="Calibri" panose="020F0502020204030204" pitchFamily="34" charset="0"/>
              <a:cs typeface="Times New Roman" panose="02020603050405020304" pitchFamily="18" charset="0"/>
            </a:endParaRPr>
          </a:p>
          <a:p>
            <a:pPr marL="273050" lvl="1" indent="-93663" algn="just">
              <a:spcAft>
                <a:spcPts val="800"/>
              </a:spcAft>
              <a:buFont typeface="+mj-lt"/>
              <a:buAutoNum type="arabicPeriod"/>
              <a:tabLst>
                <a:tab pos="914400" algn="l"/>
              </a:tabLst>
            </a:pPr>
            <a:r>
              <a:rPr lang="es-BO" sz="1200" dirty="0">
                <a:solidFill>
                  <a:srgbClr val="3D2A1F"/>
                </a:solidFill>
                <a:effectLst/>
                <a:latin typeface="Arial" panose="020B0604020202020204" pitchFamily="34" charset="0"/>
                <a:ea typeface="Times New Roman" panose="02020603050405020304" pitchFamily="18" charset="0"/>
                <a:cs typeface="Times New Roman" panose="02020603050405020304" pitchFamily="18" charset="0"/>
              </a:rPr>
              <a:t>Esta jurisdicción conoce los asuntos IOC de conformidad a lo establecido en una Ley de Deslinde Jurisdiccional.</a:t>
            </a:r>
            <a:endParaRPr lang="es-BO" sz="1200" dirty="0">
              <a:solidFill>
                <a:srgbClr val="3D2A1F"/>
              </a:solidFill>
              <a:effectLst/>
              <a:latin typeface="Calibri" panose="020F0502020204030204" pitchFamily="34" charset="0"/>
              <a:ea typeface="Calibri" panose="020F0502020204030204" pitchFamily="34" charset="0"/>
              <a:cs typeface="Times New Roman" panose="02020603050405020304" pitchFamily="18" charset="0"/>
            </a:endParaRPr>
          </a:p>
          <a:p>
            <a:pPr marL="273050" lvl="1" indent="-93663" algn="just">
              <a:spcAft>
                <a:spcPts val="800"/>
              </a:spcAft>
              <a:buFont typeface="+mj-lt"/>
              <a:buAutoNum type="arabicPeriod"/>
              <a:tabLst>
                <a:tab pos="914400" algn="l"/>
              </a:tabLst>
            </a:pPr>
            <a:r>
              <a:rPr lang="es-BO" sz="1200" dirty="0">
                <a:solidFill>
                  <a:srgbClr val="3D2A1F"/>
                </a:solidFill>
                <a:effectLst/>
                <a:latin typeface="Arial" panose="020B0604020202020204" pitchFamily="34" charset="0"/>
                <a:ea typeface="Times New Roman" panose="02020603050405020304" pitchFamily="18" charset="0"/>
                <a:cs typeface="Times New Roman" panose="02020603050405020304" pitchFamily="18" charset="0"/>
              </a:rPr>
              <a:t>Esta jurisdicción se aplica a las relaciones y hechos jurídicos que se realizan o cuyos efectos se producen dentro de la jurisdicción de un PIOC.</a:t>
            </a:r>
            <a:endParaRPr lang="es-BO" sz="1200" dirty="0">
              <a:solidFill>
                <a:srgbClr val="3D2A1F"/>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CuadroTexto 23">
            <a:extLst>
              <a:ext uri="{FF2B5EF4-FFF2-40B4-BE49-F238E27FC236}">
                <a16:creationId xmlns:a16="http://schemas.microsoft.com/office/drawing/2014/main" id="{B2C99C26-BA21-4D30-B00F-7EEE19F5AD1F}"/>
              </a:ext>
            </a:extLst>
          </p:cNvPr>
          <p:cNvSpPr txBox="1"/>
          <p:nvPr/>
        </p:nvSpPr>
        <p:spPr>
          <a:xfrm>
            <a:off x="110802" y="5299895"/>
            <a:ext cx="8171664" cy="1369414"/>
          </a:xfrm>
          <a:custGeom>
            <a:avLst/>
            <a:gdLst>
              <a:gd name="connsiteX0" fmla="*/ 0 w 8171664"/>
              <a:gd name="connsiteY0" fmla="*/ 0 h 1369414"/>
              <a:gd name="connsiteX1" fmla="*/ 583690 w 8171664"/>
              <a:gd name="connsiteY1" fmla="*/ 0 h 1369414"/>
              <a:gd name="connsiteX2" fmla="*/ 1249097 w 8171664"/>
              <a:gd name="connsiteY2" fmla="*/ 0 h 1369414"/>
              <a:gd name="connsiteX3" fmla="*/ 1669354 w 8171664"/>
              <a:gd name="connsiteY3" fmla="*/ 0 h 1369414"/>
              <a:gd name="connsiteX4" fmla="*/ 2007895 w 8171664"/>
              <a:gd name="connsiteY4" fmla="*/ 0 h 1369414"/>
              <a:gd name="connsiteX5" fmla="*/ 2346435 w 8171664"/>
              <a:gd name="connsiteY5" fmla="*/ 0 h 1369414"/>
              <a:gd name="connsiteX6" fmla="*/ 2930125 w 8171664"/>
              <a:gd name="connsiteY6" fmla="*/ 0 h 1369414"/>
              <a:gd name="connsiteX7" fmla="*/ 3595532 w 8171664"/>
              <a:gd name="connsiteY7" fmla="*/ 0 h 1369414"/>
              <a:gd name="connsiteX8" fmla="*/ 4015789 w 8171664"/>
              <a:gd name="connsiteY8" fmla="*/ 0 h 1369414"/>
              <a:gd name="connsiteX9" fmla="*/ 4681196 w 8171664"/>
              <a:gd name="connsiteY9" fmla="*/ 0 h 1369414"/>
              <a:gd name="connsiteX10" fmla="*/ 5346603 w 8171664"/>
              <a:gd name="connsiteY10" fmla="*/ 0 h 1369414"/>
              <a:gd name="connsiteX11" fmla="*/ 5848577 w 8171664"/>
              <a:gd name="connsiteY11" fmla="*/ 0 h 1369414"/>
              <a:gd name="connsiteX12" fmla="*/ 6350550 w 8171664"/>
              <a:gd name="connsiteY12" fmla="*/ 0 h 1369414"/>
              <a:gd name="connsiteX13" fmla="*/ 6689091 w 8171664"/>
              <a:gd name="connsiteY13" fmla="*/ 0 h 1369414"/>
              <a:gd name="connsiteX14" fmla="*/ 7436214 w 8171664"/>
              <a:gd name="connsiteY14" fmla="*/ 0 h 1369414"/>
              <a:gd name="connsiteX15" fmla="*/ 8171664 w 8171664"/>
              <a:gd name="connsiteY15" fmla="*/ 0 h 1369414"/>
              <a:gd name="connsiteX16" fmla="*/ 8171664 w 8171664"/>
              <a:gd name="connsiteY16" fmla="*/ 415389 h 1369414"/>
              <a:gd name="connsiteX17" fmla="*/ 8171664 w 8171664"/>
              <a:gd name="connsiteY17" fmla="*/ 858166 h 1369414"/>
              <a:gd name="connsiteX18" fmla="*/ 8171664 w 8171664"/>
              <a:gd name="connsiteY18" fmla="*/ 1369414 h 1369414"/>
              <a:gd name="connsiteX19" fmla="*/ 7669690 w 8171664"/>
              <a:gd name="connsiteY19" fmla="*/ 1369414 h 1369414"/>
              <a:gd name="connsiteX20" fmla="*/ 7167717 w 8171664"/>
              <a:gd name="connsiteY20" fmla="*/ 1369414 h 1369414"/>
              <a:gd name="connsiteX21" fmla="*/ 6584026 w 8171664"/>
              <a:gd name="connsiteY21" fmla="*/ 1369414 h 1369414"/>
              <a:gd name="connsiteX22" fmla="*/ 5918619 w 8171664"/>
              <a:gd name="connsiteY22" fmla="*/ 1369414 h 1369414"/>
              <a:gd name="connsiteX23" fmla="*/ 5171496 w 8171664"/>
              <a:gd name="connsiteY23" fmla="*/ 1369414 h 1369414"/>
              <a:gd name="connsiteX24" fmla="*/ 4587806 w 8171664"/>
              <a:gd name="connsiteY24" fmla="*/ 1369414 h 1369414"/>
              <a:gd name="connsiteX25" fmla="*/ 3840682 w 8171664"/>
              <a:gd name="connsiteY25" fmla="*/ 1369414 h 1369414"/>
              <a:gd name="connsiteX26" fmla="*/ 3175275 w 8171664"/>
              <a:gd name="connsiteY26" fmla="*/ 1369414 h 1369414"/>
              <a:gd name="connsiteX27" fmla="*/ 2509868 w 8171664"/>
              <a:gd name="connsiteY27" fmla="*/ 1369414 h 1369414"/>
              <a:gd name="connsiteX28" fmla="*/ 2089611 w 8171664"/>
              <a:gd name="connsiteY28" fmla="*/ 1369414 h 1369414"/>
              <a:gd name="connsiteX29" fmla="*/ 1751071 w 8171664"/>
              <a:gd name="connsiteY29" fmla="*/ 1369414 h 1369414"/>
              <a:gd name="connsiteX30" fmla="*/ 1167381 w 8171664"/>
              <a:gd name="connsiteY30" fmla="*/ 1369414 h 1369414"/>
              <a:gd name="connsiteX31" fmla="*/ 0 w 8171664"/>
              <a:gd name="connsiteY31" fmla="*/ 1369414 h 1369414"/>
              <a:gd name="connsiteX32" fmla="*/ 0 w 8171664"/>
              <a:gd name="connsiteY32" fmla="*/ 885554 h 1369414"/>
              <a:gd name="connsiteX33" fmla="*/ 0 w 8171664"/>
              <a:gd name="connsiteY33" fmla="*/ 470165 h 1369414"/>
              <a:gd name="connsiteX34" fmla="*/ 0 w 8171664"/>
              <a:gd name="connsiteY34" fmla="*/ 0 h 136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171664" h="1369414" fill="none" extrusionOk="0">
                <a:moveTo>
                  <a:pt x="0" y="0"/>
                </a:moveTo>
                <a:cubicBezTo>
                  <a:pt x="267828" y="-61098"/>
                  <a:pt x="391549" y="23398"/>
                  <a:pt x="583690" y="0"/>
                </a:cubicBezTo>
                <a:cubicBezTo>
                  <a:pt x="775831" y="-23398"/>
                  <a:pt x="978301" y="14789"/>
                  <a:pt x="1249097" y="0"/>
                </a:cubicBezTo>
                <a:cubicBezTo>
                  <a:pt x="1519893" y="-14789"/>
                  <a:pt x="1521408" y="44184"/>
                  <a:pt x="1669354" y="0"/>
                </a:cubicBezTo>
                <a:cubicBezTo>
                  <a:pt x="1817300" y="-44184"/>
                  <a:pt x="1923562" y="14075"/>
                  <a:pt x="2007895" y="0"/>
                </a:cubicBezTo>
                <a:cubicBezTo>
                  <a:pt x="2092228" y="-14075"/>
                  <a:pt x="2264640" y="22714"/>
                  <a:pt x="2346435" y="0"/>
                </a:cubicBezTo>
                <a:cubicBezTo>
                  <a:pt x="2428230" y="-22714"/>
                  <a:pt x="2675420" y="54774"/>
                  <a:pt x="2930125" y="0"/>
                </a:cubicBezTo>
                <a:cubicBezTo>
                  <a:pt x="3184830" y="-54774"/>
                  <a:pt x="3322186" y="4162"/>
                  <a:pt x="3595532" y="0"/>
                </a:cubicBezTo>
                <a:cubicBezTo>
                  <a:pt x="3868878" y="-4162"/>
                  <a:pt x="3809512" y="33176"/>
                  <a:pt x="4015789" y="0"/>
                </a:cubicBezTo>
                <a:cubicBezTo>
                  <a:pt x="4222066" y="-33176"/>
                  <a:pt x="4353610" y="37510"/>
                  <a:pt x="4681196" y="0"/>
                </a:cubicBezTo>
                <a:cubicBezTo>
                  <a:pt x="5008782" y="-37510"/>
                  <a:pt x="5176494" y="39062"/>
                  <a:pt x="5346603" y="0"/>
                </a:cubicBezTo>
                <a:cubicBezTo>
                  <a:pt x="5516712" y="-39062"/>
                  <a:pt x="5738740" y="12931"/>
                  <a:pt x="5848577" y="0"/>
                </a:cubicBezTo>
                <a:cubicBezTo>
                  <a:pt x="5958414" y="-12931"/>
                  <a:pt x="6165667" y="54280"/>
                  <a:pt x="6350550" y="0"/>
                </a:cubicBezTo>
                <a:cubicBezTo>
                  <a:pt x="6535433" y="-54280"/>
                  <a:pt x="6574910" y="12086"/>
                  <a:pt x="6689091" y="0"/>
                </a:cubicBezTo>
                <a:cubicBezTo>
                  <a:pt x="6803272" y="-12086"/>
                  <a:pt x="7268767" y="85614"/>
                  <a:pt x="7436214" y="0"/>
                </a:cubicBezTo>
                <a:cubicBezTo>
                  <a:pt x="7603661" y="-85614"/>
                  <a:pt x="8012656" y="19700"/>
                  <a:pt x="8171664" y="0"/>
                </a:cubicBezTo>
                <a:cubicBezTo>
                  <a:pt x="8209169" y="111245"/>
                  <a:pt x="8124330" y="232701"/>
                  <a:pt x="8171664" y="415389"/>
                </a:cubicBezTo>
                <a:cubicBezTo>
                  <a:pt x="8218998" y="598077"/>
                  <a:pt x="8123601" y="673180"/>
                  <a:pt x="8171664" y="858166"/>
                </a:cubicBezTo>
                <a:cubicBezTo>
                  <a:pt x="8219727" y="1043152"/>
                  <a:pt x="8150604" y="1207760"/>
                  <a:pt x="8171664" y="1369414"/>
                </a:cubicBezTo>
                <a:cubicBezTo>
                  <a:pt x="7949922" y="1427419"/>
                  <a:pt x="7830845" y="1334342"/>
                  <a:pt x="7669690" y="1369414"/>
                </a:cubicBezTo>
                <a:cubicBezTo>
                  <a:pt x="7508535" y="1404486"/>
                  <a:pt x="7305681" y="1335188"/>
                  <a:pt x="7167717" y="1369414"/>
                </a:cubicBezTo>
                <a:cubicBezTo>
                  <a:pt x="7029753" y="1403640"/>
                  <a:pt x="6756656" y="1323264"/>
                  <a:pt x="6584026" y="1369414"/>
                </a:cubicBezTo>
                <a:cubicBezTo>
                  <a:pt x="6411396" y="1415564"/>
                  <a:pt x="6141909" y="1298411"/>
                  <a:pt x="5918619" y="1369414"/>
                </a:cubicBezTo>
                <a:cubicBezTo>
                  <a:pt x="5695329" y="1440417"/>
                  <a:pt x="5366032" y="1297152"/>
                  <a:pt x="5171496" y="1369414"/>
                </a:cubicBezTo>
                <a:cubicBezTo>
                  <a:pt x="4976960" y="1441676"/>
                  <a:pt x="4833265" y="1329120"/>
                  <a:pt x="4587806" y="1369414"/>
                </a:cubicBezTo>
                <a:cubicBezTo>
                  <a:pt x="4342347" y="1409708"/>
                  <a:pt x="4073387" y="1359231"/>
                  <a:pt x="3840682" y="1369414"/>
                </a:cubicBezTo>
                <a:cubicBezTo>
                  <a:pt x="3607977" y="1379597"/>
                  <a:pt x="3334562" y="1301667"/>
                  <a:pt x="3175275" y="1369414"/>
                </a:cubicBezTo>
                <a:cubicBezTo>
                  <a:pt x="3015988" y="1437161"/>
                  <a:pt x="2674253" y="1297681"/>
                  <a:pt x="2509868" y="1369414"/>
                </a:cubicBezTo>
                <a:cubicBezTo>
                  <a:pt x="2345483" y="1441147"/>
                  <a:pt x="2260587" y="1356178"/>
                  <a:pt x="2089611" y="1369414"/>
                </a:cubicBezTo>
                <a:cubicBezTo>
                  <a:pt x="1918635" y="1382650"/>
                  <a:pt x="1901599" y="1333285"/>
                  <a:pt x="1751071" y="1369414"/>
                </a:cubicBezTo>
                <a:cubicBezTo>
                  <a:pt x="1600543" y="1405543"/>
                  <a:pt x="1439221" y="1360095"/>
                  <a:pt x="1167381" y="1369414"/>
                </a:cubicBezTo>
                <a:cubicBezTo>
                  <a:pt x="895541" y="1378733"/>
                  <a:pt x="570442" y="1242445"/>
                  <a:pt x="0" y="1369414"/>
                </a:cubicBezTo>
                <a:cubicBezTo>
                  <a:pt x="-26986" y="1217138"/>
                  <a:pt x="9986" y="1020605"/>
                  <a:pt x="0" y="885554"/>
                </a:cubicBezTo>
                <a:cubicBezTo>
                  <a:pt x="-9986" y="750503"/>
                  <a:pt x="25706" y="612968"/>
                  <a:pt x="0" y="470165"/>
                </a:cubicBezTo>
                <a:cubicBezTo>
                  <a:pt x="-25706" y="327362"/>
                  <a:pt x="17756" y="109361"/>
                  <a:pt x="0" y="0"/>
                </a:cubicBezTo>
                <a:close/>
              </a:path>
              <a:path w="8171664" h="1369414" stroke="0" extrusionOk="0">
                <a:moveTo>
                  <a:pt x="0" y="0"/>
                </a:moveTo>
                <a:cubicBezTo>
                  <a:pt x="123097" y="-15703"/>
                  <a:pt x="274809" y="28282"/>
                  <a:pt x="420257" y="0"/>
                </a:cubicBezTo>
                <a:cubicBezTo>
                  <a:pt x="565705" y="-28282"/>
                  <a:pt x="986153" y="35686"/>
                  <a:pt x="1167381" y="0"/>
                </a:cubicBezTo>
                <a:cubicBezTo>
                  <a:pt x="1348609" y="-35686"/>
                  <a:pt x="1667465" y="65545"/>
                  <a:pt x="1832787" y="0"/>
                </a:cubicBezTo>
                <a:cubicBezTo>
                  <a:pt x="1998109" y="-65545"/>
                  <a:pt x="2247834" y="79938"/>
                  <a:pt x="2579911" y="0"/>
                </a:cubicBezTo>
                <a:cubicBezTo>
                  <a:pt x="2911988" y="-79938"/>
                  <a:pt x="2976109" y="5370"/>
                  <a:pt x="3327035" y="0"/>
                </a:cubicBezTo>
                <a:cubicBezTo>
                  <a:pt x="3677961" y="-5370"/>
                  <a:pt x="3614900" y="58643"/>
                  <a:pt x="3829008" y="0"/>
                </a:cubicBezTo>
                <a:cubicBezTo>
                  <a:pt x="4043116" y="-58643"/>
                  <a:pt x="4124860" y="8546"/>
                  <a:pt x="4330982" y="0"/>
                </a:cubicBezTo>
                <a:cubicBezTo>
                  <a:pt x="4537104" y="-8546"/>
                  <a:pt x="4732643" y="17637"/>
                  <a:pt x="4914672" y="0"/>
                </a:cubicBezTo>
                <a:cubicBezTo>
                  <a:pt x="5096701" y="-17637"/>
                  <a:pt x="5245404" y="30018"/>
                  <a:pt x="5334929" y="0"/>
                </a:cubicBezTo>
                <a:cubicBezTo>
                  <a:pt x="5424454" y="-30018"/>
                  <a:pt x="5622588" y="24379"/>
                  <a:pt x="5755186" y="0"/>
                </a:cubicBezTo>
                <a:cubicBezTo>
                  <a:pt x="5887784" y="-24379"/>
                  <a:pt x="6003241" y="4490"/>
                  <a:pt x="6175443" y="0"/>
                </a:cubicBezTo>
                <a:cubicBezTo>
                  <a:pt x="6347645" y="-4490"/>
                  <a:pt x="6540602" y="16459"/>
                  <a:pt x="6677417" y="0"/>
                </a:cubicBezTo>
                <a:cubicBezTo>
                  <a:pt x="6814232" y="-16459"/>
                  <a:pt x="7207179" y="56044"/>
                  <a:pt x="7342824" y="0"/>
                </a:cubicBezTo>
                <a:cubicBezTo>
                  <a:pt x="7478469" y="-56044"/>
                  <a:pt x="7913714" y="7678"/>
                  <a:pt x="8171664" y="0"/>
                </a:cubicBezTo>
                <a:cubicBezTo>
                  <a:pt x="8174034" y="110686"/>
                  <a:pt x="8165839" y="270757"/>
                  <a:pt x="8171664" y="429083"/>
                </a:cubicBezTo>
                <a:cubicBezTo>
                  <a:pt x="8177489" y="587409"/>
                  <a:pt x="8121296" y="750133"/>
                  <a:pt x="8171664" y="871860"/>
                </a:cubicBezTo>
                <a:cubicBezTo>
                  <a:pt x="8222032" y="993587"/>
                  <a:pt x="8139333" y="1215326"/>
                  <a:pt x="8171664" y="1369414"/>
                </a:cubicBezTo>
                <a:cubicBezTo>
                  <a:pt x="7999053" y="1428593"/>
                  <a:pt x="7809966" y="1338334"/>
                  <a:pt x="7669690" y="1369414"/>
                </a:cubicBezTo>
                <a:cubicBezTo>
                  <a:pt x="7529414" y="1400494"/>
                  <a:pt x="7117866" y="1366283"/>
                  <a:pt x="6922567" y="1369414"/>
                </a:cubicBezTo>
                <a:cubicBezTo>
                  <a:pt x="6727268" y="1372545"/>
                  <a:pt x="6694108" y="1328763"/>
                  <a:pt x="6502310" y="1369414"/>
                </a:cubicBezTo>
                <a:cubicBezTo>
                  <a:pt x="6310512" y="1410065"/>
                  <a:pt x="6265822" y="1359951"/>
                  <a:pt x="6163769" y="1369414"/>
                </a:cubicBezTo>
                <a:cubicBezTo>
                  <a:pt x="6061716" y="1378877"/>
                  <a:pt x="5883965" y="1348301"/>
                  <a:pt x="5743512" y="1369414"/>
                </a:cubicBezTo>
                <a:cubicBezTo>
                  <a:pt x="5603059" y="1390527"/>
                  <a:pt x="5374547" y="1349780"/>
                  <a:pt x="5159822" y="1369414"/>
                </a:cubicBezTo>
                <a:cubicBezTo>
                  <a:pt x="4945097" y="1389048"/>
                  <a:pt x="4865169" y="1320048"/>
                  <a:pt x="4657848" y="1369414"/>
                </a:cubicBezTo>
                <a:cubicBezTo>
                  <a:pt x="4450527" y="1418780"/>
                  <a:pt x="4217962" y="1349281"/>
                  <a:pt x="4074158" y="1369414"/>
                </a:cubicBezTo>
                <a:cubicBezTo>
                  <a:pt x="3930354" y="1389547"/>
                  <a:pt x="3690467" y="1289970"/>
                  <a:pt x="3408751" y="1369414"/>
                </a:cubicBezTo>
                <a:cubicBezTo>
                  <a:pt x="3127035" y="1448858"/>
                  <a:pt x="3074474" y="1331391"/>
                  <a:pt x="2825061" y="1369414"/>
                </a:cubicBezTo>
                <a:cubicBezTo>
                  <a:pt x="2575648" y="1407437"/>
                  <a:pt x="2558306" y="1338210"/>
                  <a:pt x="2486521" y="1369414"/>
                </a:cubicBezTo>
                <a:cubicBezTo>
                  <a:pt x="2414736" y="1400618"/>
                  <a:pt x="2048499" y="1304460"/>
                  <a:pt x="1821114" y="1369414"/>
                </a:cubicBezTo>
                <a:cubicBezTo>
                  <a:pt x="1593729" y="1434368"/>
                  <a:pt x="1375243" y="1302994"/>
                  <a:pt x="1155707" y="1369414"/>
                </a:cubicBezTo>
                <a:cubicBezTo>
                  <a:pt x="936171" y="1435834"/>
                  <a:pt x="329875" y="1352348"/>
                  <a:pt x="0" y="1369414"/>
                </a:cubicBezTo>
                <a:cubicBezTo>
                  <a:pt x="-47601" y="1234486"/>
                  <a:pt x="8177" y="1081466"/>
                  <a:pt x="0" y="954025"/>
                </a:cubicBezTo>
                <a:cubicBezTo>
                  <a:pt x="-8177" y="826584"/>
                  <a:pt x="14166" y="651832"/>
                  <a:pt x="0" y="511248"/>
                </a:cubicBezTo>
                <a:cubicBezTo>
                  <a:pt x="-14166" y="370664"/>
                  <a:pt x="14792" y="153443"/>
                  <a:pt x="0" y="0"/>
                </a:cubicBezTo>
                <a:close/>
              </a:path>
            </a:pathLst>
          </a:custGeom>
          <a:solidFill>
            <a:schemeClr val="tx1"/>
          </a:solidFill>
          <a:ln w="38100">
            <a:solidFill>
              <a:srgbClr val="7030A0"/>
            </a:solidFill>
            <a:extLst>
              <a:ext uri="{C807C97D-BFC1-408E-A445-0C87EB9F89A2}">
                <ask:lineSketchStyleProps xmlns:ask="http://schemas.microsoft.com/office/drawing/2018/sketchyshapes" sd="3643539580">
                  <a:prstGeom prst="rect">
                    <a:avLst/>
                  </a:prstGeom>
                  <ask:type>
                    <ask:lineSketchScribble/>
                  </ask:type>
                </ask:lineSketchStyleProps>
              </a:ext>
            </a:extLst>
          </a:ln>
        </p:spPr>
        <p:txBody>
          <a:bodyPr wrap="square">
            <a:spAutoFit/>
          </a:bodyPr>
          <a:lstStyle/>
          <a:p>
            <a:pPr marL="342900" lvl="0" indent="-342900" algn="just">
              <a:lnSpc>
                <a:spcPct val="107000"/>
              </a:lnSpc>
              <a:spcAft>
                <a:spcPts val="800"/>
              </a:spcAft>
              <a:buFont typeface="+mj-lt"/>
              <a:buAutoNum type="romanUcPeriod"/>
              <a:tabLst>
                <a:tab pos="457200" algn="l"/>
              </a:tabLst>
            </a:pPr>
            <a:r>
              <a:rPr lang="es-BO" sz="1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Toda autoridad pública o persona acatará las decisiones de la jurisdicción IOC </a:t>
            </a:r>
            <a:endParaRPr lang="es-BO" sz="1200" dirty="0">
              <a:solidFill>
                <a:srgbClr val="FF0000"/>
              </a:solidFill>
              <a:effectLst/>
              <a:latin typeface="Arial Black" panose="020B0A04020102020204" pitchFamily="34" charset="0"/>
              <a:ea typeface="Calibri" panose="020F0502020204030204" pitchFamily="34" charset="0"/>
              <a:cs typeface="Arial" panose="020B0604020202020204" pitchFamily="34" charset="0"/>
            </a:endParaRPr>
          </a:p>
          <a:p>
            <a:pPr marL="342900" lvl="0" indent="-342900" algn="just">
              <a:lnSpc>
                <a:spcPct val="107000"/>
              </a:lnSpc>
              <a:spcAft>
                <a:spcPts val="800"/>
              </a:spcAft>
              <a:buFont typeface="+mj-lt"/>
              <a:buAutoNum type="romanUcPeriod"/>
              <a:tabLst>
                <a:tab pos="457200" algn="l"/>
              </a:tabLst>
            </a:pPr>
            <a:r>
              <a:rPr lang="es-BO" sz="1200" dirty="0">
                <a:solidFill>
                  <a:srgbClr val="3D2A1F"/>
                </a:solidFill>
                <a:effectLst/>
                <a:latin typeface="Arial" panose="020B0604020202020204" pitchFamily="34" charset="0"/>
                <a:ea typeface="Times New Roman" panose="02020603050405020304" pitchFamily="18" charset="0"/>
                <a:cs typeface="Arial" panose="020B0604020202020204" pitchFamily="34" charset="0"/>
              </a:rPr>
              <a:t>Para el cumplimiento de las decisiones de la jurisdicción IOC, sus autoridades podrán solicitar el apoyo de los órganos competentes del Estado.</a:t>
            </a:r>
            <a:endParaRPr lang="es-BO" sz="1200" dirty="0">
              <a:solidFill>
                <a:srgbClr val="3D2A1F"/>
              </a:solidFill>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07000"/>
              </a:lnSpc>
              <a:spcAft>
                <a:spcPts val="800"/>
              </a:spcAft>
              <a:buFont typeface="+mj-lt"/>
              <a:buAutoNum type="romanUcPeriod"/>
              <a:tabLst>
                <a:tab pos="457200" algn="l"/>
              </a:tabLst>
            </a:pPr>
            <a:r>
              <a:rPr lang="es-BO" sz="1200" dirty="0">
                <a:solidFill>
                  <a:srgbClr val="3D2A1F"/>
                </a:solidFill>
                <a:effectLst/>
                <a:latin typeface="Arial" panose="020B0604020202020204" pitchFamily="34" charset="0"/>
                <a:ea typeface="Times New Roman" panose="02020603050405020304" pitchFamily="18" charset="0"/>
                <a:cs typeface="Arial" panose="020B0604020202020204" pitchFamily="34" charset="0"/>
              </a:rPr>
              <a:t>El Estado promoverá y fortalecerá la justicia IOC. La Ley de Deslinde Jurisdiccional, determinará los mecanismos de coordinación y cooperación entre la jurisdicción IOC con LAS  OTRAS  JURISDICCIONES</a:t>
            </a:r>
            <a:r>
              <a:rPr lang="es-BO" sz="1800" dirty="0">
                <a:solidFill>
                  <a:srgbClr val="3D2A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s-BO" sz="1600" dirty="0">
              <a:solidFill>
                <a:srgbClr val="3D2A1F"/>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6" name="Picture 2" descr="T R D 2009">
            <a:extLst>
              <a:ext uri="{FF2B5EF4-FFF2-40B4-BE49-F238E27FC236}">
                <a16:creationId xmlns:a16="http://schemas.microsoft.com/office/drawing/2014/main" id="{94FE9D3A-FD4C-415C-92C0-21CBF8D94F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3637" y="3636761"/>
            <a:ext cx="1097123" cy="14057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526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24C486B-1EC4-478F-81B2-7B8764C86675}"/>
              </a:ext>
            </a:extLst>
          </p:cNvPr>
          <p:cNvSpPr txBox="1"/>
          <p:nvPr/>
        </p:nvSpPr>
        <p:spPr>
          <a:xfrm>
            <a:off x="40380" y="523631"/>
            <a:ext cx="3917038" cy="1292662"/>
          </a:xfrm>
          <a:prstGeom prst="rect">
            <a:avLst/>
          </a:prstGeom>
          <a:solidFill>
            <a:schemeClr val="accent1">
              <a:lumMod val="60000"/>
              <a:lumOff val="40000"/>
            </a:schemeClr>
          </a:solid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600" b="1" i="1"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De ella emanan, por delegación, las funciones y atribuciones de los órganos del poder público; es inalienable e imprescriptible</a:t>
            </a:r>
            <a:r>
              <a:rPr kumimoji="0" lang="es-MX" sz="1800" b="0"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                          </a:t>
            </a:r>
            <a:r>
              <a:rPr kumimoji="0" lang="es-MX" sz="1200" b="1"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Art. 7 CPE</a:t>
            </a:r>
            <a:endParaRPr kumimoji="0" lang="es-BO"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
        <p:nvSpPr>
          <p:cNvPr id="5" name="CuadroTexto 4">
            <a:extLst>
              <a:ext uri="{FF2B5EF4-FFF2-40B4-BE49-F238E27FC236}">
                <a16:creationId xmlns:a16="http://schemas.microsoft.com/office/drawing/2014/main" id="{86B4DA62-FD15-4526-B1DB-B23F35020414}"/>
              </a:ext>
            </a:extLst>
          </p:cNvPr>
          <p:cNvSpPr txBox="1"/>
          <p:nvPr/>
        </p:nvSpPr>
        <p:spPr>
          <a:xfrm>
            <a:off x="17697" y="70362"/>
            <a:ext cx="3917038" cy="423622"/>
          </a:xfrm>
          <a:prstGeom prst="rect">
            <a:avLst/>
          </a:prstGeom>
          <a:solidFill>
            <a:schemeClr val="accent1">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marR="0" lvl="0" indent="0" algn="just" defTabSz="711200" rtl="0" eaLnBrk="1" fontAlgn="auto" latinLnBrk="0" hangingPunct="1">
              <a:lnSpc>
                <a:spcPct val="90000"/>
              </a:lnSpc>
              <a:spcBef>
                <a:spcPct val="0"/>
              </a:spcBef>
              <a:spcAft>
                <a:spcPct val="35000"/>
              </a:spcAft>
              <a:buClrTx/>
              <a:buSzTx/>
              <a:buFontTx/>
              <a:buNone/>
              <a:tabLst/>
              <a:defRPr/>
            </a:pPr>
            <a:endParaRPr kumimoji="0" lang="es-MX" sz="1400" b="0"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endParaRPr>
          </a:p>
          <a:p>
            <a:pPr marL="0" marR="0" lvl="0" indent="0" algn="just" defTabSz="711200" rtl="0" eaLnBrk="1" fontAlgn="auto" latinLnBrk="0" hangingPunct="1">
              <a:lnSpc>
                <a:spcPct val="90000"/>
              </a:lnSpc>
              <a:spcBef>
                <a:spcPct val="0"/>
              </a:spcBef>
              <a:spcAft>
                <a:spcPct val="35000"/>
              </a:spcAft>
              <a:buClrTx/>
              <a:buSzTx/>
              <a:buFontTx/>
              <a:buNone/>
              <a:tabLst/>
              <a:defRPr/>
            </a:pPr>
            <a:r>
              <a:rPr kumimoji="0" lang="es-MX" sz="1400" b="0"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La </a:t>
            </a:r>
            <a:r>
              <a:rPr kumimoji="0" lang="es-MX" sz="1400" b="1" i="1"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soberanía reside en el pueblo boliviano</a:t>
            </a:r>
            <a:r>
              <a:rPr kumimoji="0" lang="es-MX" sz="1400" b="0"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 se ejerce de forma directa y delegada</a:t>
            </a:r>
          </a:p>
          <a:p>
            <a:pPr marL="0" marR="0" lvl="0" indent="0" algn="just" defTabSz="711200" rtl="0" eaLnBrk="1" fontAlgn="auto" latinLnBrk="0" hangingPunct="1">
              <a:lnSpc>
                <a:spcPct val="90000"/>
              </a:lnSpc>
              <a:spcBef>
                <a:spcPct val="0"/>
              </a:spcBef>
              <a:spcAft>
                <a:spcPct val="35000"/>
              </a:spcAft>
              <a:buClrTx/>
              <a:buSzTx/>
              <a:buFontTx/>
              <a:buNone/>
              <a:tabLst/>
              <a:defRPr/>
            </a:pPr>
            <a:endParaRPr kumimoji="0" lang="es-BO" sz="14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CuadroTexto 5">
            <a:extLst>
              <a:ext uri="{FF2B5EF4-FFF2-40B4-BE49-F238E27FC236}">
                <a16:creationId xmlns:a16="http://schemas.microsoft.com/office/drawing/2014/main" id="{87D95840-5881-4973-81E6-B655C68E389D}"/>
              </a:ext>
            </a:extLst>
          </p:cNvPr>
          <p:cNvSpPr txBox="1"/>
          <p:nvPr/>
        </p:nvSpPr>
        <p:spPr>
          <a:xfrm>
            <a:off x="3980099" y="42667"/>
            <a:ext cx="4294864" cy="830997"/>
          </a:xfrm>
          <a:prstGeom prst="rect">
            <a:avLst/>
          </a:prstGeom>
          <a:solidFill>
            <a:srgbClr val="FFFF00"/>
          </a:solid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La potestad de impartir justicia emana del pueblo boliviano y se sustenta en los principios</a:t>
            </a:r>
          </a:p>
        </p:txBody>
      </p:sp>
      <p:sp>
        <p:nvSpPr>
          <p:cNvPr id="8" name="CuadroTexto 7">
            <a:extLst>
              <a:ext uri="{FF2B5EF4-FFF2-40B4-BE49-F238E27FC236}">
                <a16:creationId xmlns:a16="http://schemas.microsoft.com/office/drawing/2014/main" id="{8A21A0C4-8664-4097-A7A5-621C8B6CD808}"/>
              </a:ext>
            </a:extLst>
          </p:cNvPr>
          <p:cNvSpPr txBox="1"/>
          <p:nvPr/>
        </p:nvSpPr>
        <p:spPr>
          <a:xfrm>
            <a:off x="3964472" y="873664"/>
            <a:ext cx="4303437" cy="1169551"/>
          </a:xfrm>
          <a:prstGeom prst="rect">
            <a:avLst/>
          </a:prstGeom>
          <a:solidFill>
            <a:srgbClr val="FFFF00"/>
          </a:solid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dirty="0">
                <a:ln>
                  <a:noFill/>
                </a:ln>
                <a:solidFill>
                  <a:srgbClr val="3D2A1F"/>
                </a:solidFill>
                <a:effectLst/>
                <a:uLnTx/>
                <a:uFillTx/>
                <a:latin typeface="Times New Roman" panose="02020603050405020304" pitchFamily="18" charset="0"/>
                <a:ea typeface="+mn-ea"/>
                <a:cs typeface="+mn-cs"/>
              </a:rPr>
              <a:t>de independencia, imparcialidad, seguridad jurídica, publicidad, probidad, celeridad, gratuidad, pluralismo jurídico, interculturalidad, equidad, servicio a la sociedad, participación ciudadana, armonía social y respeto a los derechos</a:t>
            </a:r>
            <a:r>
              <a:rPr kumimoji="0" lang="es-MX" sz="1400" b="1"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 </a:t>
            </a:r>
            <a:r>
              <a:rPr kumimoji="0" lang="es-MX" sz="1200" b="1"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Art.178 CPE </a:t>
            </a:r>
            <a:endParaRPr kumimoji="0" lang="es-BO" sz="1200" b="0"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
        <p:nvSpPr>
          <p:cNvPr id="10" name="CuadroTexto 9">
            <a:extLst>
              <a:ext uri="{FF2B5EF4-FFF2-40B4-BE49-F238E27FC236}">
                <a16:creationId xmlns:a16="http://schemas.microsoft.com/office/drawing/2014/main" id="{BC83C86D-C6A4-42E2-B864-AD4D85EAC06D}"/>
              </a:ext>
            </a:extLst>
          </p:cNvPr>
          <p:cNvSpPr txBox="1"/>
          <p:nvPr/>
        </p:nvSpPr>
        <p:spPr>
          <a:xfrm>
            <a:off x="8325714" y="585187"/>
            <a:ext cx="2415858" cy="830997"/>
          </a:xfrm>
          <a:prstGeom prst="rect">
            <a:avLst/>
          </a:prstGeom>
          <a:solidFill>
            <a:schemeClr val="accent5">
              <a:lumMod val="40000"/>
              <a:lumOff val="60000"/>
            </a:schemeClr>
          </a:solid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600" b="1" i="1"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la jurisdicción IOC se ejerce por sus propias autoridades</a:t>
            </a:r>
            <a:r>
              <a:rPr kumimoji="0" lang="es-MX" sz="1600" b="0"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 </a:t>
            </a:r>
            <a:r>
              <a:rPr kumimoji="0" lang="es-BO" sz="1100" b="1" i="0" u="none" strike="noStrike" kern="1200" cap="none" spc="0" normalizeH="0" baseline="0" noProof="0" dirty="0">
                <a:ln>
                  <a:noFill/>
                </a:ln>
                <a:solidFill>
                  <a:srgbClr val="3D2A1F"/>
                </a:solidFill>
                <a:effectLst/>
                <a:uLnTx/>
                <a:uFillTx/>
                <a:latin typeface="Arial" panose="020B0604020202020204" pitchFamily="34" charset="0"/>
                <a:ea typeface="+mn-ea"/>
                <a:cs typeface="Arial" panose="020B0604020202020204" pitchFamily="34" charset="0"/>
              </a:rPr>
              <a:t>Art. 179° CPE</a:t>
            </a:r>
            <a:endParaRPr kumimoji="0" lang="es-BO"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
        <p:nvSpPr>
          <p:cNvPr id="18" name="CuadroTexto 17">
            <a:extLst>
              <a:ext uri="{FF2B5EF4-FFF2-40B4-BE49-F238E27FC236}">
                <a16:creationId xmlns:a16="http://schemas.microsoft.com/office/drawing/2014/main" id="{AF2D0076-ACDA-4D64-8B59-D0641A4B2167}"/>
              </a:ext>
            </a:extLst>
          </p:cNvPr>
          <p:cNvSpPr txBox="1"/>
          <p:nvPr/>
        </p:nvSpPr>
        <p:spPr>
          <a:xfrm>
            <a:off x="3973321" y="6124358"/>
            <a:ext cx="3728545" cy="369332"/>
          </a:xfrm>
          <a:prstGeom prst="rect">
            <a:avLst/>
          </a:prstGeom>
          <a:solidFill>
            <a:schemeClr val="bg1"/>
          </a:solidFill>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s-MX" sz="1800" b="1" i="0" u="sng"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LEY 025 Ley del Órgano Judicial</a:t>
            </a:r>
            <a:endParaRPr kumimoji="0" lang="es-MX" sz="2000" b="0" i="0" u="none" strike="noStrike" kern="0" cap="none" spc="0" normalizeH="0" baseline="0" noProof="0" dirty="0">
              <a:ln>
                <a:noFill/>
              </a:ln>
              <a:solidFill>
                <a:prstClr val="black"/>
              </a:solidFill>
              <a:effectLst/>
              <a:uLnTx/>
              <a:uFillTx/>
              <a:latin typeface="Gill Sans MT" panose="020B0502020104020203"/>
            </a:endParaRPr>
          </a:p>
        </p:txBody>
      </p:sp>
      <p:graphicFrame>
        <p:nvGraphicFramePr>
          <p:cNvPr id="19" name="Diagrama 18">
            <a:extLst>
              <a:ext uri="{FF2B5EF4-FFF2-40B4-BE49-F238E27FC236}">
                <a16:creationId xmlns:a16="http://schemas.microsoft.com/office/drawing/2014/main" id="{31BCAC2D-4C8C-48EF-8F12-469566816E0C}"/>
              </a:ext>
            </a:extLst>
          </p:cNvPr>
          <p:cNvGraphicFramePr/>
          <p:nvPr>
            <p:extLst>
              <p:ext uri="{D42A27DB-BD31-4B8C-83A1-F6EECF244321}">
                <p14:modId xmlns:p14="http://schemas.microsoft.com/office/powerpoint/2010/main" val="2529521587"/>
              </p:ext>
            </p:extLst>
          </p:nvPr>
        </p:nvGraphicFramePr>
        <p:xfrm>
          <a:off x="444936" y="1324981"/>
          <a:ext cx="11747064"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9298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Graphic spid="19"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9F1D7C3-1401-4EBF-87B3-618112FAA1BF}"/>
              </a:ext>
            </a:extLst>
          </p:cNvPr>
          <p:cNvSpPr txBox="1"/>
          <p:nvPr/>
        </p:nvSpPr>
        <p:spPr>
          <a:xfrm>
            <a:off x="2953407" y="173539"/>
            <a:ext cx="5076496" cy="369332"/>
          </a:xfrm>
          <a:prstGeom prst="rect">
            <a:avLst/>
          </a:prstGeom>
          <a:noFill/>
        </p:spPr>
        <p:txBody>
          <a:bodyPr wrap="square">
            <a:spAutoFit/>
          </a:bodyPr>
          <a:lstStyle/>
          <a:p>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Ley </a:t>
            </a:r>
            <a:r>
              <a:rPr kumimoji="0" lang="es-MX"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a:t>
            </a: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073, Ley del Deslinde Jurisdiccional</a:t>
            </a:r>
            <a:endParaRPr lang="es-BO" dirty="0"/>
          </a:p>
        </p:txBody>
      </p:sp>
      <p:sp>
        <p:nvSpPr>
          <p:cNvPr id="14" name="CuadroTexto 13">
            <a:extLst>
              <a:ext uri="{FF2B5EF4-FFF2-40B4-BE49-F238E27FC236}">
                <a16:creationId xmlns:a16="http://schemas.microsoft.com/office/drawing/2014/main" id="{CEB8F999-F12F-482E-9837-B1F7C5A73429}"/>
              </a:ext>
            </a:extLst>
          </p:cNvPr>
          <p:cNvSpPr txBox="1"/>
          <p:nvPr/>
        </p:nvSpPr>
        <p:spPr>
          <a:xfrm>
            <a:off x="420415" y="549984"/>
            <a:ext cx="3605046" cy="2208133"/>
          </a:xfrm>
          <a:prstGeom prst="snip1Rect">
            <a:avLst/>
          </a:prstGeom>
          <a:noFill/>
          <a:ln w="38100">
            <a:solidFill>
              <a:srgbClr val="0070C0"/>
            </a:solidFill>
          </a:ln>
        </p:spPr>
        <p:txBody>
          <a:bodyPr wrap="square">
            <a:spAutoFit/>
          </a:bodyPr>
          <a:lstStyle/>
          <a:p>
            <a:pPr lvl="0" algn="just"/>
            <a:r>
              <a:rPr lang="es-MX" sz="1400" b="1" i="0" dirty="0">
                <a:solidFill>
                  <a:srgbClr val="000000"/>
                </a:solidFill>
                <a:effectLst/>
                <a:latin typeface="Arial" panose="020B0604020202020204" pitchFamily="34" charset="0"/>
                <a:cs typeface="Arial" panose="020B0604020202020204" pitchFamily="34" charset="0"/>
              </a:rPr>
              <a:t>OBJETO:</a:t>
            </a:r>
          </a:p>
          <a:p>
            <a:pPr lvl="0" algn="just"/>
            <a:r>
              <a:rPr lang="es-MX" sz="1400" b="0" i="0" dirty="0">
                <a:solidFill>
                  <a:srgbClr val="000000"/>
                </a:solidFill>
                <a:effectLst/>
                <a:latin typeface="Arial" panose="020B0604020202020204" pitchFamily="34" charset="0"/>
                <a:cs typeface="Arial" panose="020B0604020202020204" pitchFamily="34" charset="0"/>
              </a:rPr>
              <a:t>regular los ámbitos de vigencia, dispuestos en la </a:t>
            </a:r>
            <a:r>
              <a:rPr kumimoji="0" lang="es-MX" sz="1400" b="1" i="0" u="none" strike="noStrike"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CPE</a:t>
            </a:r>
            <a:r>
              <a:rPr lang="es-MX" sz="1400" b="0" i="0" dirty="0">
                <a:solidFill>
                  <a:srgbClr val="000000"/>
                </a:solidFill>
                <a:effectLst/>
                <a:latin typeface="Arial" panose="020B0604020202020204" pitchFamily="34" charset="0"/>
                <a:cs typeface="Arial" panose="020B0604020202020204" pitchFamily="34" charset="0"/>
              </a:rPr>
              <a:t>, entre la jurisdicción IOC y las otras jurisdicciones </a:t>
            </a:r>
            <a:r>
              <a:rPr lang="es-MX" sz="1400" b="0" i="0" dirty="0">
                <a:solidFill>
                  <a:srgbClr val="FF0000"/>
                </a:solidFill>
                <a:effectLst/>
                <a:latin typeface="arial" panose="020B0604020202020204" pitchFamily="34" charset="0"/>
              </a:rPr>
              <a:t>y determinar los mecanismos de coordinación y cooperación </a:t>
            </a:r>
            <a:endParaRPr lang="es-BO" sz="1400" dirty="0">
              <a:solidFill>
                <a:srgbClr val="FF0000"/>
              </a:solidFill>
            </a:endParaRPr>
          </a:p>
          <a:p>
            <a:pPr lvl="0" algn="just"/>
            <a:r>
              <a:rPr lang="es-MX" sz="1400" b="0" i="0" dirty="0">
                <a:solidFill>
                  <a:srgbClr val="000000"/>
                </a:solidFill>
                <a:effectLst/>
                <a:latin typeface="arial" panose="020B0604020202020204" pitchFamily="34" charset="0"/>
              </a:rPr>
              <a:t>entre estas jurisdicciones, en el marco del pluralismo jurídico</a:t>
            </a:r>
          </a:p>
          <a:p>
            <a:pPr lvl="0"/>
            <a:r>
              <a:rPr kumimoji="0" lang="es-MX" sz="1400" b="0" i="0" u="none" strike="noStrike" kern="1200" cap="none" spc="0" normalizeH="0" baseline="0" noProof="0" dirty="0">
                <a:ln>
                  <a:noFill/>
                </a:ln>
                <a:solidFill>
                  <a:prstClr val="black"/>
                </a:solidFill>
                <a:effectLst/>
                <a:uLnTx/>
                <a:uFillTx/>
                <a:latin typeface="Trebuchet MS" panose="020B0603020202020204"/>
                <a:ea typeface="+mn-ea"/>
                <a:cs typeface="+mn-cs"/>
              </a:rPr>
              <a:t>Art.1</a:t>
            </a:r>
            <a:endParaRPr lang="es-BO" sz="1400" dirty="0"/>
          </a:p>
        </p:txBody>
      </p:sp>
      <p:sp>
        <p:nvSpPr>
          <p:cNvPr id="16" name="CuadroTexto 15">
            <a:extLst>
              <a:ext uri="{FF2B5EF4-FFF2-40B4-BE49-F238E27FC236}">
                <a16:creationId xmlns:a16="http://schemas.microsoft.com/office/drawing/2014/main" id="{D4DC03B7-0DA6-495C-9E5C-C313A761A87F}"/>
              </a:ext>
            </a:extLst>
          </p:cNvPr>
          <p:cNvSpPr txBox="1"/>
          <p:nvPr/>
        </p:nvSpPr>
        <p:spPr>
          <a:xfrm>
            <a:off x="4582509" y="549984"/>
            <a:ext cx="7336221" cy="2188488"/>
          </a:xfrm>
          <a:prstGeom prst="snip1Rect">
            <a:avLst>
              <a:gd name="adj" fmla="val 15715"/>
            </a:avLst>
          </a:prstGeom>
          <a:noFill/>
          <a:ln w="57150">
            <a:solidFill>
              <a:srgbClr val="0070C0"/>
            </a:solidFill>
          </a:ln>
        </p:spPr>
        <p:txBody>
          <a:bodyPr wrap="square">
            <a:spAutoFit/>
          </a:bodyPr>
          <a:lstStyle/>
          <a:p>
            <a:r>
              <a:rPr lang="es-BO" sz="1400" b="1" i="0" dirty="0">
                <a:solidFill>
                  <a:srgbClr val="000000"/>
                </a:solidFill>
                <a:effectLst/>
                <a:latin typeface="Arial" panose="020B0604020202020204" pitchFamily="34" charset="0"/>
                <a:cs typeface="Arial" panose="020B0604020202020204" pitchFamily="34" charset="0"/>
              </a:rPr>
              <a:t>MARCO CONSTITUCIONAL</a:t>
            </a:r>
          </a:p>
          <a:p>
            <a:pPr lvl="0" algn="just"/>
            <a:r>
              <a:rPr lang="es-MX" sz="1400" b="1" i="0" dirty="0">
                <a:solidFill>
                  <a:schemeClr val="tx1"/>
                </a:solidFill>
                <a:latin typeface="Arial" panose="020B0604020202020204" pitchFamily="34" charset="0"/>
                <a:cs typeface="Arial" panose="020B0604020202020204" pitchFamily="34" charset="0"/>
              </a:rPr>
              <a:t>I. </a:t>
            </a:r>
            <a:r>
              <a:rPr lang="es-MX" sz="1400" b="0" i="0" dirty="0">
                <a:solidFill>
                  <a:schemeClr val="tx1"/>
                </a:solidFill>
                <a:latin typeface="Arial" panose="020B0604020202020204" pitchFamily="34" charset="0"/>
                <a:cs typeface="Arial" panose="020B0604020202020204" pitchFamily="34" charset="0"/>
              </a:rPr>
              <a:t>Dada la existencia pre colonial de las NPIOC y su dominio ancestral sobre sus territorios, se garantiza su libre determinación en el marco de la unidad del Estado, que consiste en su derecho a la autonomía, al autogobierno, a su </a:t>
            </a:r>
            <a:r>
              <a:rPr lang="es-MX" sz="1400" b="0" i="0" dirty="0" err="1">
                <a:solidFill>
                  <a:schemeClr val="tx1"/>
                </a:solidFill>
                <a:latin typeface="Arial" panose="020B0604020202020204" pitchFamily="34" charset="0"/>
                <a:cs typeface="Arial" panose="020B0604020202020204" pitchFamily="34" charset="0"/>
              </a:rPr>
              <a:t>cultura</a:t>
            </a:r>
            <a:r>
              <a:rPr lang="es-MX" sz="1400" b="0" i="0" dirty="0" err="1">
                <a:latin typeface="Arial" panose="020B0604020202020204" pitchFamily="34" charset="0"/>
                <a:cs typeface="Arial" panose="020B0604020202020204" pitchFamily="34" charset="0"/>
              </a:rPr>
              <a:t>al</a:t>
            </a:r>
            <a:r>
              <a:rPr lang="es-MX" sz="1400" b="0" i="0" dirty="0">
                <a:latin typeface="Arial" panose="020B0604020202020204" pitchFamily="34" charset="0"/>
                <a:cs typeface="Arial" panose="020B0604020202020204" pitchFamily="34" charset="0"/>
              </a:rPr>
              <a:t> reconocimiento de sus instituciones y a la consolidación de sus entidades territoriales.</a:t>
            </a:r>
            <a:endParaRPr lang="es-BO" sz="1400" dirty="0">
              <a:latin typeface="Arial" panose="020B0604020202020204" pitchFamily="34" charset="0"/>
              <a:cs typeface="Arial" panose="020B0604020202020204" pitchFamily="34" charset="0"/>
            </a:endParaRPr>
          </a:p>
          <a:p>
            <a:pPr lvl="0" algn="just"/>
            <a:r>
              <a:rPr lang="es-MX" sz="1400" b="1" i="0" dirty="0">
                <a:solidFill>
                  <a:srgbClr val="000000"/>
                </a:solidFill>
                <a:effectLst/>
                <a:latin typeface="Arial" panose="020B0604020202020204" pitchFamily="34" charset="0"/>
                <a:cs typeface="Arial" panose="020B0604020202020204" pitchFamily="34" charset="0"/>
              </a:rPr>
              <a:t>II. </a:t>
            </a:r>
            <a:r>
              <a:rPr lang="es-MX" sz="1400" b="0" i="0" dirty="0">
                <a:solidFill>
                  <a:srgbClr val="000000"/>
                </a:solidFill>
                <a:effectLst/>
                <a:latin typeface="Arial" panose="020B0604020202020204" pitchFamily="34" charset="0"/>
                <a:cs typeface="Arial" panose="020B0604020202020204" pitchFamily="34" charset="0"/>
              </a:rPr>
              <a:t>La presente Ley se fundamenta en la CPE la Ley </a:t>
            </a:r>
            <a:r>
              <a:rPr lang="es-MX" sz="1400" b="0" i="0" dirty="0" err="1">
                <a:solidFill>
                  <a:srgbClr val="000000"/>
                </a:solidFill>
                <a:effectLst/>
                <a:latin typeface="Arial" panose="020B0604020202020204" pitchFamily="34" charset="0"/>
                <a:cs typeface="Arial" panose="020B0604020202020204" pitchFamily="34" charset="0"/>
              </a:rPr>
              <a:t>N°</a:t>
            </a:r>
            <a:r>
              <a:rPr lang="es-MX" sz="1400" b="0" i="0" dirty="0">
                <a:solidFill>
                  <a:srgbClr val="000000"/>
                </a:solidFill>
                <a:effectLst/>
                <a:latin typeface="Arial" panose="020B0604020202020204" pitchFamily="34" charset="0"/>
                <a:cs typeface="Arial" panose="020B0604020202020204" pitchFamily="34" charset="0"/>
              </a:rPr>
              <a:t> 1257,ratifica el Convenio 169 de la OIT, Ley </a:t>
            </a:r>
            <a:r>
              <a:rPr lang="es-MX" sz="1400" b="0" i="0" dirty="0" err="1">
                <a:solidFill>
                  <a:srgbClr val="000000"/>
                </a:solidFill>
                <a:effectLst/>
                <a:latin typeface="Arial" panose="020B0604020202020204" pitchFamily="34" charset="0"/>
                <a:cs typeface="Arial" panose="020B0604020202020204" pitchFamily="34" charset="0"/>
              </a:rPr>
              <a:t>N°</a:t>
            </a:r>
            <a:r>
              <a:rPr lang="es-MX" sz="1400" b="0" i="0" dirty="0">
                <a:solidFill>
                  <a:srgbClr val="000000"/>
                </a:solidFill>
                <a:effectLst/>
                <a:latin typeface="Arial" panose="020B0604020202020204" pitchFamily="34" charset="0"/>
                <a:cs typeface="Arial" panose="020B0604020202020204" pitchFamily="34" charset="0"/>
              </a:rPr>
              <a:t> 3897, eleva a rango de Ley la DUDPI y demás instrumentos internacionales de Derechos Humanos aplicables</a:t>
            </a:r>
          </a:p>
          <a:p>
            <a:pPr algn="just"/>
            <a:r>
              <a:rPr kumimoji="0" lang="es-MX" sz="1400" b="0" i="0" u="none" strike="noStrike" kern="1200" cap="none" spc="0" normalizeH="0" baseline="0" noProof="0" dirty="0">
                <a:ln>
                  <a:noFill/>
                </a:ln>
                <a:solidFill>
                  <a:prstClr val="black"/>
                </a:solidFill>
                <a:effectLst/>
                <a:uLnTx/>
                <a:uFillTx/>
                <a:latin typeface="Trebuchet MS" panose="020B0603020202020204"/>
                <a:ea typeface="+mn-ea"/>
                <a:cs typeface="+mn-cs"/>
              </a:rPr>
              <a:t>Art.2</a:t>
            </a:r>
            <a:endParaRPr lang="es-BO" sz="1400" dirty="0"/>
          </a:p>
        </p:txBody>
      </p:sp>
      <p:sp>
        <p:nvSpPr>
          <p:cNvPr id="17" name="CuadroTexto 16">
            <a:extLst>
              <a:ext uri="{FF2B5EF4-FFF2-40B4-BE49-F238E27FC236}">
                <a16:creationId xmlns:a16="http://schemas.microsoft.com/office/drawing/2014/main" id="{009E027D-58C1-449C-8B45-873D671549DA}"/>
              </a:ext>
            </a:extLst>
          </p:cNvPr>
          <p:cNvSpPr txBox="1"/>
          <p:nvPr/>
        </p:nvSpPr>
        <p:spPr>
          <a:xfrm>
            <a:off x="157654" y="2954561"/>
            <a:ext cx="7147035" cy="2062103"/>
          </a:xfrm>
          <a:custGeom>
            <a:avLst/>
            <a:gdLst>
              <a:gd name="connsiteX0" fmla="*/ 0 w 7147035"/>
              <a:gd name="connsiteY0" fmla="*/ 0 h 2062103"/>
              <a:gd name="connsiteX1" fmla="*/ 452646 w 7147035"/>
              <a:gd name="connsiteY1" fmla="*/ 0 h 2062103"/>
              <a:gd name="connsiteX2" fmla="*/ 976761 w 7147035"/>
              <a:gd name="connsiteY2" fmla="*/ 0 h 2062103"/>
              <a:gd name="connsiteX3" fmla="*/ 1429407 w 7147035"/>
              <a:gd name="connsiteY3" fmla="*/ 0 h 2062103"/>
              <a:gd name="connsiteX4" fmla="*/ 1953523 w 7147035"/>
              <a:gd name="connsiteY4" fmla="*/ 0 h 2062103"/>
              <a:gd name="connsiteX5" fmla="*/ 2549109 w 7147035"/>
              <a:gd name="connsiteY5" fmla="*/ 0 h 2062103"/>
              <a:gd name="connsiteX6" fmla="*/ 3073225 w 7147035"/>
              <a:gd name="connsiteY6" fmla="*/ 0 h 2062103"/>
              <a:gd name="connsiteX7" fmla="*/ 3740282 w 7147035"/>
              <a:gd name="connsiteY7" fmla="*/ 0 h 2062103"/>
              <a:gd name="connsiteX8" fmla="*/ 4121457 w 7147035"/>
              <a:gd name="connsiteY8" fmla="*/ 0 h 2062103"/>
              <a:gd name="connsiteX9" fmla="*/ 4502632 w 7147035"/>
              <a:gd name="connsiteY9" fmla="*/ 0 h 2062103"/>
              <a:gd name="connsiteX10" fmla="*/ 5026748 w 7147035"/>
              <a:gd name="connsiteY10" fmla="*/ 0 h 2062103"/>
              <a:gd name="connsiteX11" fmla="*/ 5407923 w 7147035"/>
              <a:gd name="connsiteY11" fmla="*/ 0 h 2062103"/>
              <a:gd name="connsiteX12" fmla="*/ 6146450 w 7147035"/>
              <a:gd name="connsiteY12" fmla="*/ 0 h 2062103"/>
              <a:gd name="connsiteX13" fmla="*/ 7147035 w 7147035"/>
              <a:gd name="connsiteY13" fmla="*/ 0 h 2062103"/>
              <a:gd name="connsiteX14" fmla="*/ 7147035 w 7147035"/>
              <a:gd name="connsiteY14" fmla="*/ 515526 h 2062103"/>
              <a:gd name="connsiteX15" fmla="*/ 7147035 w 7147035"/>
              <a:gd name="connsiteY15" fmla="*/ 1010430 h 2062103"/>
              <a:gd name="connsiteX16" fmla="*/ 7147035 w 7147035"/>
              <a:gd name="connsiteY16" fmla="*/ 1464093 h 2062103"/>
              <a:gd name="connsiteX17" fmla="*/ 7147035 w 7147035"/>
              <a:gd name="connsiteY17" fmla="*/ 2062103 h 2062103"/>
              <a:gd name="connsiteX18" fmla="*/ 6765860 w 7147035"/>
              <a:gd name="connsiteY18" fmla="*/ 2062103 h 2062103"/>
              <a:gd name="connsiteX19" fmla="*/ 6170274 w 7147035"/>
              <a:gd name="connsiteY19" fmla="*/ 2062103 h 2062103"/>
              <a:gd name="connsiteX20" fmla="*/ 5646158 w 7147035"/>
              <a:gd name="connsiteY20" fmla="*/ 2062103 h 2062103"/>
              <a:gd name="connsiteX21" fmla="*/ 4907631 w 7147035"/>
              <a:gd name="connsiteY21" fmla="*/ 2062103 h 2062103"/>
              <a:gd name="connsiteX22" fmla="*/ 4454985 w 7147035"/>
              <a:gd name="connsiteY22" fmla="*/ 2062103 h 2062103"/>
              <a:gd name="connsiteX23" fmla="*/ 4073810 w 7147035"/>
              <a:gd name="connsiteY23" fmla="*/ 2062103 h 2062103"/>
              <a:gd name="connsiteX24" fmla="*/ 3621164 w 7147035"/>
              <a:gd name="connsiteY24" fmla="*/ 2062103 h 2062103"/>
              <a:gd name="connsiteX25" fmla="*/ 2882637 w 7147035"/>
              <a:gd name="connsiteY25" fmla="*/ 2062103 h 2062103"/>
              <a:gd name="connsiteX26" fmla="*/ 2501462 w 7147035"/>
              <a:gd name="connsiteY26" fmla="*/ 2062103 h 2062103"/>
              <a:gd name="connsiteX27" fmla="*/ 2048817 w 7147035"/>
              <a:gd name="connsiteY27" fmla="*/ 2062103 h 2062103"/>
              <a:gd name="connsiteX28" fmla="*/ 1667641 w 7147035"/>
              <a:gd name="connsiteY28" fmla="*/ 2062103 h 2062103"/>
              <a:gd name="connsiteX29" fmla="*/ 1072055 w 7147035"/>
              <a:gd name="connsiteY29" fmla="*/ 2062103 h 2062103"/>
              <a:gd name="connsiteX30" fmla="*/ 619410 w 7147035"/>
              <a:gd name="connsiteY30" fmla="*/ 2062103 h 2062103"/>
              <a:gd name="connsiteX31" fmla="*/ 0 w 7147035"/>
              <a:gd name="connsiteY31" fmla="*/ 2062103 h 2062103"/>
              <a:gd name="connsiteX32" fmla="*/ 0 w 7147035"/>
              <a:gd name="connsiteY32" fmla="*/ 1546577 h 2062103"/>
              <a:gd name="connsiteX33" fmla="*/ 0 w 7147035"/>
              <a:gd name="connsiteY33" fmla="*/ 1031052 h 2062103"/>
              <a:gd name="connsiteX34" fmla="*/ 0 w 7147035"/>
              <a:gd name="connsiteY34" fmla="*/ 536147 h 2062103"/>
              <a:gd name="connsiteX35" fmla="*/ 0 w 7147035"/>
              <a:gd name="connsiteY35" fmla="*/ 0 h 206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47035" h="2062103" extrusionOk="0">
                <a:moveTo>
                  <a:pt x="0" y="0"/>
                </a:moveTo>
                <a:cubicBezTo>
                  <a:pt x="186307" y="-30935"/>
                  <a:pt x="300459" y="12100"/>
                  <a:pt x="452646" y="0"/>
                </a:cubicBezTo>
                <a:cubicBezTo>
                  <a:pt x="604833" y="-12100"/>
                  <a:pt x="737082" y="62368"/>
                  <a:pt x="976761" y="0"/>
                </a:cubicBezTo>
                <a:cubicBezTo>
                  <a:pt x="1216441" y="-62368"/>
                  <a:pt x="1210108" y="33541"/>
                  <a:pt x="1429407" y="0"/>
                </a:cubicBezTo>
                <a:cubicBezTo>
                  <a:pt x="1648706" y="-33541"/>
                  <a:pt x="1743603" y="49837"/>
                  <a:pt x="1953523" y="0"/>
                </a:cubicBezTo>
                <a:cubicBezTo>
                  <a:pt x="2163443" y="-49837"/>
                  <a:pt x="2265418" y="41241"/>
                  <a:pt x="2549109" y="0"/>
                </a:cubicBezTo>
                <a:cubicBezTo>
                  <a:pt x="2832800" y="-41241"/>
                  <a:pt x="2872636" y="37422"/>
                  <a:pt x="3073225" y="0"/>
                </a:cubicBezTo>
                <a:cubicBezTo>
                  <a:pt x="3273814" y="-37422"/>
                  <a:pt x="3564028" y="14326"/>
                  <a:pt x="3740282" y="0"/>
                </a:cubicBezTo>
                <a:cubicBezTo>
                  <a:pt x="3916536" y="-14326"/>
                  <a:pt x="3969282" y="14520"/>
                  <a:pt x="4121457" y="0"/>
                </a:cubicBezTo>
                <a:cubicBezTo>
                  <a:pt x="4273632" y="-14520"/>
                  <a:pt x="4333545" y="41291"/>
                  <a:pt x="4502632" y="0"/>
                </a:cubicBezTo>
                <a:cubicBezTo>
                  <a:pt x="4671719" y="-41291"/>
                  <a:pt x="4864361" y="2973"/>
                  <a:pt x="5026748" y="0"/>
                </a:cubicBezTo>
                <a:cubicBezTo>
                  <a:pt x="5189135" y="-2973"/>
                  <a:pt x="5260068" y="23946"/>
                  <a:pt x="5407923" y="0"/>
                </a:cubicBezTo>
                <a:cubicBezTo>
                  <a:pt x="5555778" y="-23946"/>
                  <a:pt x="5980977" y="31187"/>
                  <a:pt x="6146450" y="0"/>
                </a:cubicBezTo>
                <a:cubicBezTo>
                  <a:pt x="6311923" y="-31187"/>
                  <a:pt x="6946445" y="76008"/>
                  <a:pt x="7147035" y="0"/>
                </a:cubicBezTo>
                <a:cubicBezTo>
                  <a:pt x="7148628" y="144548"/>
                  <a:pt x="7132307" y="402086"/>
                  <a:pt x="7147035" y="515526"/>
                </a:cubicBezTo>
                <a:cubicBezTo>
                  <a:pt x="7161763" y="628966"/>
                  <a:pt x="7094526" y="772463"/>
                  <a:pt x="7147035" y="1010430"/>
                </a:cubicBezTo>
                <a:cubicBezTo>
                  <a:pt x="7199544" y="1248397"/>
                  <a:pt x="7116534" y="1247078"/>
                  <a:pt x="7147035" y="1464093"/>
                </a:cubicBezTo>
                <a:cubicBezTo>
                  <a:pt x="7177536" y="1681108"/>
                  <a:pt x="7123452" y="1827741"/>
                  <a:pt x="7147035" y="2062103"/>
                </a:cubicBezTo>
                <a:cubicBezTo>
                  <a:pt x="7038623" y="2068818"/>
                  <a:pt x="6876986" y="2051118"/>
                  <a:pt x="6765860" y="2062103"/>
                </a:cubicBezTo>
                <a:cubicBezTo>
                  <a:pt x="6654734" y="2073088"/>
                  <a:pt x="6328980" y="2013012"/>
                  <a:pt x="6170274" y="2062103"/>
                </a:cubicBezTo>
                <a:cubicBezTo>
                  <a:pt x="6011568" y="2111194"/>
                  <a:pt x="5756252" y="2010231"/>
                  <a:pt x="5646158" y="2062103"/>
                </a:cubicBezTo>
                <a:cubicBezTo>
                  <a:pt x="5536064" y="2113975"/>
                  <a:pt x="5246165" y="2053230"/>
                  <a:pt x="4907631" y="2062103"/>
                </a:cubicBezTo>
                <a:cubicBezTo>
                  <a:pt x="4569097" y="2070976"/>
                  <a:pt x="4673966" y="2023496"/>
                  <a:pt x="4454985" y="2062103"/>
                </a:cubicBezTo>
                <a:cubicBezTo>
                  <a:pt x="4236004" y="2100710"/>
                  <a:pt x="4200674" y="2031696"/>
                  <a:pt x="4073810" y="2062103"/>
                </a:cubicBezTo>
                <a:cubicBezTo>
                  <a:pt x="3946946" y="2092510"/>
                  <a:pt x="3785432" y="2034261"/>
                  <a:pt x="3621164" y="2062103"/>
                </a:cubicBezTo>
                <a:cubicBezTo>
                  <a:pt x="3456896" y="2089945"/>
                  <a:pt x="3143300" y="1998917"/>
                  <a:pt x="2882637" y="2062103"/>
                </a:cubicBezTo>
                <a:cubicBezTo>
                  <a:pt x="2621974" y="2125289"/>
                  <a:pt x="2602521" y="2051502"/>
                  <a:pt x="2501462" y="2062103"/>
                </a:cubicBezTo>
                <a:cubicBezTo>
                  <a:pt x="2400403" y="2072704"/>
                  <a:pt x="2196967" y="2036227"/>
                  <a:pt x="2048817" y="2062103"/>
                </a:cubicBezTo>
                <a:cubicBezTo>
                  <a:pt x="1900668" y="2087979"/>
                  <a:pt x="1838997" y="2038183"/>
                  <a:pt x="1667641" y="2062103"/>
                </a:cubicBezTo>
                <a:cubicBezTo>
                  <a:pt x="1496285" y="2086023"/>
                  <a:pt x="1284316" y="2037154"/>
                  <a:pt x="1072055" y="2062103"/>
                </a:cubicBezTo>
                <a:cubicBezTo>
                  <a:pt x="859794" y="2087052"/>
                  <a:pt x="750959" y="2050519"/>
                  <a:pt x="619410" y="2062103"/>
                </a:cubicBezTo>
                <a:cubicBezTo>
                  <a:pt x="487862" y="2073687"/>
                  <a:pt x="203838" y="2009549"/>
                  <a:pt x="0" y="2062103"/>
                </a:cubicBezTo>
                <a:cubicBezTo>
                  <a:pt x="-56359" y="1865060"/>
                  <a:pt x="20732" y="1732062"/>
                  <a:pt x="0" y="1546577"/>
                </a:cubicBezTo>
                <a:cubicBezTo>
                  <a:pt x="-20732" y="1361092"/>
                  <a:pt x="54272" y="1134664"/>
                  <a:pt x="0" y="1031052"/>
                </a:cubicBezTo>
                <a:cubicBezTo>
                  <a:pt x="-54272" y="927441"/>
                  <a:pt x="8601" y="729521"/>
                  <a:pt x="0" y="536147"/>
                </a:cubicBezTo>
                <a:cubicBezTo>
                  <a:pt x="-8601" y="342773"/>
                  <a:pt x="61832" y="190140"/>
                  <a:pt x="0" y="0"/>
                </a:cubicBezTo>
                <a:close/>
              </a:path>
            </a:pathLst>
          </a:custGeom>
          <a:noFill/>
          <a:ln w="57150">
            <a:solidFill>
              <a:srgbClr val="FF0000"/>
            </a:solidFill>
            <a:extLst>
              <a:ext uri="{C807C97D-BFC1-408E-A445-0C87EB9F89A2}">
                <ask:lineSketchStyleProps xmlns:ask="http://schemas.microsoft.com/office/drawing/2018/sketchyshapes" sd="298546984">
                  <a:prstGeom prst="rect">
                    <a:avLst/>
                  </a:prstGeom>
                  <ask:type>
                    <ask:lineSketchScribble/>
                  </ask:type>
                </ask:lineSketchStyleProps>
              </a:ext>
            </a:extLst>
          </a:ln>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Trebuchet MS" panose="020B0603020202020204"/>
                <a:ea typeface="+mn-ea"/>
                <a:cs typeface="+mn-cs"/>
              </a:rPr>
              <a:t>l. </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 jurisdicción IOC, la ordinaria, la agroambiental, en el marco del pluralismo jurídico, concertarán medios y esfuerzos para lograr la convivencia social armónica, el respeto a los derechos individuales y colectivos y la garantía efectiva del acceso a la justicia de manera individual, colectiva o comunitaria.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II La coordinación entre todas las jurisdicciones podrá realizarse de forma oral o escrita, respetando sus particularidades.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MX" sz="1600" b="1"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Artículo 13. (COORDINACIÓN).</a:t>
            </a:r>
          </a:p>
        </p:txBody>
      </p:sp>
      <p:sp>
        <p:nvSpPr>
          <p:cNvPr id="18" name="CuadroTexto 17">
            <a:extLst>
              <a:ext uri="{FF2B5EF4-FFF2-40B4-BE49-F238E27FC236}">
                <a16:creationId xmlns:a16="http://schemas.microsoft.com/office/drawing/2014/main" id="{553C0F86-42A9-4207-AEE6-3285E07BD46B}"/>
              </a:ext>
            </a:extLst>
          </p:cNvPr>
          <p:cNvSpPr txBox="1"/>
          <p:nvPr/>
        </p:nvSpPr>
        <p:spPr>
          <a:xfrm>
            <a:off x="7504386" y="3061138"/>
            <a:ext cx="4330263" cy="1569660"/>
          </a:xfrm>
          <a:custGeom>
            <a:avLst/>
            <a:gdLst>
              <a:gd name="connsiteX0" fmla="*/ 0 w 4330263"/>
              <a:gd name="connsiteY0" fmla="*/ 0 h 1569660"/>
              <a:gd name="connsiteX1" fmla="*/ 541283 w 4330263"/>
              <a:gd name="connsiteY1" fmla="*/ 0 h 1569660"/>
              <a:gd name="connsiteX2" fmla="*/ 1039263 w 4330263"/>
              <a:gd name="connsiteY2" fmla="*/ 0 h 1569660"/>
              <a:gd name="connsiteX3" fmla="*/ 1450638 w 4330263"/>
              <a:gd name="connsiteY3" fmla="*/ 0 h 1569660"/>
              <a:gd name="connsiteX4" fmla="*/ 2035224 w 4330263"/>
              <a:gd name="connsiteY4" fmla="*/ 0 h 1569660"/>
              <a:gd name="connsiteX5" fmla="*/ 2576506 w 4330263"/>
              <a:gd name="connsiteY5" fmla="*/ 0 h 1569660"/>
              <a:gd name="connsiteX6" fmla="*/ 3031184 w 4330263"/>
              <a:gd name="connsiteY6" fmla="*/ 0 h 1569660"/>
              <a:gd name="connsiteX7" fmla="*/ 3615770 w 4330263"/>
              <a:gd name="connsiteY7" fmla="*/ 0 h 1569660"/>
              <a:gd name="connsiteX8" fmla="*/ 4330263 w 4330263"/>
              <a:gd name="connsiteY8" fmla="*/ 0 h 1569660"/>
              <a:gd name="connsiteX9" fmla="*/ 4330263 w 4330263"/>
              <a:gd name="connsiteY9" fmla="*/ 538917 h 1569660"/>
              <a:gd name="connsiteX10" fmla="*/ 4330263 w 4330263"/>
              <a:gd name="connsiteY10" fmla="*/ 1077833 h 1569660"/>
              <a:gd name="connsiteX11" fmla="*/ 4330263 w 4330263"/>
              <a:gd name="connsiteY11" fmla="*/ 1569660 h 1569660"/>
              <a:gd name="connsiteX12" fmla="*/ 3875585 w 4330263"/>
              <a:gd name="connsiteY12" fmla="*/ 1569660 h 1569660"/>
              <a:gd name="connsiteX13" fmla="*/ 3247697 w 4330263"/>
              <a:gd name="connsiteY13" fmla="*/ 1569660 h 1569660"/>
              <a:gd name="connsiteX14" fmla="*/ 2619809 w 4330263"/>
              <a:gd name="connsiteY14" fmla="*/ 1569660 h 1569660"/>
              <a:gd name="connsiteX15" fmla="*/ 2035224 w 4330263"/>
              <a:gd name="connsiteY15" fmla="*/ 1569660 h 1569660"/>
              <a:gd name="connsiteX16" fmla="*/ 1623849 w 4330263"/>
              <a:gd name="connsiteY16" fmla="*/ 1569660 h 1569660"/>
              <a:gd name="connsiteX17" fmla="*/ 1039263 w 4330263"/>
              <a:gd name="connsiteY17" fmla="*/ 1569660 h 1569660"/>
              <a:gd name="connsiteX18" fmla="*/ 541283 w 4330263"/>
              <a:gd name="connsiteY18" fmla="*/ 1569660 h 1569660"/>
              <a:gd name="connsiteX19" fmla="*/ 0 w 4330263"/>
              <a:gd name="connsiteY19" fmla="*/ 1569660 h 1569660"/>
              <a:gd name="connsiteX20" fmla="*/ 0 w 4330263"/>
              <a:gd name="connsiteY20" fmla="*/ 1030743 h 1569660"/>
              <a:gd name="connsiteX21" fmla="*/ 0 w 4330263"/>
              <a:gd name="connsiteY21" fmla="*/ 554613 h 1569660"/>
              <a:gd name="connsiteX22" fmla="*/ 0 w 4330263"/>
              <a:gd name="connsiteY22" fmla="*/ 0 h 1569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30263" h="1569660" extrusionOk="0">
                <a:moveTo>
                  <a:pt x="0" y="0"/>
                </a:moveTo>
                <a:cubicBezTo>
                  <a:pt x="214235" y="-63502"/>
                  <a:pt x="317422" y="24145"/>
                  <a:pt x="541283" y="0"/>
                </a:cubicBezTo>
                <a:cubicBezTo>
                  <a:pt x="765144" y="-24145"/>
                  <a:pt x="891120" y="13962"/>
                  <a:pt x="1039263" y="0"/>
                </a:cubicBezTo>
                <a:cubicBezTo>
                  <a:pt x="1187406" y="-13962"/>
                  <a:pt x="1291316" y="21353"/>
                  <a:pt x="1450638" y="0"/>
                </a:cubicBezTo>
                <a:cubicBezTo>
                  <a:pt x="1609961" y="-21353"/>
                  <a:pt x="1805744" y="18019"/>
                  <a:pt x="2035224" y="0"/>
                </a:cubicBezTo>
                <a:cubicBezTo>
                  <a:pt x="2264704" y="-18019"/>
                  <a:pt x="2436485" y="38698"/>
                  <a:pt x="2576506" y="0"/>
                </a:cubicBezTo>
                <a:cubicBezTo>
                  <a:pt x="2716527" y="-38698"/>
                  <a:pt x="2876389" y="49443"/>
                  <a:pt x="3031184" y="0"/>
                </a:cubicBezTo>
                <a:cubicBezTo>
                  <a:pt x="3185979" y="-49443"/>
                  <a:pt x="3328470" y="49639"/>
                  <a:pt x="3615770" y="0"/>
                </a:cubicBezTo>
                <a:cubicBezTo>
                  <a:pt x="3903070" y="-49639"/>
                  <a:pt x="4084214" y="2845"/>
                  <a:pt x="4330263" y="0"/>
                </a:cubicBezTo>
                <a:cubicBezTo>
                  <a:pt x="4348306" y="222395"/>
                  <a:pt x="4315288" y="408506"/>
                  <a:pt x="4330263" y="538917"/>
                </a:cubicBezTo>
                <a:cubicBezTo>
                  <a:pt x="4345238" y="669328"/>
                  <a:pt x="4305515" y="893304"/>
                  <a:pt x="4330263" y="1077833"/>
                </a:cubicBezTo>
                <a:cubicBezTo>
                  <a:pt x="4355011" y="1262362"/>
                  <a:pt x="4291608" y="1356965"/>
                  <a:pt x="4330263" y="1569660"/>
                </a:cubicBezTo>
                <a:cubicBezTo>
                  <a:pt x="4179759" y="1591036"/>
                  <a:pt x="4075402" y="1568169"/>
                  <a:pt x="3875585" y="1569660"/>
                </a:cubicBezTo>
                <a:cubicBezTo>
                  <a:pt x="3675768" y="1571151"/>
                  <a:pt x="3532390" y="1563581"/>
                  <a:pt x="3247697" y="1569660"/>
                </a:cubicBezTo>
                <a:cubicBezTo>
                  <a:pt x="2963004" y="1575739"/>
                  <a:pt x="2875259" y="1521834"/>
                  <a:pt x="2619809" y="1569660"/>
                </a:cubicBezTo>
                <a:cubicBezTo>
                  <a:pt x="2364359" y="1617486"/>
                  <a:pt x="2198657" y="1562530"/>
                  <a:pt x="2035224" y="1569660"/>
                </a:cubicBezTo>
                <a:cubicBezTo>
                  <a:pt x="1871792" y="1576790"/>
                  <a:pt x="1731833" y="1556454"/>
                  <a:pt x="1623849" y="1569660"/>
                </a:cubicBezTo>
                <a:cubicBezTo>
                  <a:pt x="1515866" y="1582866"/>
                  <a:pt x="1321057" y="1555346"/>
                  <a:pt x="1039263" y="1569660"/>
                </a:cubicBezTo>
                <a:cubicBezTo>
                  <a:pt x="757469" y="1583974"/>
                  <a:pt x="773061" y="1569656"/>
                  <a:pt x="541283" y="1569660"/>
                </a:cubicBezTo>
                <a:cubicBezTo>
                  <a:pt x="309505" y="1569664"/>
                  <a:pt x="239530" y="1569222"/>
                  <a:pt x="0" y="1569660"/>
                </a:cubicBezTo>
                <a:cubicBezTo>
                  <a:pt x="-48656" y="1435802"/>
                  <a:pt x="15486" y="1201034"/>
                  <a:pt x="0" y="1030743"/>
                </a:cubicBezTo>
                <a:cubicBezTo>
                  <a:pt x="-15486" y="860452"/>
                  <a:pt x="38275" y="657228"/>
                  <a:pt x="0" y="554613"/>
                </a:cubicBezTo>
                <a:cubicBezTo>
                  <a:pt x="-38275" y="451998"/>
                  <a:pt x="29259" y="167828"/>
                  <a:pt x="0" y="0"/>
                </a:cubicBezTo>
                <a:close/>
              </a:path>
            </a:pathLst>
          </a:custGeom>
          <a:noFill/>
          <a:ln w="57150">
            <a:solidFill>
              <a:srgbClr val="FF0000"/>
            </a:solidFill>
            <a:extLst>
              <a:ext uri="{C807C97D-BFC1-408E-A445-0C87EB9F89A2}">
                <ask:lineSketchStyleProps xmlns:ask="http://schemas.microsoft.com/office/drawing/2018/sketchyshapes" sd="3322242265">
                  <a:prstGeom prst="rect">
                    <a:avLst/>
                  </a:prstGeom>
                  <ask:type>
                    <ask:lineSketchScribble/>
                  </ask:type>
                </ask:lineSketchStyleProps>
              </a:ext>
            </a:extLst>
          </a:ln>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Gill Sans MT" panose="020B0502020104020203"/>
                <a:ea typeface="+mn-ea"/>
                <a:cs typeface="+mn-cs"/>
              </a:rPr>
              <a:t>La jurisdicción IOC, la ordinaria, la agroambiental y las demás jurisdicciones legalmente reconocidas, tienen el deber de cooperarse mutuamente, para el cumplimiento y realización de sus fines y objetivos.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MX" sz="1600" b="1"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Artículo 15. (COOPERACIÓN</a:t>
            </a:r>
            <a:r>
              <a:rPr kumimoji="0" lang="es-MX" sz="1200" b="0" i="0" u="none" strike="noStrike" kern="1200" cap="none" spc="0" normalizeH="0" baseline="0" noProof="0" dirty="0">
                <a:ln>
                  <a:noFill/>
                </a:ln>
                <a:solidFill>
                  <a:prstClr val="black"/>
                </a:solidFill>
                <a:effectLst/>
                <a:uLnTx/>
                <a:uFillTx/>
                <a:latin typeface="Gill Sans MT" panose="020B0502020104020203"/>
                <a:ea typeface="+mn-ea"/>
                <a:cs typeface="+mn-cs"/>
              </a:rPr>
              <a:t>)</a:t>
            </a:r>
            <a:endParaRPr kumimoji="0" lang="es-BO" sz="1200" b="0"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
        <p:nvSpPr>
          <p:cNvPr id="19" name="CuadroTexto 18">
            <a:extLst>
              <a:ext uri="{FF2B5EF4-FFF2-40B4-BE49-F238E27FC236}">
                <a16:creationId xmlns:a16="http://schemas.microsoft.com/office/drawing/2014/main" id="{EE414C84-90F8-4777-835B-5C046373D98A}"/>
              </a:ext>
            </a:extLst>
          </p:cNvPr>
          <p:cNvSpPr txBox="1"/>
          <p:nvPr/>
        </p:nvSpPr>
        <p:spPr>
          <a:xfrm>
            <a:off x="1045778" y="5253849"/>
            <a:ext cx="10281745" cy="1349633"/>
          </a:xfrm>
          <a:prstGeom prst="frame">
            <a:avLst/>
          </a:prstGeom>
          <a:noFill/>
          <a:ln w="38100">
            <a:solidFill>
              <a:srgbClr val="00B050"/>
            </a:solidFill>
          </a:ln>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Las autoridades de todas las jurisdicciones no podrán omitir el deber de coordinación y cooperación. Esta omisión será sancionada como falta grave disciplinaria en la jurisdicción ordinaria, la agroambiental y las especiales; y en el caso de la jurisdicción IOC, de acuerdo a sus normas y procedimientos propios.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Artículo 17. (OBLIGACIÓN DE COORDINACIÓN Y COOPERACIÓN).</a:t>
            </a:r>
          </a:p>
        </p:txBody>
      </p:sp>
    </p:spTree>
    <p:extLst>
      <p:ext uri="{BB962C8B-B14F-4D97-AF65-F5344CB8AC3E}">
        <p14:creationId xmlns:p14="http://schemas.microsoft.com/office/powerpoint/2010/main" val="1956073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uadroTexto 13">
            <a:extLst>
              <a:ext uri="{FF2B5EF4-FFF2-40B4-BE49-F238E27FC236}">
                <a16:creationId xmlns:a16="http://schemas.microsoft.com/office/drawing/2014/main" id="{C69DC3D6-60CC-4F8B-99DD-5FB866284314}"/>
              </a:ext>
            </a:extLst>
          </p:cNvPr>
          <p:cNvSpPr txBox="1"/>
          <p:nvPr/>
        </p:nvSpPr>
        <p:spPr>
          <a:xfrm>
            <a:off x="1308536" y="396757"/>
            <a:ext cx="9017876" cy="2339102"/>
          </a:xfrm>
          <a:custGeom>
            <a:avLst/>
            <a:gdLst>
              <a:gd name="connsiteX0" fmla="*/ 0 w 9017876"/>
              <a:gd name="connsiteY0" fmla="*/ 0 h 2339102"/>
              <a:gd name="connsiteX1" fmla="*/ 293081 w 9017876"/>
              <a:gd name="connsiteY1" fmla="*/ 0 h 2339102"/>
              <a:gd name="connsiteX2" fmla="*/ 586162 w 9017876"/>
              <a:gd name="connsiteY2" fmla="*/ 0 h 2339102"/>
              <a:gd name="connsiteX3" fmla="*/ 969422 w 9017876"/>
              <a:gd name="connsiteY3" fmla="*/ 0 h 2339102"/>
              <a:gd name="connsiteX4" fmla="*/ 1352681 w 9017876"/>
              <a:gd name="connsiteY4" fmla="*/ 0 h 2339102"/>
              <a:gd name="connsiteX5" fmla="*/ 2096656 w 9017876"/>
              <a:gd name="connsiteY5" fmla="*/ 0 h 2339102"/>
              <a:gd name="connsiteX6" fmla="*/ 2570095 w 9017876"/>
              <a:gd name="connsiteY6" fmla="*/ 0 h 2339102"/>
              <a:gd name="connsiteX7" fmla="*/ 2863176 w 9017876"/>
              <a:gd name="connsiteY7" fmla="*/ 0 h 2339102"/>
              <a:gd name="connsiteX8" fmla="*/ 3156257 w 9017876"/>
              <a:gd name="connsiteY8" fmla="*/ 0 h 2339102"/>
              <a:gd name="connsiteX9" fmla="*/ 3900231 w 9017876"/>
              <a:gd name="connsiteY9" fmla="*/ 0 h 2339102"/>
              <a:gd name="connsiteX10" fmla="*/ 4193312 w 9017876"/>
              <a:gd name="connsiteY10" fmla="*/ 0 h 2339102"/>
              <a:gd name="connsiteX11" fmla="*/ 4847108 w 9017876"/>
              <a:gd name="connsiteY11" fmla="*/ 0 h 2339102"/>
              <a:gd name="connsiteX12" fmla="*/ 5500904 w 9017876"/>
              <a:gd name="connsiteY12" fmla="*/ 0 h 2339102"/>
              <a:gd name="connsiteX13" fmla="*/ 5974343 w 9017876"/>
              <a:gd name="connsiteY13" fmla="*/ 0 h 2339102"/>
              <a:gd name="connsiteX14" fmla="*/ 6537960 w 9017876"/>
              <a:gd name="connsiteY14" fmla="*/ 0 h 2339102"/>
              <a:gd name="connsiteX15" fmla="*/ 6831041 w 9017876"/>
              <a:gd name="connsiteY15" fmla="*/ 0 h 2339102"/>
              <a:gd name="connsiteX16" fmla="*/ 7124122 w 9017876"/>
              <a:gd name="connsiteY16" fmla="*/ 0 h 2339102"/>
              <a:gd name="connsiteX17" fmla="*/ 7597561 w 9017876"/>
              <a:gd name="connsiteY17" fmla="*/ 0 h 2339102"/>
              <a:gd name="connsiteX18" fmla="*/ 7980820 w 9017876"/>
              <a:gd name="connsiteY18" fmla="*/ 0 h 2339102"/>
              <a:gd name="connsiteX19" fmla="*/ 8273901 w 9017876"/>
              <a:gd name="connsiteY19" fmla="*/ 0 h 2339102"/>
              <a:gd name="connsiteX20" fmla="*/ 9017876 w 9017876"/>
              <a:gd name="connsiteY20" fmla="*/ 0 h 2339102"/>
              <a:gd name="connsiteX21" fmla="*/ 9017876 w 9017876"/>
              <a:gd name="connsiteY21" fmla="*/ 514602 h 2339102"/>
              <a:gd name="connsiteX22" fmla="*/ 9017876 w 9017876"/>
              <a:gd name="connsiteY22" fmla="*/ 1146160 h 2339102"/>
              <a:gd name="connsiteX23" fmla="*/ 9017876 w 9017876"/>
              <a:gd name="connsiteY23" fmla="*/ 1777718 h 2339102"/>
              <a:gd name="connsiteX24" fmla="*/ 9017876 w 9017876"/>
              <a:gd name="connsiteY24" fmla="*/ 2339102 h 2339102"/>
              <a:gd name="connsiteX25" fmla="*/ 8544438 w 9017876"/>
              <a:gd name="connsiteY25" fmla="*/ 2339102 h 2339102"/>
              <a:gd name="connsiteX26" fmla="*/ 8070999 w 9017876"/>
              <a:gd name="connsiteY26" fmla="*/ 2339102 h 2339102"/>
              <a:gd name="connsiteX27" fmla="*/ 7597561 w 9017876"/>
              <a:gd name="connsiteY27" fmla="*/ 2339102 h 2339102"/>
              <a:gd name="connsiteX28" fmla="*/ 7033943 w 9017876"/>
              <a:gd name="connsiteY28" fmla="*/ 2339102 h 2339102"/>
              <a:gd name="connsiteX29" fmla="*/ 6470326 w 9017876"/>
              <a:gd name="connsiteY29" fmla="*/ 2339102 h 2339102"/>
              <a:gd name="connsiteX30" fmla="*/ 5996888 w 9017876"/>
              <a:gd name="connsiteY30" fmla="*/ 2339102 h 2339102"/>
              <a:gd name="connsiteX31" fmla="*/ 5703807 w 9017876"/>
              <a:gd name="connsiteY31" fmla="*/ 2339102 h 2339102"/>
              <a:gd name="connsiteX32" fmla="*/ 5320547 w 9017876"/>
              <a:gd name="connsiteY32" fmla="*/ 2339102 h 2339102"/>
              <a:gd name="connsiteX33" fmla="*/ 4756930 w 9017876"/>
              <a:gd name="connsiteY33" fmla="*/ 2339102 h 2339102"/>
              <a:gd name="connsiteX34" fmla="*/ 4463849 w 9017876"/>
              <a:gd name="connsiteY34" fmla="*/ 2339102 h 2339102"/>
              <a:gd name="connsiteX35" fmla="*/ 4080589 w 9017876"/>
              <a:gd name="connsiteY35" fmla="*/ 2339102 h 2339102"/>
              <a:gd name="connsiteX36" fmla="*/ 3426793 w 9017876"/>
              <a:gd name="connsiteY36" fmla="*/ 2339102 h 2339102"/>
              <a:gd name="connsiteX37" fmla="*/ 3043533 w 9017876"/>
              <a:gd name="connsiteY37" fmla="*/ 2339102 h 2339102"/>
              <a:gd name="connsiteX38" fmla="*/ 2299558 w 9017876"/>
              <a:gd name="connsiteY38" fmla="*/ 2339102 h 2339102"/>
              <a:gd name="connsiteX39" fmla="*/ 1645762 w 9017876"/>
              <a:gd name="connsiteY39" fmla="*/ 2339102 h 2339102"/>
              <a:gd name="connsiteX40" fmla="*/ 901788 w 9017876"/>
              <a:gd name="connsiteY40" fmla="*/ 2339102 h 2339102"/>
              <a:gd name="connsiteX41" fmla="*/ 0 w 9017876"/>
              <a:gd name="connsiteY41" fmla="*/ 2339102 h 2339102"/>
              <a:gd name="connsiteX42" fmla="*/ 0 w 9017876"/>
              <a:gd name="connsiteY42" fmla="*/ 1824500 h 2339102"/>
              <a:gd name="connsiteX43" fmla="*/ 0 w 9017876"/>
              <a:gd name="connsiteY43" fmla="*/ 1286506 h 2339102"/>
              <a:gd name="connsiteX44" fmla="*/ 0 w 9017876"/>
              <a:gd name="connsiteY44" fmla="*/ 771904 h 2339102"/>
              <a:gd name="connsiteX45" fmla="*/ 0 w 9017876"/>
              <a:gd name="connsiteY45" fmla="*/ 0 h 233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9017876" h="2339102" fill="none" extrusionOk="0">
                <a:moveTo>
                  <a:pt x="0" y="0"/>
                </a:moveTo>
                <a:cubicBezTo>
                  <a:pt x="87381" y="-13444"/>
                  <a:pt x="163682" y="9996"/>
                  <a:pt x="293081" y="0"/>
                </a:cubicBezTo>
                <a:cubicBezTo>
                  <a:pt x="422480" y="-9996"/>
                  <a:pt x="489081" y="17220"/>
                  <a:pt x="586162" y="0"/>
                </a:cubicBezTo>
                <a:cubicBezTo>
                  <a:pt x="683243" y="-17220"/>
                  <a:pt x="815249" y="28953"/>
                  <a:pt x="969422" y="0"/>
                </a:cubicBezTo>
                <a:cubicBezTo>
                  <a:pt x="1123595" y="-28953"/>
                  <a:pt x="1235325" y="33558"/>
                  <a:pt x="1352681" y="0"/>
                </a:cubicBezTo>
                <a:cubicBezTo>
                  <a:pt x="1470037" y="-33558"/>
                  <a:pt x="1906177" y="34562"/>
                  <a:pt x="2096656" y="0"/>
                </a:cubicBezTo>
                <a:cubicBezTo>
                  <a:pt x="2287135" y="-34562"/>
                  <a:pt x="2349016" y="48105"/>
                  <a:pt x="2570095" y="0"/>
                </a:cubicBezTo>
                <a:cubicBezTo>
                  <a:pt x="2791174" y="-48105"/>
                  <a:pt x="2752992" y="25947"/>
                  <a:pt x="2863176" y="0"/>
                </a:cubicBezTo>
                <a:cubicBezTo>
                  <a:pt x="2973360" y="-25947"/>
                  <a:pt x="3018495" y="3615"/>
                  <a:pt x="3156257" y="0"/>
                </a:cubicBezTo>
                <a:cubicBezTo>
                  <a:pt x="3294019" y="-3615"/>
                  <a:pt x="3631558" y="85244"/>
                  <a:pt x="3900231" y="0"/>
                </a:cubicBezTo>
                <a:cubicBezTo>
                  <a:pt x="4168904" y="-85244"/>
                  <a:pt x="4056844" y="17679"/>
                  <a:pt x="4193312" y="0"/>
                </a:cubicBezTo>
                <a:cubicBezTo>
                  <a:pt x="4329780" y="-17679"/>
                  <a:pt x="4612695" y="32362"/>
                  <a:pt x="4847108" y="0"/>
                </a:cubicBezTo>
                <a:cubicBezTo>
                  <a:pt x="5081521" y="-32362"/>
                  <a:pt x="5213597" y="20352"/>
                  <a:pt x="5500904" y="0"/>
                </a:cubicBezTo>
                <a:cubicBezTo>
                  <a:pt x="5788211" y="-20352"/>
                  <a:pt x="5771670" y="43783"/>
                  <a:pt x="5974343" y="0"/>
                </a:cubicBezTo>
                <a:cubicBezTo>
                  <a:pt x="6177016" y="-43783"/>
                  <a:pt x="6323396" y="16012"/>
                  <a:pt x="6537960" y="0"/>
                </a:cubicBezTo>
                <a:cubicBezTo>
                  <a:pt x="6752524" y="-16012"/>
                  <a:pt x="6746263" y="14163"/>
                  <a:pt x="6831041" y="0"/>
                </a:cubicBezTo>
                <a:cubicBezTo>
                  <a:pt x="6915819" y="-14163"/>
                  <a:pt x="6997272" y="8123"/>
                  <a:pt x="7124122" y="0"/>
                </a:cubicBezTo>
                <a:cubicBezTo>
                  <a:pt x="7250972" y="-8123"/>
                  <a:pt x="7428791" y="52548"/>
                  <a:pt x="7597561" y="0"/>
                </a:cubicBezTo>
                <a:cubicBezTo>
                  <a:pt x="7766331" y="-52548"/>
                  <a:pt x="7807191" y="21886"/>
                  <a:pt x="7980820" y="0"/>
                </a:cubicBezTo>
                <a:cubicBezTo>
                  <a:pt x="8154449" y="-21886"/>
                  <a:pt x="8192481" y="18131"/>
                  <a:pt x="8273901" y="0"/>
                </a:cubicBezTo>
                <a:cubicBezTo>
                  <a:pt x="8355321" y="-18131"/>
                  <a:pt x="8671224" y="18103"/>
                  <a:pt x="9017876" y="0"/>
                </a:cubicBezTo>
                <a:cubicBezTo>
                  <a:pt x="9047610" y="181984"/>
                  <a:pt x="9010169" y="366235"/>
                  <a:pt x="9017876" y="514602"/>
                </a:cubicBezTo>
                <a:cubicBezTo>
                  <a:pt x="9025583" y="662969"/>
                  <a:pt x="8968172" y="928077"/>
                  <a:pt x="9017876" y="1146160"/>
                </a:cubicBezTo>
                <a:cubicBezTo>
                  <a:pt x="9067580" y="1364243"/>
                  <a:pt x="8971291" y="1554831"/>
                  <a:pt x="9017876" y="1777718"/>
                </a:cubicBezTo>
                <a:cubicBezTo>
                  <a:pt x="9064461" y="2000605"/>
                  <a:pt x="9004070" y="2121675"/>
                  <a:pt x="9017876" y="2339102"/>
                </a:cubicBezTo>
                <a:cubicBezTo>
                  <a:pt x="8849751" y="2381188"/>
                  <a:pt x="8758922" y="2325052"/>
                  <a:pt x="8544438" y="2339102"/>
                </a:cubicBezTo>
                <a:cubicBezTo>
                  <a:pt x="8329954" y="2353152"/>
                  <a:pt x="8254518" y="2333413"/>
                  <a:pt x="8070999" y="2339102"/>
                </a:cubicBezTo>
                <a:cubicBezTo>
                  <a:pt x="7887480" y="2344791"/>
                  <a:pt x="7752545" y="2294425"/>
                  <a:pt x="7597561" y="2339102"/>
                </a:cubicBezTo>
                <a:cubicBezTo>
                  <a:pt x="7442577" y="2383779"/>
                  <a:pt x="7163386" y="2309300"/>
                  <a:pt x="7033943" y="2339102"/>
                </a:cubicBezTo>
                <a:cubicBezTo>
                  <a:pt x="6904500" y="2368904"/>
                  <a:pt x="6677557" y="2275932"/>
                  <a:pt x="6470326" y="2339102"/>
                </a:cubicBezTo>
                <a:cubicBezTo>
                  <a:pt x="6263095" y="2402272"/>
                  <a:pt x="6154404" y="2300963"/>
                  <a:pt x="5996888" y="2339102"/>
                </a:cubicBezTo>
                <a:cubicBezTo>
                  <a:pt x="5839372" y="2377241"/>
                  <a:pt x="5772506" y="2305178"/>
                  <a:pt x="5703807" y="2339102"/>
                </a:cubicBezTo>
                <a:cubicBezTo>
                  <a:pt x="5635108" y="2373026"/>
                  <a:pt x="5445779" y="2311181"/>
                  <a:pt x="5320547" y="2339102"/>
                </a:cubicBezTo>
                <a:cubicBezTo>
                  <a:pt x="5195315" y="2367023"/>
                  <a:pt x="5022554" y="2308563"/>
                  <a:pt x="4756930" y="2339102"/>
                </a:cubicBezTo>
                <a:cubicBezTo>
                  <a:pt x="4491306" y="2369641"/>
                  <a:pt x="4533370" y="2311799"/>
                  <a:pt x="4463849" y="2339102"/>
                </a:cubicBezTo>
                <a:cubicBezTo>
                  <a:pt x="4394328" y="2366405"/>
                  <a:pt x="4237941" y="2336789"/>
                  <a:pt x="4080589" y="2339102"/>
                </a:cubicBezTo>
                <a:cubicBezTo>
                  <a:pt x="3923237" y="2341415"/>
                  <a:pt x="3750630" y="2277614"/>
                  <a:pt x="3426793" y="2339102"/>
                </a:cubicBezTo>
                <a:cubicBezTo>
                  <a:pt x="3102956" y="2400590"/>
                  <a:pt x="3129690" y="2304193"/>
                  <a:pt x="3043533" y="2339102"/>
                </a:cubicBezTo>
                <a:cubicBezTo>
                  <a:pt x="2957376" y="2374011"/>
                  <a:pt x="2549712" y="2312556"/>
                  <a:pt x="2299558" y="2339102"/>
                </a:cubicBezTo>
                <a:cubicBezTo>
                  <a:pt x="2049404" y="2365648"/>
                  <a:pt x="1949401" y="2271016"/>
                  <a:pt x="1645762" y="2339102"/>
                </a:cubicBezTo>
                <a:cubicBezTo>
                  <a:pt x="1342123" y="2407188"/>
                  <a:pt x="1158155" y="2328885"/>
                  <a:pt x="901788" y="2339102"/>
                </a:cubicBezTo>
                <a:cubicBezTo>
                  <a:pt x="645421" y="2349319"/>
                  <a:pt x="296999" y="2255948"/>
                  <a:pt x="0" y="2339102"/>
                </a:cubicBezTo>
                <a:cubicBezTo>
                  <a:pt x="-29800" y="2184940"/>
                  <a:pt x="53430" y="2050196"/>
                  <a:pt x="0" y="1824500"/>
                </a:cubicBezTo>
                <a:cubicBezTo>
                  <a:pt x="-53430" y="1598804"/>
                  <a:pt x="56267" y="1451211"/>
                  <a:pt x="0" y="1286506"/>
                </a:cubicBezTo>
                <a:cubicBezTo>
                  <a:pt x="-56267" y="1121801"/>
                  <a:pt x="47341" y="976932"/>
                  <a:pt x="0" y="771904"/>
                </a:cubicBezTo>
                <a:cubicBezTo>
                  <a:pt x="-47341" y="566876"/>
                  <a:pt x="84413" y="355298"/>
                  <a:pt x="0" y="0"/>
                </a:cubicBezTo>
                <a:close/>
              </a:path>
              <a:path w="9017876" h="2339102" stroke="0" extrusionOk="0">
                <a:moveTo>
                  <a:pt x="0" y="0"/>
                </a:moveTo>
                <a:cubicBezTo>
                  <a:pt x="94076" y="-25648"/>
                  <a:pt x="148363" y="34817"/>
                  <a:pt x="293081" y="0"/>
                </a:cubicBezTo>
                <a:cubicBezTo>
                  <a:pt x="437799" y="-34817"/>
                  <a:pt x="510920" y="32227"/>
                  <a:pt x="676341" y="0"/>
                </a:cubicBezTo>
                <a:cubicBezTo>
                  <a:pt x="841762" y="-32227"/>
                  <a:pt x="910230" y="27967"/>
                  <a:pt x="1059600" y="0"/>
                </a:cubicBezTo>
                <a:cubicBezTo>
                  <a:pt x="1208970" y="-27967"/>
                  <a:pt x="1458411" y="62127"/>
                  <a:pt x="1623218" y="0"/>
                </a:cubicBezTo>
                <a:cubicBezTo>
                  <a:pt x="1788025" y="-62127"/>
                  <a:pt x="2103561" y="83600"/>
                  <a:pt x="2367192" y="0"/>
                </a:cubicBezTo>
                <a:cubicBezTo>
                  <a:pt x="2630823" y="-83600"/>
                  <a:pt x="2705721" y="10960"/>
                  <a:pt x="2930810" y="0"/>
                </a:cubicBezTo>
                <a:cubicBezTo>
                  <a:pt x="3155899" y="-10960"/>
                  <a:pt x="3112787" y="25787"/>
                  <a:pt x="3223891" y="0"/>
                </a:cubicBezTo>
                <a:cubicBezTo>
                  <a:pt x="3334995" y="-25787"/>
                  <a:pt x="3774627" y="28649"/>
                  <a:pt x="3967865" y="0"/>
                </a:cubicBezTo>
                <a:cubicBezTo>
                  <a:pt x="4161103" y="-28649"/>
                  <a:pt x="4540849" y="61833"/>
                  <a:pt x="4711840" y="0"/>
                </a:cubicBezTo>
                <a:cubicBezTo>
                  <a:pt x="4882832" y="-61833"/>
                  <a:pt x="5104587" y="37561"/>
                  <a:pt x="5455815" y="0"/>
                </a:cubicBezTo>
                <a:cubicBezTo>
                  <a:pt x="5807044" y="-37561"/>
                  <a:pt x="5843455" y="34311"/>
                  <a:pt x="6019432" y="0"/>
                </a:cubicBezTo>
                <a:cubicBezTo>
                  <a:pt x="6195409" y="-34311"/>
                  <a:pt x="6423874" y="11689"/>
                  <a:pt x="6583049" y="0"/>
                </a:cubicBezTo>
                <a:cubicBezTo>
                  <a:pt x="6742224" y="-11689"/>
                  <a:pt x="6869182" y="38043"/>
                  <a:pt x="7146667" y="0"/>
                </a:cubicBezTo>
                <a:cubicBezTo>
                  <a:pt x="7424152" y="-38043"/>
                  <a:pt x="7613282" y="73588"/>
                  <a:pt x="7800463" y="0"/>
                </a:cubicBezTo>
                <a:cubicBezTo>
                  <a:pt x="7987644" y="-73588"/>
                  <a:pt x="8471498" y="88171"/>
                  <a:pt x="9017876" y="0"/>
                </a:cubicBezTo>
                <a:cubicBezTo>
                  <a:pt x="9053939" y="213781"/>
                  <a:pt x="8965447" y="402495"/>
                  <a:pt x="9017876" y="631558"/>
                </a:cubicBezTo>
                <a:cubicBezTo>
                  <a:pt x="9070305" y="860621"/>
                  <a:pt x="8982193" y="1028659"/>
                  <a:pt x="9017876" y="1169551"/>
                </a:cubicBezTo>
                <a:cubicBezTo>
                  <a:pt x="9053559" y="1310443"/>
                  <a:pt x="8999476" y="1570295"/>
                  <a:pt x="9017876" y="1684153"/>
                </a:cubicBezTo>
                <a:cubicBezTo>
                  <a:pt x="9036276" y="1798011"/>
                  <a:pt x="8980442" y="2054207"/>
                  <a:pt x="9017876" y="2339102"/>
                </a:cubicBezTo>
                <a:cubicBezTo>
                  <a:pt x="8862845" y="2416371"/>
                  <a:pt x="8640497" y="2320670"/>
                  <a:pt x="8364080" y="2339102"/>
                </a:cubicBezTo>
                <a:cubicBezTo>
                  <a:pt x="8087663" y="2357534"/>
                  <a:pt x="7896434" y="2322637"/>
                  <a:pt x="7710284" y="2339102"/>
                </a:cubicBezTo>
                <a:cubicBezTo>
                  <a:pt x="7524134" y="2355567"/>
                  <a:pt x="7527341" y="2322098"/>
                  <a:pt x="7417203" y="2339102"/>
                </a:cubicBezTo>
                <a:cubicBezTo>
                  <a:pt x="7307065" y="2356106"/>
                  <a:pt x="7128092" y="2316258"/>
                  <a:pt x="7033943" y="2339102"/>
                </a:cubicBezTo>
                <a:cubicBezTo>
                  <a:pt x="6939794" y="2361946"/>
                  <a:pt x="6848370" y="2338387"/>
                  <a:pt x="6740862" y="2339102"/>
                </a:cubicBezTo>
                <a:cubicBezTo>
                  <a:pt x="6633354" y="2339817"/>
                  <a:pt x="6533956" y="2305606"/>
                  <a:pt x="6357603" y="2339102"/>
                </a:cubicBezTo>
                <a:cubicBezTo>
                  <a:pt x="6181250" y="2372598"/>
                  <a:pt x="5918109" y="2282129"/>
                  <a:pt x="5613628" y="2339102"/>
                </a:cubicBezTo>
                <a:cubicBezTo>
                  <a:pt x="5309147" y="2396075"/>
                  <a:pt x="5198147" y="2250334"/>
                  <a:pt x="4869653" y="2339102"/>
                </a:cubicBezTo>
                <a:cubicBezTo>
                  <a:pt x="4541160" y="2427870"/>
                  <a:pt x="4582082" y="2313443"/>
                  <a:pt x="4486393" y="2339102"/>
                </a:cubicBezTo>
                <a:cubicBezTo>
                  <a:pt x="4390704" y="2364761"/>
                  <a:pt x="4158224" y="2326875"/>
                  <a:pt x="3832597" y="2339102"/>
                </a:cubicBezTo>
                <a:cubicBezTo>
                  <a:pt x="3506970" y="2351329"/>
                  <a:pt x="3621837" y="2317782"/>
                  <a:pt x="3539516" y="2339102"/>
                </a:cubicBezTo>
                <a:cubicBezTo>
                  <a:pt x="3457195" y="2360422"/>
                  <a:pt x="3345059" y="2313581"/>
                  <a:pt x="3246435" y="2339102"/>
                </a:cubicBezTo>
                <a:cubicBezTo>
                  <a:pt x="3147811" y="2364623"/>
                  <a:pt x="2916446" y="2329305"/>
                  <a:pt x="2592639" y="2339102"/>
                </a:cubicBezTo>
                <a:cubicBezTo>
                  <a:pt x="2268832" y="2348899"/>
                  <a:pt x="2235041" y="2329224"/>
                  <a:pt x="2029022" y="2339102"/>
                </a:cubicBezTo>
                <a:cubicBezTo>
                  <a:pt x="1823003" y="2348980"/>
                  <a:pt x="1759251" y="2313572"/>
                  <a:pt x="1555584" y="2339102"/>
                </a:cubicBezTo>
                <a:cubicBezTo>
                  <a:pt x="1351917" y="2364632"/>
                  <a:pt x="1262558" y="2302395"/>
                  <a:pt x="1172324" y="2339102"/>
                </a:cubicBezTo>
                <a:cubicBezTo>
                  <a:pt x="1082090" y="2375809"/>
                  <a:pt x="809290" y="2304331"/>
                  <a:pt x="608707" y="2339102"/>
                </a:cubicBezTo>
                <a:cubicBezTo>
                  <a:pt x="408124" y="2373873"/>
                  <a:pt x="192434" y="2304663"/>
                  <a:pt x="0" y="2339102"/>
                </a:cubicBezTo>
                <a:cubicBezTo>
                  <a:pt x="-34576" y="2099922"/>
                  <a:pt x="67592" y="1944096"/>
                  <a:pt x="0" y="1707544"/>
                </a:cubicBezTo>
                <a:cubicBezTo>
                  <a:pt x="-67592" y="1470992"/>
                  <a:pt x="14002" y="1403706"/>
                  <a:pt x="0" y="1192942"/>
                </a:cubicBezTo>
                <a:cubicBezTo>
                  <a:pt x="-14002" y="982178"/>
                  <a:pt x="57586" y="799151"/>
                  <a:pt x="0" y="678340"/>
                </a:cubicBezTo>
                <a:cubicBezTo>
                  <a:pt x="-57586" y="557529"/>
                  <a:pt x="2149" y="328623"/>
                  <a:pt x="0" y="0"/>
                </a:cubicBezTo>
                <a:close/>
              </a:path>
            </a:pathLst>
          </a:custGeom>
          <a:solidFill>
            <a:schemeClr val="tx1"/>
          </a:solidFill>
          <a:ln w="57150">
            <a:solidFill>
              <a:srgbClr val="00B050"/>
            </a:solidFill>
            <a:extLst>
              <a:ext uri="{C807C97D-BFC1-408E-A445-0C87EB9F89A2}">
                <ask:lineSketchStyleProps xmlns:ask="http://schemas.microsoft.com/office/drawing/2018/sketchyshapes" sd="52156303">
                  <a:prstGeom prst="rect">
                    <a:avLst/>
                  </a:prstGeom>
                  <ask:type>
                    <ask:lineSketchScribble/>
                  </ask:type>
                </ask:lineSketchStyleProps>
              </a:ext>
            </a:extLst>
          </a:ln>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AutoNum type="alphaLcParenR"/>
              <a:tabLst/>
              <a:defRPr/>
            </a:pPr>
            <a:r>
              <a:rPr kumimoji="0" lang="es-MX" sz="1600" b="0" i="0" u="none" strike="noStrike" kern="1200" cap="none" spc="0" normalizeH="0" baseline="0" noProof="0" dirty="0">
                <a:ln>
                  <a:noFill/>
                </a:ln>
                <a:solidFill>
                  <a:prstClr val="black"/>
                </a:solidFill>
                <a:effectLst/>
                <a:uLnTx/>
                <a:uFillTx/>
                <a:latin typeface="Trebuchet MS" panose="020B0603020202020204"/>
                <a:ea typeface="+mn-ea"/>
                <a:cs typeface="+mn-cs"/>
              </a:rPr>
              <a:t>Establecimiento de sistemas de acceso transparente a información sobre hechos y antecedentes de personas; </a:t>
            </a:r>
          </a:p>
          <a:p>
            <a:pPr marL="342900" marR="0" lvl="0" indent="-342900" algn="just" defTabSz="914400" rtl="0" eaLnBrk="1" fontAlgn="auto" latinLnBrk="0" hangingPunct="1">
              <a:lnSpc>
                <a:spcPct val="100000"/>
              </a:lnSpc>
              <a:spcBef>
                <a:spcPts val="0"/>
              </a:spcBef>
              <a:spcAft>
                <a:spcPts val="0"/>
              </a:spcAft>
              <a:buClrTx/>
              <a:buSzTx/>
              <a:buFontTx/>
              <a:buAutoNum type="alphaLcParenR"/>
              <a:tabLst/>
              <a:defRPr/>
            </a:pPr>
            <a:r>
              <a:rPr kumimoji="0" lang="es-MX" sz="1600" b="0" i="0" u="none" strike="noStrike" kern="1200" cap="none" spc="0" normalizeH="0" baseline="0" noProof="0" dirty="0">
                <a:ln>
                  <a:noFill/>
                </a:ln>
                <a:solidFill>
                  <a:prstClr val="black"/>
                </a:solidFill>
                <a:effectLst/>
                <a:uLnTx/>
                <a:uFillTx/>
                <a:latin typeface="Trebuchet MS" panose="020B0603020202020204"/>
                <a:ea typeface="+mn-ea"/>
                <a:cs typeface="+mn-cs"/>
              </a:rPr>
              <a:t>Establecimiento de espacios de diálogo u otras formas, sobre fa aplicación de los DDHH en sus resoluciones; </a:t>
            </a:r>
          </a:p>
          <a:p>
            <a:pPr marL="342900" marR="0" lvl="0" indent="-342900" algn="just" defTabSz="914400" rtl="0" eaLnBrk="1" fontAlgn="auto" latinLnBrk="0" hangingPunct="1">
              <a:lnSpc>
                <a:spcPct val="100000"/>
              </a:lnSpc>
              <a:spcBef>
                <a:spcPts val="0"/>
              </a:spcBef>
              <a:spcAft>
                <a:spcPts val="0"/>
              </a:spcAft>
              <a:buClrTx/>
              <a:buSzTx/>
              <a:buFontTx/>
              <a:buAutoNum type="alphaLcParenR"/>
              <a:tabLst/>
              <a:defRPr/>
            </a:pPr>
            <a:r>
              <a:rPr kumimoji="0" lang="es-MX" sz="1600" b="0" i="0" u="none" strike="noStrike" kern="1200" cap="none" spc="0" normalizeH="0" baseline="0" noProof="0" dirty="0">
                <a:ln>
                  <a:noFill/>
                </a:ln>
                <a:solidFill>
                  <a:prstClr val="black"/>
                </a:solidFill>
                <a:effectLst/>
                <a:uLnTx/>
                <a:uFillTx/>
                <a:latin typeface="Trebuchet MS" panose="020B0603020202020204"/>
                <a:ea typeface="+mn-ea"/>
                <a:cs typeface="+mn-cs"/>
              </a:rPr>
              <a:t>Establecimiento de espacios de diálogo u otras formas para el intercambio de experiencias sobre los métodos de resolución de conflictos; </a:t>
            </a:r>
          </a:p>
          <a:p>
            <a:pPr marL="342900" marR="0" lvl="0" indent="-342900" algn="just" defTabSz="914400" rtl="0" eaLnBrk="1" fontAlgn="auto" latinLnBrk="0" hangingPunct="1">
              <a:lnSpc>
                <a:spcPct val="100000"/>
              </a:lnSpc>
              <a:spcBef>
                <a:spcPts val="0"/>
              </a:spcBef>
              <a:spcAft>
                <a:spcPts val="0"/>
              </a:spcAft>
              <a:buClrTx/>
              <a:buSzTx/>
              <a:buFontTx/>
              <a:buAutoNum type="alphaLcParenR"/>
              <a:tabLst/>
              <a:defRPr/>
            </a:pPr>
            <a:r>
              <a:rPr kumimoji="0" lang="es-MX" sz="1600" b="0" i="0" u="none" strike="noStrike" kern="1200" cap="none" spc="0" normalizeH="0" baseline="0" noProof="0" dirty="0">
                <a:ln>
                  <a:noFill/>
                </a:ln>
                <a:solidFill>
                  <a:prstClr val="black"/>
                </a:solidFill>
                <a:effectLst/>
                <a:uLnTx/>
                <a:uFillTx/>
                <a:latin typeface="Trebuchet MS" panose="020B0603020202020204"/>
                <a:ea typeface="+mn-ea"/>
                <a:cs typeface="+mn-cs"/>
              </a:rPr>
              <a:t>Otros mecanismos de coordinación, que puedan emerger en función de la aplicación de la presente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Artículo 14. (MECANISMOS DE COORDINACIÓN).</a:t>
            </a:r>
            <a:endParaRPr kumimoji="0" lang="es-BO" sz="16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D952B73E-AA13-464A-9AD2-F33EE0F5E3FE}"/>
              </a:ext>
            </a:extLst>
          </p:cNvPr>
          <p:cNvSpPr txBox="1"/>
          <p:nvPr/>
        </p:nvSpPr>
        <p:spPr>
          <a:xfrm>
            <a:off x="578068" y="2908991"/>
            <a:ext cx="10478813" cy="3385542"/>
          </a:xfrm>
          <a:custGeom>
            <a:avLst/>
            <a:gdLst>
              <a:gd name="connsiteX0" fmla="*/ 0 w 10478813"/>
              <a:gd name="connsiteY0" fmla="*/ 0 h 3385542"/>
              <a:gd name="connsiteX1" fmla="*/ 582156 w 10478813"/>
              <a:gd name="connsiteY1" fmla="*/ 0 h 3385542"/>
              <a:gd name="connsiteX2" fmla="*/ 1269101 w 10478813"/>
              <a:gd name="connsiteY2" fmla="*/ 0 h 3385542"/>
              <a:gd name="connsiteX3" fmla="*/ 1956045 w 10478813"/>
              <a:gd name="connsiteY3" fmla="*/ 0 h 3385542"/>
              <a:gd name="connsiteX4" fmla="*/ 2747778 w 10478813"/>
              <a:gd name="connsiteY4" fmla="*/ 0 h 3385542"/>
              <a:gd name="connsiteX5" fmla="*/ 3015570 w 10478813"/>
              <a:gd name="connsiteY5" fmla="*/ 0 h 3385542"/>
              <a:gd name="connsiteX6" fmla="*/ 3492938 w 10478813"/>
              <a:gd name="connsiteY6" fmla="*/ 0 h 3385542"/>
              <a:gd name="connsiteX7" fmla="*/ 3970306 w 10478813"/>
              <a:gd name="connsiteY7" fmla="*/ 0 h 3385542"/>
              <a:gd name="connsiteX8" fmla="*/ 4238098 w 10478813"/>
              <a:gd name="connsiteY8" fmla="*/ 0 h 3385542"/>
              <a:gd name="connsiteX9" fmla="*/ 4715466 w 10478813"/>
              <a:gd name="connsiteY9" fmla="*/ 0 h 3385542"/>
              <a:gd name="connsiteX10" fmla="*/ 5507198 w 10478813"/>
              <a:gd name="connsiteY10" fmla="*/ 0 h 3385542"/>
              <a:gd name="connsiteX11" fmla="*/ 5879778 w 10478813"/>
              <a:gd name="connsiteY11" fmla="*/ 0 h 3385542"/>
              <a:gd name="connsiteX12" fmla="*/ 6147570 w 10478813"/>
              <a:gd name="connsiteY12" fmla="*/ 0 h 3385542"/>
              <a:gd name="connsiteX13" fmla="*/ 6624938 w 10478813"/>
              <a:gd name="connsiteY13" fmla="*/ 0 h 3385542"/>
              <a:gd name="connsiteX14" fmla="*/ 7311883 w 10478813"/>
              <a:gd name="connsiteY14" fmla="*/ 0 h 3385542"/>
              <a:gd name="connsiteX15" fmla="*/ 7894039 w 10478813"/>
              <a:gd name="connsiteY15" fmla="*/ 0 h 3385542"/>
              <a:gd name="connsiteX16" fmla="*/ 8685772 w 10478813"/>
              <a:gd name="connsiteY16" fmla="*/ 0 h 3385542"/>
              <a:gd name="connsiteX17" fmla="*/ 9058352 w 10478813"/>
              <a:gd name="connsiteY17" fmla="*/ 0 h 3385542"/>
              <a:gd name="connsiteX18" fmla="*/ 9430932 w 10478813"/>
              <a:gd name="connsiteY18" fmla="*/ 0 h 3385542"/>
              <a:gd name="connsiteX19" fmla="*/ 10478813 w 10478813"/>
              <a:gd name="connsiteY19" fmla="*/ 0 h 3385542"/>
              <a:gd name="connsiteX20" fmla="*/ 10478813 w 10478813"/>
              <a:gd name="connsiteY20" fmla="*/ 530402 h 3385542"/>
              <a:gd name="connsiteX21" fmla="*/ 10478813 w 10478813"/>
              <a:gd name="connsiteY21" fmla="*/ 1094659 h 3385542"/>
              <a:gd name="connsiteX22" fmla="*/ 10478813 w 10478813"/>
              <a:gd name="connsiteY22" fmla="*/ 1591205 h 3385542"/>
              <a:gd name="connsiteX23" fmla="*/ 10478813 w 10478813"/>
              <a:gd name="connsiteY23" fmla="*/ 2087751 h 3385542"/>
              <a:gd name="connsiteX24" fmla="*/ 10478813 w 10478813"/>
              <a:gd name="connsiteY24" fmla="*/ 2550442 h 3385542"/>
              <a:gd name="connsiteX25" fmla="*/ 10478813 w 10478813"/>
              <a:gd name="connsiteY25" fmla="*/ 3385542 h 3385542"/>
              <a:gd name="connsiteX26" fmla="*/ 10001445 w 10478813"/>
              <a:gd name="connsiteY26" fmla="*/ 3385542 h 3385542"/>
              <a:gd name="connsiteX27" fmla="*/ 9628865 w 10478813"/>
              <a:gd name="connsiteY27" fmla="*/ 3385542 h 3385542"/>
              <a:gd name="connsiteX28" fmla="*/ 9361073 w 10478813"/>
              <a:gd name="connsiteY28" fmla="*/ 3385542 h 3385542"/>
              <a:gd name="connsiteX29" fmla="*/ 9093281 w 10478813"/>
              <a:gd name="connsiteY29" fmla="*/ 3385542 h 3385542"/>
              <a:gd name="connsiteX30" fmla="*/ 8615913 w 10478813"/>
              <a:gd name="connsiteY30" fmla="*/ 3385542 h 3385542"/>
              <a:gd name="connsiteX31" fmla="*/ 7928969 w 10478813"/>
              <a:gd name="connsiteY31" fmla="*/ 3385542 h 3385542"/>
              <a:gd name="connsiteX32" fmla="*/ 7346812 w 10478813"/>
              <a:gd name="connsiteY32" fmla="*/ 3385542 h 3385542"/>
              <a:gd name="connsiteX33" fmla="*/ 6764656 w 10478813"/>
              <a:gd name="connsiteY33" fmla="*/ 3385542 h 3385542"/>
              <a:gd name="connsiteX34" fmla="*/ 6496864 w 10478813"/>
              <a:gd name="connsiteY34" fmla="*/ 3385542 h 3385542"/>
              <a:gd name="connsiteX35" fmla="*/ 6019496 w 10478813"/>
              <a:gd name="connsiteY35" fmla="*/ 3385542 h 3385542"/>
              <a:gd name="connsiteX36" fmla="*/ 5437340 w 10478813"/>
              <a:gd name="connsiteY36" fmla="*/ 3385542 h 3385542"/>
              <a:gd name="connsiteX37" fmla="*/ 4855183 w 10478813"/>
              <a:gd name="connsiteY37" fmla="*/ 3385542 h 3385542"/>
              <a:gd name="connsiteX38" fmla="*/ 4482603 w 10478813"/>
              <a:gd name="connsiteY38" fmla="*/ 3385542 h 3385542"/>
              <a:gd name="connsiteX39" fmla="*/ 4214811 w 10478813"/>
              <a:gd name="connsiteY39" fmla="*/ 3385542 h 3385542"/>
              <a:gd name="connsiteX40" fmla="*/ 3842231 w 10478813"/>
              <a:gd name="connsiteY40" fmla="*/ 3385542 h 3385542"/>
              <a:gd name="connsiteX41" fmla="*/ 3155287 w 10478813"/>
              <a:gd name="connsiteY41" fmla="*/ 3385542 h 3385542"/>
              <a:gd name="connsiteX42" fmla="*/ 2468343 w 10478813"/>
              <a:gd name="connsiteY42" fmla="*/ 3385542 h 3385542"/>
              <a:gd name="connsiteX43" fmla="*/ 1990974 w 10478813"/>
              <a:gd name="connsiteY43" fmla="*/ 3385542 h 3385542"/>
              <a:gd name="connsiteX44" fmla="*/ 1304030 w 10478813"/>
              <a:gd name="connsiteY44" fmla="*/ 3385542 h 3385542"/>
              <a:gd name="connsiteX45" fmla="*/ 617086 w 10478813"/>
              <a:gd name="connsiteY45" fmla="*/ 3385542 h 3385542"/>
              <a:gd name="connsiteX46" fmla="*/ 0 w 10478813"/>
              <a:gd name="connsiteY46" fmla="*/ 3385542 h 3385542"/>
              <a:gd name="connsiteX47" fmla="*/ 0 w 10478813"/>
              <a:gd name="connsiteY47" fmla="*/ 2753574 h 3385542"/>
              <a:gd name="connsiteX48" fmla="*/ 0 w 10478813"/>
              <a:gd name="connsiteY48" fmla="*/ 2189317 h 3385542"/>
              <a:gd name="connsiteX49" fmla="*/ 0 w 10478813"/>
              <a:gd name="connsiteY49" fmla="*/ 1625060 h 3385542"/>
              <a:gd name="connsiteX50" fmla="*/ 0 w 10478813"/>
              <a:gd name="connsiteY50" fmla="*/ 1060803 h 3385542"/>
              <a:gd name="connsiteX51" fmla="*/ 0 w 10478813"/>
              <a:gd name="connsiteY51" fmla="*/ 496546 h 3385542"/>
              <a:gd name="connsiteX52" fmla="*/ 0 w 10478813"/>
              <a:gd name="connsiteY52" fmla="*/ 0 h 338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478813" h="3385542" fill="none" extrusionOk="0">
                <a:moveTo>
                  <a:pt x="0" y="0"/>
                </a:moveTo>
                <a:cubicBezTo>
                  <a:pt x="119774" y="-13886"/>
                  <a:pt x="322708" y="9046"/>
                  <a:pt x="582156" y="0"/>
                </a:cubicBezTo>
                <a:cubicBezTo>
                  <a:pt x="841604" y="-9046"/>
                  <a:pt x="1034854" y="55992"/>
                  <a:pt x="1269101" y="0"/>
                </a:cubicBezTo>
                <a:cubicBezTo>
                  <a:pt x="1503349" y="-55992"/>
                  <a:pt x="1749775" y="32735"/>
                  <a:pt x="1956045" y="0"/>
                </a:cubicBezTo>
                <a:cubicBezTo>
                  <a:pt x="2162315" y="-32735"/>
                  <a:pt x="2359185" y="54431"/>
                  <a:pt x="2747778" y="0"/>
                </a:cubicBezTo>
                <a:cubicBezTo>
                  <a:pt x="3136371" y="-54431"/>
                  <a:pt x="2897483" y="25444"/>
                  <a:pt x="3015570" y="0"/>
                </a:cubicBezTo>
                <a:cubicBezTo>
                  <a:pt x="3133657" y="-25444"/>
                  <a:pt x="3254512" y="29661"/>
                  <a:pt x="3492938" y="0"/>
                </a:cubicBezTo>
                <a:cubicBezTo>
                  <a:pt x="3731364" y="-29661"/>
                  <a:pt x="3771733" y="26501"/>
                  <a:pt x="3970306" y="0"/>
                </a:cubicBezTo>
                <a:cubicBezTo>
                  <a:pt x="4168879" y="-26501"/>
                  <a:pt x="4155729" y="21758"/>
                  <a:pt x="4238098" y="0"/>
                </a:cubicBezTo>
                <a:cubicBezTo>
                  <a:pt x="4320467" y="-21758"/>
                  <a:pt x="4501369" y="45115"/>
                  <a:pt x="4715466" y="0"/>
                </a:cubicBezTo>
                <a:cubicBezTo>
                  <a:pt x="4929563" y="-45115"/>
                  <a:pt x="5248182" y="44243"/>
                  <a:pt x="5507198" y="0"/>
                </a:cubicBezTo>
                <a:cubicBezTo>
                  <a:pt x="5766214" y="-44243"/>
                  <a:pt x="5804538" y="4741"/>
                  <a:pt x="5879778" y="0"/>
                </a:cubicBezTo>
                <a:cubicBezTo>
                  <a:pt x="5955018" y="-4741"/>
                  <a:pt x="6076879" y="21564"/>
                  <a:pt x="6147570" y="0"/>
                </a:cubicBezTo>
                <a:cubicBezTo>
                  <a:pt x="6218261" y="-21564"/>
                  <a:pt x="6450008" y="50386"/>
                  <a:pt x="6624938" y="0"/>
                </a:cubicBezTo>
                <a:cubicBezTo>
                  <a:pt x="6799868" y="-50386"/>
                  <a:pt x="7120911" y="19059"/>
                  <a:pt x="7311883" y="0"/>
                </a:cubicBezTo>
                <a:cubicBezTo>
                  <a:pt x="7502856" y="-19059"/>
                  <a:pt x="7686996" y="17597"/>
                  <a:pt x="7894039" y="0"/>
                </a:cubicBezTo>
                <a:cubicBezTo>
                  <a:pt x="8101082" y="-17597"/>
                  <a:pt x="8425138" y="67049"/>
                  <a:pt x="8685772" y="0"/>
                </a:cubicBezTo>
                <a:cubicBezTo>
                  <a:pt x="8946406" y="-67049"/>
                  <a:pt x="8919147" y="6556"/>
                  <a:pt x="9058352" y="0"/>
                </a:cubicBezTo>
                <a:cubicBezTo>
                  <a:pt x="9197557" y="-6556"/>
                  <a:pt x="9271310" y="42020"/>
                  <a:pt x="9430932" y="0"/>
                </a:cubicBezTo>
                <a:cubicBezTo>
                  <a:pt x="9590554" y="-42020"/>
                  <a:pt x="10160976" y="4026"/>
                  <a:pt x="10478813" y="0"/>
                </a:cubicBezTo>
                <a:cubicBezTo>
                  <a:pt x="10485969" y="205349"/>
                  <a:pt x="10427635" y="286235"/>
                  <a:pt x="10478813" y="530402"/>
                </a:cubicBezTo>
                <a:cubicBezTo>
                  <a:pt x="10529991" y="774569"/>
                  <a:pt x="10448122" y="876096"/>
                  <a:pt x="10478813" y="1094659"/>
                </a:cubicBezTo>
                <a:cubicBezTo>
                  <a:pt x="10509504" y="1313222"/>
                  <a:pt x="10445024" y="1467333"/>
                  <a:pt x="10478813" y="1591205"/>
                </a:cubicBezTo>
                <a:cubicBezTo>
                  <a:pt x="10512602" y="1715077"/>
                  <a:pt x="10454194" y="1957625"/>
                  <a:pt x="10478813" y="2087751"/>
                </a:cubicBezTo>
                <a:cubicBezTo>
                  <a:pt x="10503432" y="2217877"/>
                  <a:pt x="10453272" y="2346043"/>
                  <a:pt x="10478813" y="2550442"/>
                </a:cubicBezTo>
                <a:cubicBezTo>
                  <a:pt x="10504354" y="2754841"/>
                  <a:pt x="10420144" y="3052633"/>
                  <a:pt x="10478813" y="3385542"/>
                </a:cubicBezTo>
                <a:cubicBezTo>
                  <a:pt x="10350106" y="3427877"/>
                  <a:pt x="10148435" y="3353517"/>
                  <a:pt x="10001445" y="3385542"/>
                </a:cubicBezTo>
                <a:cubicBezTo>
                  <a:pt x="9854455" y="3417567"/>
                  <a:pt x="9713421" y="3380033"/>
                  <a:pt x="9628865" y="3385542"/>
                </a:cubicBezTo>
                <a:cubicBezTo>
                  <a:pt x="9544309" y="3391051"/>
                  <a:pt x="9485329" y="3362032"/>
                  <a:pt x="9361073" y="3385542"/>
                </a:cubicBezTo>
                <a:cubicBezTo>
                  <a:pt x="9236817" y="3409052"/>
                  <a:pt x="9171575" y="3383453"/>
                  <a:pt x="9093281" y="3385542"/>
                </a:cubicBezTo>
                <a:cubicBezTo>
                  <a:pt x="9014987" y="3387631"/>
                  <a:pt x="8712059" y="3331951"/>
                  <a:pt x="8615913" y="3385542"/>
                </a:cubicBezTo>
                <a:cubicBezTo>
                  <a:pt x="8519767" y="3439133"/>
                  <a:pt x="8070343" y="3344435"/>
                  <a:pt x="7928969" y="3385542"/>
                </a:cubicBezTo>
                <a:cubicBezTo>
                  <a:pt x="7787595" y="3426649"/>
                  <a:pt x="7546086" y="3384555"/>
                  <a:pt x="7346812" y="3385542"/>
                </a:cubicBezTo>
                <a:cubicBezTo>
                  <a:pt x="7147538" y="3386529"/>
                  <a:pt x="6922057" y="3337180"/>
                  <a:pt x="6764656" y="3385542"/>
                </a:cubicBezTo>
                <a:cubicBezTo>
                  <a:pt x="6607255" y="3433904"/>
                  <a:pt x="6602841" y="3374487"/>
                  <a:pt x="6496864" y="3385542"/>
                </a:cubicBezTo>
                <a:cubicBezTo>
                  <a:pt x="6390887" y="3396597"/>
                  <a:pt x="6247226" y="3355315"/>
                  <a:pt x="6019496" y="3385542"/>
                </a:cubicBezTo>
                <a:cubicBezTo>
                  <a:pt x="5791766" y="3415769"/>
                  <a:pt x="5560821" y="3340377"/>
                  <a:pt x="5437340" y="3385542"/>
                </a:cubicBezTo>
                <a:cubicBezTo>
                  <a:pt x="5313859" y="3430707"/>
                  <a:pt x="5016168" y="3358319"/>
                  <a:pt x="4855183" y="3385542"/>
                </a:cubicBezTo>
                <a:cubicBezTo>
                  <a:pt x="4694198" y="3412765"/>
                  <a:pt x="4579109" y="3346432"/>
                  <a:pt x="4482603" y="3385542"/>
                </a:cubicBezTo>
                <a:cubicBezTo>
                  <a:pt x="4386097" y="3424652"/>
                  <a:pt x="4334747" y="3361113"/>
                  <a:pt x="4214811" y="3385542"/>
                </a:cubicBezTo>
                <a:cubicBezTo>
                  <a:pt x="4094875" y="3409971"/>
                  <a:pt x="4020697" y="3360240"/>
                  <a:pt x="3842231" y="3385542"/>
                </a:cubicBezTo>
                <a:cubicBezTo>
                  <a:pt x="3663765" y="3410844"/>
                  <a:pt x="3458069" y="3314017"/>
                  <a:pt x="3155287" y="3385542"/>
                </a:cubicBezTo>
                <a:cubicBezTo>
                  <a:pt x="2852505" y="3457067"/>
                  <a:pt x="2742261" y="3368152"/>
                  <a:pt x="2468343" y="3385542"/>
                </a:cubicBezTo>
                <a:cubicBezTo>
                  <a:pt x="2194425" y="3402932"/>
                  <a:pt x="2133843" y="3346697"/>
                  <a:pt x="1990974" y="3385542"/>
                </a:cubicBezTo>
                <a:cubicBezTo>
                  <a:pt x="1848105" y="3424387"/>
                  <a:pt x="1610120" y="3303677"/>
                  <a:pt x="1304030" y="3385542"/>
                </a:cubicBezTo>
                <a:cubicBezTo>
                  <a:pt x="997940" y="3467407"/>
                  <a:pt x="881903" y="3377285"/>
                  <a:pt x="617086" y="3385542"/>
                </a:cubicBezTo>
                <a:cubicBezTo>
                  <a:pt x="352269" y="3393799"/>
                  <a:pt x="235959" y="3337587"/>
                  <a:pt x="0" y="3385542"/>
                </a:cubicBezTo>
                <a:cubicBezTo>
                  <a:pt x="-43086" y="3079018"/>
                  <a:pt x="14258" y="2893666"/>
                  <a:pt x="0" y="2753574"/>
                </a:cubicBezTo>
                <a:cubicBezTo>
                  <a:pt x="-14258" y="2613482"/>
                  <a:pt x="3653" y="2315444"/>
                  <a:pt x="0" y="2189317"/>
                </a:cubicBezTo>
                <a:cubicBezTo>
                  <a:pt x="-3653" y="2063190"/>
                  <a:pt x="65725" y="1862362"/>
                  <a:pt x="0" y="1625060"/>
                </a:cubicBezTo>
                <a:cubicBezTo>
                  <a:pt x="-65725" y="1387758"/>
                  <a:pt x="39020" y="1233816"/>
                  <a:pt x="0" y="1060803"/>
                </a:cubicBezTo>
                <a:cubicBezTo>
                  <a:pt x="-39020" y="887790"/>
                  <a:pt x="329" y="725816"/>
                  <a:pt x="0" y="496546"/>
                </a:cubicBezTo>
                <a:cubicBezTo>
                  <a:pt x="-329" y="267276"/>
                  <a:pt x="156" y="178636"/>
                  <a:pt x="0" y="0"/>
                </a:cubicBezTo>
                <a:close/>
              </a:path>
              <a:path w="10478813" h="3385542" stroke="0" extrusionOk="0">
                <a:moveTo>
                  <a:pt x="0" y="0"/>
                </a:moveTo>
                <a:cubicBezTo>
                  <a:pt x="306160" y="-67619"/>
                  <a:pt x="369612" y="29157"/>
                  <a:pt x="686944" y="0"/>
                </a:cubicBezTo>
                <a:cubicBezTo>
                  <a:pt x="1004276" y="-29157"/>
                  <a:pt x="1152857" y="74805"/>
                  <a:pt x="1478677" y="0"/>
                </a:cubicBezTo>
                <a:cubicBezTo>
                  <a:pt x="1804497" y="-74805"/>
                  <a:pt x="1694642" y="31787"/>
                  <a:pt x="1851257" y="0"/>
                </a:cubicBezTo>
                <a:cubicBezTo>
                  <a:pt x="2007872" y="-31787"/>
                  <a:pt x="2160293" y="35565"/>
                  <a:pt x="2433413" y="0"/>
                </a:cubicBezTo>
                <a:cubicBezTo>
                  <a:pt x="2706533" y="-35565"/>
                  <a:pt x="2831168" y="14384"/>
                  <a:pt x="3225146" y="0"/>
                </a:cubicBezTo>
                <a:cubicBezTo>
                  <a:pt x="3619124" y="-14384"/>
                  <a:pt x="3671554" y="37928"/>
                  <a:pt x="3912090" y="0"/>
                </a:cubicBezTo>
                <a:cubicBezTo>
                  <a:pt x="4152626" y="-37928"/>
                  <a:pt x="4251813" y="40707"/>
                  <a:pt x="4389458" y="0"/>
                </a:cubicBezTo>
                <a:cubicBezTo>
                  <a:pt x="4527103" y="-40707"/>
                  <a:pt x="4572208" y="9214"/>
                  <a:pt x="4657250" y="0"/>
                </a:cubicBezTo>
                <a:cubicBezTo>
                  <a:pt x="4742292" y="-9214"/>
                  <a:pt x="5033484" y="67422"/>
                  <a:pt x="5239407" y="0"/>
                </a:cubicBezTo>
                <a:cubicBezTo>
                  <a:pt x="5445330" y="-67422"/>
                  <a:pt x="5605524" y="27300"/>
                  <a:pt x="5821563" y="0"/>
                </a:cubicBezTo>
                <a:cubicBezTo>
                  <a:pt x="6037602" y="-27300"/>
                  <a:pt x="6337788" y="84318"/>
                  <a:pt x="6613295" y="0"/>
                </a:cubicBezTo>
                <a:cubicBezTo>
                  <a:pt x="6888802" y="-84318"/>
                  <a:pt x="6797719" y="24897"/>
                  <a:pt x="6881087" y="0"/>
                </a:cubicBezTo>
                <a:cubicBezTo>
                  <a:pt x="6964455" y="-24897"/>
                  <a:pt x="7140987" y="38704"/>
                  <a:pt x="7253667" y="0"/>
                </a:cubicBezTo>
                <a:cubicBezTo>
                  <a:pt x="7366347" y="-38704"/>
                  <a:pt x="7774466" y="69133"/>
                  <a:pt x="8045400" y="0"/>
                </a:cubicBezTo>
                <a:cubicBezTo>
                  <a:pt x="8316334" y="-69133"/>
                  <a:pt x="8259185" y="22879"/>
                  <a:pt x="8417980" y="0"/>
                </a:cubicBezTo>
                <a:cubicBezTo>
                  <a:pt x="8576775" y="-22879"/>
                  <a:pt x="8929770" y="65344"/>
                  <a:pt x="9104924" y="0"/>
                </a:cubicBezTo>
                <a:cubicBezTo>
                  <a:pt x="9280078" y="-65344"/>
                  <a:pt x="9343963" y="2459"/>
                  <a:pt x="9477504" y="0"/>
                </a:cubicBezTo>
                <a:cubicBezTo>
                  <a:pt x="9611045" y="-2459"/>
                  <a:pt x="9742976" y="41445"/>
                  <a:pt x="9954872" y="0"/>
                </a:cubicBezTo>
                <a:cubicBezTo>
                  <a:pt x="10166768" y="-41445"/>
                  <a:pt x="10370122" y="19910"/>
                  <a:pt x="10478813" y="0"/>
                </a:cubicBezTo>
                <a:cubicBezTo>
                  <a:pt x="10541758" y="219905"/>
                  <a:pt x="10450256" y="393371"/>
                  <a:pt x="10478813" y="598112"/>
                </a:cubicBezTo>
                <a:cubicBezTo>
                  <a:pt x="10507370" y="802853"/>
                  <a:pt x="10441902" y="867140"/>
                  <a:pt x="10478813" y="1094659"/>
                </a:cubicBezTo>
                <a:cubicBezTo>
                  <a:pt x="10515724" y="1322178"/>
                  <a:pt x="10459133" y="1500694"/>
                  <a:pt x="10478813" y="1726626"/>
                </a:cubicBezTo>
                <a:cubicBezTo>
                  <a:pt x="10498493" y="1952558"/>
                  <a:pt x="10428342" y="2062522"/>
                  <a:pt x="10478813" y="2189317"/>
                </a:cubicBezTo>
                <a:cubicBezTo>
                  <a:pt x="10529284" y="2316112"/>
                  <a:pt x="10446908" y="2422388"/>
                  <a:pt x="10478813" y="2652008"/>
                </a:cubicBezTo>
                <a:cubicBezTo>
                  <a:pt x="10510718" y="2881628"/>
                  <a:pt x="10457690" y="3037871"/>
                  <a:pt x="10478813" y="3385542"/>
                </a:cubicBezTo>
                <a:cubicBezTo>
                  <a:pt x="10396618" y="3390401"/>
                  <a:pt x="10302338" y="3376853"/>
                  <a:pt x="10211021" y="3385542"/>
                </a:cubicBezTo>
                <a:cubicBezTo>
                  <a:pt x="10119704" y="3394231"/>
                  <a:pt x="9893224" y="3340320"/>
                  <a:pt x="9733653" y="3385542"/>
                </a:cubicBezTo>
                <a:cubicBezTo>
                  <a:pt x="9574082" y="3430764"/>
                  <a:pt x="9219881" y="3323366"/>
                  <a:pt x="8941920" y="3385542"/>
                </a:cubicBezTo>
                <a:cubicBezTo>
                  <a:pt x="8663959" y="3447718"/>
                  <a:pt x="8565557" y="3363818"/>
                  <a:pt x="8464552" y="3385542"/>
                </a:cubicBezTo>
                <a:cubicBezTo>
                  <a:pt x="8363547" y="3407266"/>
                  <a:pt x="8210793" y="3343357"/>
                  <a:pt x="8091972" y="3385542"/>
                </a:cubicBezTo>
                <a:cubicBezTo>
                  <a:pt x="7973151" y="3427727"/>
                  <a:pt x="7633101" y="3349349"/>
                  <a:pt x="7300240" y="3385542"/>
                </a:cubicBezTo>
                <a:cubicBezTo>
                  <a:pt x="6967379" y="3421735"/>
                  <a:pt x="6821940" y="3354952"/>
                  <a:pt x="6613295" y="3385542"/>
                </a:cubicBezTo>
                <a:cubicBezTo>
                  <a:pt x="6404650" y="3416132"/>
                  <a:pt x="6058619" y="3318133"/>
                  <a:pt x="5821563" y="3385542"/>
                </a:cubicBezTo>
                <a:cubicBezTo>
                  <a:pt x="5584507" y="3452951"/>
                  <a:pt x="5647433" y="3376423"/>
                  <a:pt x="5553771" y="3385542"/>
                </a:cubicBezTo>
                <a:cubicBezTo>
                  <a:pt x="5460109" y="3394661"/>
                  <a:pt x="5156763" y="3367616"/>
                  <a:pt x="4971615" y="3385542"/>
                </a:cubicBezTo>
                <a:cubicBezTo>
                  <a:pt x="4786467" y="3403468"/>
                  <a:pt x="4423119" y="3312238"/>
                  <a:pt x="4284670" y="3385542"/>
                </a:cubicBezTo>
                <a:cubicBezTo>
                  <a:pt x="4146221" y="3458846"/>
                  <a:pt x="4134797" y="3369448"/>
                  <a:pt x="4016878" y="3385542"/>
                </a:cubicBezTo>
                <a:cubicBezTo>
                  <a:pt x="3898959" y="3401636"/>
                  <a:pt x="3698699" y="3349567"/>
                  <a:pt x="3434722" y="3385542"/>
                </a:cubicBezTo>
                <a:cubicBezTo>
                  <a:pt x="3170745" y="3421517"/>
                  <a:pt x="3274088" y="3374552"/>
                  <a:pt x="3166930" y="3385542"/>
                </a:cubicBezTo>
                <a:cubicBezTo>
                  <a:pt x="3059772" y="3396532"/>
                  <a:pt x="2687873" y="3311777"/>
                  <a:pt x="2479986" y="3385542"/>
                </a:cubicBezTo>
                <a:cubicBezTo>
                  <a:pt x="2272099" y="3459307"/>
                  <a:pt x="2086086" y="3374424"/>
                  <a:pt x="1897829" y="3385542"/>
                </a:cubicBezTo>
                <a:cubicBezTo>
                  <a:pt x="1709572" y="3396660"/>
                  <a:pt x="1650377" y="3357823"/>
                  <a:pt x="1525249" y="3385542"/>
                </a:cubicBezTo>
                <a:cubicBezTo>
                  <a:pt x="1400121" y="3413261"/>
                  <a:pt x="1254353" y="3359773"/>
                  <a:pt x="1047881" y="3385542"/>
                </a:cubicBezTo>
                <a:cubicBezTo>
                  <a:pt x="841409" y="3411311"/>
                  <a:pt x="752456" y="3375869"/>
                  <a:pt x="570513" y="3385542"/>
                </a:cubicBezTo>
                <a:cubicBezTo>
                  <a:pt x="388570" y="3395215"/>
                  <a:pt x="175941" y="3374892"/>
                  <a:pt x="0" y="3385542"/>
                </a:cubicBezTo>
                <a:cubicBezTo>
                  <a:pt x="-65011" y="3268644"/>
                  <a:pt x="3204" y="2985116"/>
                  <a:pt x="0" y="2821285"/>
                </a:cubicBezTo>
                <a:cubicBezTo>
                  <a:pt x="-3204" y="2657454"/>
                  <a:pt x="10705" y="2555893"/>
                  <a:pt x="0" y="2290883"/>
                </a:cubicBezTo>
                <a:cubicBezTo>
                  <a:pt x="-10705" y="2025873"/>
                  <a:pt x="12600" y="1958875"/>
                  <a:pt x="0" y="1692771"/>
                </a:cubicBezTo>
                <a:cubicBezTo>
                  <a:pt x="-12600" y="1426667"/>
                  <a:pt x="23377" y="1303934"/>
                  <a:pt x="0" y="1196225"/>
                </a:cubicBezTo>
                <a:cubicBezTo>
                  <a:pt x="-23377" y="1088516"/>
                  <a:pt x="11461" y="817263"/>
                  <a:pt x="0" y="699679"/>
                </a:cubicBezTo>
                <a:cubicBezTo>
                  <a:pt x="-11461" y="582095"/>
                  <a:pt x="63327" y="279878"/>
                  <a:pt x="0" y="0"/>
                </a:cubicBezTo>
                <a:close/>
              </a:path>
            </a:pathLst>
          </a:custGeom>
          <a:solidFill>
            <a:schemeClr val="tx1"/>
          </a:solidFill>
          <a:ln w="76200">
            <a:solidFill>
              <a:srgbClr val="FF0000"/>
            </a:solidFill>
            <a:extLst>
              <a:ext uri="{C807C97D-BFC1-408E-A445-0C87EB9F89A2}">
                <ask:lineSketchStyleProps xmlns:ask="http://schemas.microsoft.com/office/drawing/2018/sketchyshapes" sd="798727139">
                  <a:prstGeom prst="rect">
                    <a:avLst/>
                  </a:prstGeom>
                  <ask:type>
                    <ask:lineSketchScribble/>
                  </ask:type>
                </ask:lineSketchStyleProps>
              </a:ext>
            </a:extLst>
          </a:ln>
        </p:spPr>
        <p:txBody>
          <a:bodyPr wrap="square">
            <a:spAutoFit/>
          </a:bodyPr>
          <a:lstStyle/>
          <a:p>
            <a:pPr marL="400050" marR="0" lvl="0" indent="-400050" algn="just" defTabSz="914400" rtl="0" eaLnBrk="1" fontAlgn="auto" latinLnBrk="0" hangingPunct="1">
              <a:lnSpc>
                <a:spcPct val="100000"/>
              </a:lnSpc>
              <a:spcBef>
                <a:spcPts val="0"/>
              </a:spcBef>
              <a:spcAft>
                <a:spcPts val="0"/>
              </a:spcAft>
              <a:buClrTx/>
              <a:buSzTx/>
              <a:buFontTx/>
              <a:buAutoNum type="romanUcPeriod"/>
              <a:tabLst/>
              <a:defRPr/>
            </a:pPr>
            <a:r>
              <a:rPr kumimoji="0" lang="es-MX" sz="1800" b="0" i="0" u="none" strike="noStrike" kern="1200" cap="none" spc="0" normalizeH="0" baseline="0" noProof="0" dirty="0">
                <a:ln>
                  <a:noFill/>
                </a:ln>
                <a:solidFill>
                  <a:prstClr val="black"/>
                </a:solidFill>
                <a:effectLst/>
                <a:uLnTx/>
                <a:uFillTx/>
                <a:latin typeface="Gill Sans MT" panose="020B0502020104020203"/>
                <a:ea typeface="+mn-ea"/>
                <a:cs typeface="+mn-cs"/>
              </a:rPr>
              <a:t>Los mecanismos de cooperación se desarrollarán en condiciones de equidad, transparencia, solidaridad, participación y control social, celeridad, oportunidad y gratuidad.</a:t>
            </a:r>
          </a:p>
          <a:p>
            <a:pPr marL="400050" marR="0" lvl="0" indent="-400050" algn="l" defTabSz="914400" rtl="0" eaLnBrk="1" fontAlgn="auto" latinLnBrk="0" hangingPunct="1">
              <a:lnSpc>
                <a:spcPct val="100000"/>
              </a:lnSpc>
              <a:spcBef>
                <a:spcPts val="0"/>
              </a:spcBef>
              <a:spcAft>
                <a:spcPts val="0"/>
              </a:spcAft>
              <a:buClrTx/>
              <a:buSzTx/>
              <a:buFontTx/>
              <a:buAutoNum type="romanUcPeriod"/>
              <a:tabLst/>
              <a:defRPr/>
            </a:pPr>
            <a:r>
              <a:rPr kumimoji="0" lang="es-MX" sz="1800" b="0" i="0" u="none" strike="noStrike" kern="1200" cap="none" spc="0" normalizeH="0" baseline="0" noProof="0" dirty="0">
                <a:ln>
                  <a:noFill/>
                </a:ln>
                <a:solidFill>
                  <a:prstClr val="black"/>
                </a:solidFill>
                <a:effectLst/>
                <a:uLnTx/>
                <a:uFillTx/>
                <a:latin typeface="Gill Sans MT" panose="020B0502020104020203"/>
                <a:ea typeface="+mn-ea"/>
                <a:cs typeface="+mn-cs"/>
              </a:rPr>
              <a:t>Son mecanismos de cooperación: </a:t>
            </a:r>
          </a:p>
          <a:p>
            <a:pPr marL="630238" marR="0" lvl="0" indent="84138" algn="just" defTabSz="914400" rtl="0" eaLnBrk="1" fontAlgn="auto" latinLnBrk="0" hangingPunct="1">
              <a:lnSpc>
                <a:spcPct val="100000"/>
              </a:lnSpc>
              <a:spcBef>
                <a:spcPts val="0"/>
              </a:spcBef>
              <a:spcAft>
                <a:spcPts val="0"/>
              </a:spcAft>
              <a:buClrTx/>
              <a:buSzTx/>
              <a:buFontTx/>
              <a:buAutoNum type="alphaLcParenR"/>
              <a:tabLst/>
              <a:defRPr/>
            </a:pPr>
            <a:r>
              <a:rPr kumimoji="0" lang="es-MX" sz="1800" b="0" i="0" u="none" strike="noStrike" kern="1200" cap="none" spc="0" normalizeH="0" baseline="0" noProof="0" dirty="0">
                <a:ln>
                  <a:noFill/>
                </a:ln>
                <a:solidFill>
                  <a:prstClr val="black"/>
                </a:solidFill>
                <a:effectLst/>
                <a:uLnTx/>
                <a:uFillTx/>
                <a:latin typeface="Gill Sans MT" panose="020B0502020104020203"/>
                <a:ea typeface="+mn-ea"/>
                <a:cs typeface="+mn-cs"/>
              </a:rPr>
              <a:t>Las autoridades jurisdiccionales y las autoridades del Ministerio Público. Policía Boliviana, Régimen Penitenciario u otras instituciones, deben prestar inmediata cooperación y proporcionarán los antecedentes del caso a las autoridades de la jurisdicción IOC  cuando éstas la soliciten; </a:t>
            </a:r>
          </a:p>
          <a:p>
            <a:pPr marL="630238" marR="0" lvl="0" indent="84138" algn="just" defTabSz="914400" rtl="0" eaLnBrk="1" fontAlgn="auto" latinLnBrk="0" hangingPunct="1">
              <a:lnSpc>
                <a:spcPct val="100000"/>
              </a:lnSpc>
              <a:spcBef>
                <a:spcPts val="0"/>
              </a:spcBef>
              <a:spcAft>
                <a:spcPts val="0"/>
              </a:spcAft>
              <a:buClrTx/>
              <a:buSzTx/>
              <a:buFontTx/>
              <a:buAutoNum type="alphaLcParenR"/>
              <a:tabLst/>
              <a:defRPr/>
            </a:pPr>
            <a:r>
              <a:rPr kumimoji="0" lang="es-MX" sz="1800" b="0" i="0" u="none" strike="noStrike" kern="1200" cap="none" spc="0" normalizeH="0" baseline="0" noProof="0" dirty="0">
                <a:ln>
                  <a:noFill/>
                </a:ln>
                <a:solidFill>
                  <a:prstClr val="black"/>
                </a:solidFill>
                <a:effectLst/>
                <a:uLnTx/>
                <a:uFillTx/>
                <a:latin typeface="Gill Sans MT" panose="020B0502020104020203"/>
                <a:ea typeface="+mn-ea"/>
                <a:cs typeface="+mn-cs"/>
              </a:rPr>
              <a:t>Las autoridades de la jurisdicción IOC prestarán cooperación a las autoridades de la jurisdicción ordinaria, de la agroambiental y de las otras jurisdicciones legalmente reconocidas; </a:t>
            </a:r>
          </a:p>
          <a:p>
            <a:pPr marL="630238" marR="0" lvl="0" indent="84138" algn="just" defTabSz="914400" rtl="0" eaLnBrk="1" fontAlgn="auto" latinLnBrk="0" hangingPunct="1">
              <a:lnSpc>
                <a:spcPct val="100000"/>
              </a:lnSpc>
              <a:spcBef>
                <a:spcPts val="0"/>
              </a:spcBef>
              <a:spcAft>
                <a:spcPts val="0"/>
              </a:spcAft>
              <a:buClrTx/>
              <a:buSzTx/>
              <a:buFontTx/>
              <a:buAutoNum type="alphaLcParenR"/>
              <a:tabLst/>
              <a:defRPr/>
            </a:pPr>
            <a:r>
              <a:rPr kumimoji="0" lang="es-MX" sz="1800" b="0" i="0" u="none" strike="noStrike" kern="1200" cap="none" spc="0" normalizeH="0" baseline="0" noProof="0" dirty="0">
                <a:ln>
                  <a:noFill/>
                </a:ln>
                <a:solidFill>
                  <a:prstClr val="black"/>
                </a:solidFill>
                <a:effectLst/>
                <a:uLnTx/>
                <a:uFillTx/>
                <a:latin typeface="Gill Sans MT" panose="020B0502020104020203"/>
                <a:ea typeface="+mn-ea"/>
                <a:cs typeface="+mn-cs"/>
              </a:rPr>
              <a:t>La remisión de la información y antecedentes de los asuntos o conflictos entre la IOC y las demás jurisdicciones; </a:t>
            </a:r>
          </a:p>
          <a:p>
            <a:pPr marL="630238" marR="0" lvl="0" indent="84138" algn="l" defTabSz="914400" rtl="0" eaLnBrk="1" fontAlgn="auto" latinLnBrk="0" hangingPunct="1">
              <a:lnSpc>
                <a:spcPct val="100000"/>
              </a:lnSpc>
              <a:spcBef>
                <a:spcPts val="0"/>
              </a:spcBef>
              <a:spcAft>
                <a:spcPts val="0"/>
              </a:spcAft>
              <a:buClrTx/>
              <a:buSzTx/>
              <a:buFontTx/>
              <a:buAutoNum type="alphaLcParenR"/>
              <a:tabLst/>
              <a:defRPr/>
            </a:pPr>
            <a:r>
              <a:rPr kumimoji="0" lang="es-MX" sz="1800" b="0" i="0" u="none" strike="noStrike" kern="1200" cap="none" spc="0" normalizeH="0" baseline="0" noProof="0" dirty="0">
                <a:ln>
                  <a:noFill/>
                </a:ln>
                <a:solidFill>
                  <a:prstClr val="black"/>
                </a:solidFill>
                <a:effectLst/>
                <a:uLnTx/>
                <a:uFillTx/>
                <a:latin typeface="Gill Sans MT" panose="020B0502020104020203"/>
                <a:ea typeface="+mn-ea"/>
                <a:cs typeface="+mn-cs"/>
              </a:rPr>
              <a:t>Otros mecanismos de cooperación,                              </a:t>
            </a:r>
          </a:p>
          <a:p>
            <a:pPr marL="630238" marR="0" lvl="0" algn="l" defTabSz="914400" rtl="0" eaLnBrk="1" fontAlgn="auto" latinLnBrk="0" hangingPunct="1">
              <a:lnSpc>
                <a:spcPct val="100000"/>
              </a:lnSpc>
              <a:spcBef>
                <a:spcPts val="0"/>
              </a:spcBef>
              <a:spcAft>
                <a:spcPts val="0"/>
              </a:spcAft>
              <a:buClrTx/>
              <a:buSzTx/>
              <a:tabLst/>
              <a:defRPr/>
            </a:pPr>
            <a:r>
              <a:rPr lang="es-MX" dirty="0">
                <a:solidFill>
                  <a:prstClr val="black"/>
                </a:solidFill>
                <a:latin typeface="Gill Sans MT" panose="020B0502020104020203"/>
              </a:rPr>
              <a:t>                                                                      </a:t>
            </a:r>
            <a:r>
              <a:rPr kumimoji="0" lang="es-MX" sz="1600" b="1" i="0" u="none" strike="noStrike" kern="1200" cap="none" spc="0" normalizeH="0" baseline="0" noProof="0" dirty="0">
                <a:ln>
                  <a:noFill/>
                </a:ln>
                <a:solidFill>
                  <a:prstClr val="black"/>
                </a:solidFill>
                <a:effectLst/>
                <a:uLnTx/>
                <a:uFillTx/>
                <a:latin typeface="Gill Sans MT" panose="020B0502020104020203"/>
                <a:ea typeface="+mn-ea"/>
                <a:cs typeface="+mn-cs"/>
              </a:rPr>
              <a:t>Artículo 16. (MECANISMOS DE COOPERACIÓN)</a:t>
            </a:r>
            <a:endParaRPr kumimoji="0" lang="es-BO" sz="1600" b="1"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1566483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12">
            <a:extLst>
              <a:ext uri="{FF2B5EF4-FFF2-40B4-BE49-F238E27FC236}">
                <a16:creationId xmlns:a16="http://schemas.microsoft.com/office/drawing/2014/main" id="{56D9DEB2-6076-44CC-A4AE-2C68312D2BF8}"/>
              </a:ext>
            </a:extLst>
          </p:cNvPr>
          <p:cNvSpPr txBox="1"/>
          <p:nvPr/>
        </p:nvSpPr>
        <p:spPr>
          <a:xfrm>
            <a:off x="3943" y="68786"/>
            <a:ext cx="2354317"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BO" sz="1800" b="1"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PRIMER MOMENTO </a:t>
            </a:r>
            <a:endParaRPr kumimoji="0" lang="es-BO"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5" name="CuadroTexto 14">
            <a:extLst>
              <a:ext uri="{FF2B5EF4-FFF2-40B4-BE49-F238E27FC236}">
                <a16:creationId xmlns:a16="http://schemas.microsoft.com/office/drawing/2014/main" id="{E8C2F98E-320E-49FD-ADE7-DB24EE4AC16C}"/>
              </a:ext>
            </a:extLst>
          </p:cNvPr>
          <p:cNvSpPr txBox="1"/>
          <p:nvPr/>
        </p:nvSpPr>
        <p:spPr>
          <a:xfrm>
            <a:off x="115459" y="743901"/>
            <a:ext cx="1996964" cy="2246769"/>
          </a:xfrm>
          <a:prstGeom prst="rect">
            <a:avLst/>
          </a:prstGeom>
          <a:solidFill>
            <a:schemeClr val="bg1"/>
          </a:solidFill>
          <a:ln>
            <a:solidFill>
              <a:srgbClr val="FF0000"/>
            </a:solidFill>
          </a:ln>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400" b="1"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Corresponde que la autoridad jurisdiccional se reúna con las autoridades de las comunidades u orígenes, con la finalidad de requerir información sobre los siguientes temas: </a:t>
            </a:r>
            <a:endParaRPr kumimoji="0" lang="es-BO" sz="1400" b="1"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 name="CuadroTexto 16">
            <a:extLst>
              <a:ext uri="{FF2B5EF4-FFF2-40B4-BE49-F238E27FC236}">
                <a16:creationId xmlns:a16="http://schemas.microsoft.com/office/drawing/2014/main" id="{E7926EF0-8DD9-469E-A8C3-0293F0058BA5}"/>
              </a:ext>
            </a:extLst>
          </p:cNvPr>
          <p:cNvSpPr txBox="1"/>
          <p:nvPr/>
        </p:nvSpPr>
        <p:spPr>
          <a:xfrm>
            <a:off x="2543505" y="135791"/>
            <a:ext cx="9581491" cy="3293209"/>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srgbClr val="5F4879"/>
                </a:solidFill>
                <a:effectLst/>
                <a:uLnTx/>
                <a:uFillTx/>
                <a:latin typeface="Arial" panose="020B0604020202020204" pitchFamily="34" charset="0"/>
                <a:ea typeface="+mn-ea"/>
                <a:cs typeface="Arial" panose="020B0604020202020204" pitchFamily="34" charset="0"/>
              </a:rPr>
              <a:t>Identificación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600" b="0" i="0" u="none" strike="noStrike" kern="1200" cap="none" spc="0" normalizeH="0" baseline="0" noProof="0" dirty="0">
                <a:ln>
                  <a:noFill/>
                </a:ln>
                <a:solidFill>
                  <a:srgbClr val="5F4879"/>
                </a:solidFill>
                <a:effectLst/>
                <a:uLnTx/>
                <a:uFillTx/>
                <a:latin typeface="Arial" panose="020B0604020202020204" pitchFamily="34" charset="0"/>
                <a:ea typeface="+mn-ea"/>
                <a:cs typeface="Arial" panose="020B0604020202020204" pitchFamily="34" charset="0"/>
              </a:rPr>
              <a:t>comunidades u orígenes cercanos al asiento judicial del que es titular la autoridad jurisdiccional </a:t>
            </a:r>
            <a:endParaRPr kumimoji="0" lang="es-MX"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600" b="0" i="0" u="none" strike="noStrike" kern="1200" cap="none" spc="0" normalizeH="0" baseline="0" noProof="0" dirty="0">
                <a:ln>
                  <a:noFill/>
                </a:ln>
                <a:solidFill>
                  <a:srgbClr val="5F4879"/>
                </a:solidFill>
                <a:effectLst/>
                <a:uLnTx/>
                <a:uFillTx/>
                <a:latin typeface="Arial" panose="020B0604020202020204" pitchFamily="34" charset="0"/>
                <a:ea typeface="+mn-ea"/>
                <a:cs typeface="Arial" panose="020B0604020202020204" pitchFamily="34" charset="0"/>
              </a:rPr>
              <a:t>- pertenencia de la comunidad u origen a una determinación nación o pueblo IOC, siendo fundamental el criterio de </a:t>
            </a:r>
            <a:r>
              <a:rPr kumimoji="0" lang="es-MX" sz="1600" b="1" i="0" u="none" strike="noStrike" kern="1200" cap="none" spc="0" normalizeH="0" baseline="0" noProof="0" dirty="0">
                <a:ln>
                  <a:noFill/>
                </a:ln>
                <a:solidFill>
                  <a:srgbClr val="5F4879"/>
                </a:solidFill>
                <a:effectLst/>
                <a:uLnTx/>
                <a:uFillTx/>
                <a:latin typeface="Arial" panose="020B0604020202020204" pitchFamily="34" charset="0"/>
                <a:ea typeface="+mn-ea"/>
                <a:cs typeface="Arial" panose="020B0604020202020204" pitchFamily="34" charset="0"/>
              </a:rPr>
              <a:t>autoidentificación</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600" b="0" i="0" u="none" strike="noStrike" kern="1200" cap="none" spc="0" normalizeH="0" baseline="0" noProof="0" dirty="0">
                <a:ln>
                  <a:noFill/>
                </a:ln>
                <a:solidFill>
                  <a:srgbClr val="5F4879"/>
                </a:solidFill>
                <a:effectLst/>
                <a:uLnTx/>
                <a:uFillTx/>
                <a:latin typeface="Arial" panose="020B0604020202020204" pitchFamily="34" charset="0"/>
                <a:ea typeface="+mn-ea"/>
                <a:cs typeface="Arial" panose="020B0604020202020204" pitchFamily="34" charset="0"/>
              </a:rPr>
              <a:t>de la estructura organizativa a la que responde la comunidad u origen </a:t>
            </a:r>
            <a:r>
              <a:rPr kumimoji="0" lang="es-MX" sz="1600" b="1" i="0" u="sng" strike="noStrike" kern="1200" cap="none" spc="0" normalizeH="0" baseline="0" noProof="0" dirty="0">
                <a:ln>
                  <a:noFill/>
                </a:ln>
                <a:solidFill>
                  <a:srgbClr val="55C6BA">
                    <a:lumMod val="50000"/>
                  </a:srgbClr>
                </a:solidFill>
                <a:effectLst/>
                <a:uLnTx/>
                <a:uFillTx/>
                <a:latin typeface="Arial" panose="020B0604020202020204" pitchFamily="34" charset="0"/>
                <a:ea typeface="+mn-ea"/>
                <a:cs typeface="Arial" panose="020B0604020202020204" pitchFamily="34" charset="0"/>
              </a:rPr>
              <a:t>(sindicato, estructura originaria) </a:t>
            </a:r>
            <a:r>
              <a:rPr kumimoji="0" lang="es-MX" sz="1600" b="0" i="0" u="none" strike="noStrike" kern="1200" cap="none" spc="0" normalizeH="0" baseline="0" noProof="0" dirty="0">
                <a:ln>
                  <a:noFill/>
                </a:ln>
                <a:solidFill>
                  <a:srgbClr val="5F4879"/>
                </a:solidFill>
                <a:effectLst/>
                <a:uLnTx/>
                <a:uFillTx/>
                <a:latin typeface="Arial" panose="020B0604020202020204" pitchFamily="34" charset="0"/>
                <a:ea typeface="+mn-ea"/>
                <a:cs typeface="Arial" panose="020B0604020202020204" pitchFamily="34" charset="0"/>
              </a:rPr>
              <a:t>y su pertenencia a instancias superiores;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600" b="0" i="0" u="none" strike="noStrike" kern="1200" cap="none" spc="0" normalizeH="0" baseline="0" noProof="0" dirty="0">
                <a:ln>
                  <a:noFill/>
                </a:ln>
                <a:solidFill>
                  <a:srgbClr val="5F4879"/>
                </a:solidFill>
                <a:effectLst/>
                <a:uLnTx/>
                <a:uFillTx/>
                <a:latin typeface="Arial" panose="020B0604020202020204" pitchFamily="34" charset="0"/>
                <a:ea typeface="+mn-ea"/>
                <a:cs typeface="Arial" panose="020B0604020202020204" pitchFamily="34" charset="0"/>
              </a:rPr>
              <a:t>de sistema de autoridades y los nombres de las personas;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600" b="0" i="0" u="none" strike="noStrike" kern="1200" cap="none" spc="0" normalizeH="0" baseline="0" noProof="0" dirty="0">
                <a:ln>
                  <a:noFill/>
                </a:ln>
                <a:solidFill>
                  <a:srgbClr val="5F4879"/>
                </a:solidFill>
                <a:effectLst/>
                <a:uLnTx/>
                <a:uFillTx/>
                <a:latin typeface="Arial" panose="020B0604020202020204" pitchFamily="34" charset="0"/>
                <a:ea typeface="+mn-ea"/>
                <a:cs typeface="Arial" panose="020B0604020202020204" pitchFamily="34" charset="0"/>
              </a:rPr>
              <a:t>del sistema normativo y de las sanciones correspondientes: Grado de conservación o debilitamiento del sistema de autoridades, normas y sanciones, tomando en cuenta los procesos de reconstitución y restitución138 de sus autoridades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600" b="0" i="0" u="none" strike="noStrike" kern="1200" cap="none" spc="0" normalizeH="0" baseline="0" noProof="0" dirty="0">
                <a:ln>
                  <a:noFill/>
                </a:ln>
                <a:solidFill>
                  <a:srgbClr val="5F4879"/>
                </a:solidFill>
                <a:effectLst/>
                <a:uLnTx/>
                <a:uFillTx/>
                <a:latin typeface="Arial" panose="020B0604020202020204" pitchFamily="34" charset="0"/>
                <a:ea typeface="+mn-ea"/>
                <a:cs typeface="Arial" panose="020B0604020202020204" pitchFamily="34" charset="0"/>
              </a:rPr>
              <a:t>Identificación de la jurisdicción territorial de la jurisdicción IOC, claridad sobre sus límites territoriales y la existencia de medios internos de impugnación de las decisiones pronunciadas por las autoridades IOC</a:t>
            </a:r>
          </a:p>
        </p:txBody>
      </p:sp>
      <p:sp>
        <p:nvSpPr>
          <p:cNvPr id="18" name="Flecha: curvada hacia la derecha 17">
            <a:extLst>
              <a:ext uri="{FF2B5EF4-FFF2-40B4-BE49-F238E27FC236}">
                <a16:creationId xmlns:a16="http://schemas.microsoft.com/office/drawing/2014/main" id="{DC9BCF6E-293D-45A9-9B81-BF724136D312}"/>
              </a:ext>
            </a:extLst>
          </p:cNvPr>
          <p:cNvSpPr/>
          <p:nvPr/>
        </p:nvSpPr>
        <p:spPr>
          <a:xfrm rot="16480157">
            <a:off x="1771049" y="2635817"/>
            <a:ext cx="1053236" cy="2197934"/>
          </a:xfrm>
          <a:prstGeom prst="curv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BO"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9" name="CuadroTexto 18">
            <a:extLst>
              <a:ext uri="{FF2B5EF4-FFF2-40B4-BE49-F238E27FC236}">
                <a16:creationId xmlns:a16="http://schemas.microsoft.com/office/drawing/2014/main" id="{BA9EF548-82AA-4C3B-8F2C-34D0C2ADC866}"/>
              </a:ext>
            </a:extLst>
          </p:cNvPr>
          <p:cNvSpPr txBox="1"/>
          <p:nvPr/>
        </p:nvSpPr>
        <p:spPr>
          <a:xfrm>
            <a:off x="3621101" y="3287792"/>
            <a:ext cx="7141492" cy="3293209"/>
          </a:xfrm>
          <a:prstGeom prst="rect">
            <a:avLst/>
          </a:prstGeom>
          <a:solidFill>
            <a:srgbClr val="92D050"/>
          </a:solidFill>
          <a:ln>
            <a:solidFill>
              <a:srgbClr val="FF0000"/>
            </a:solidFill>
          </a:ln>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2800" b="0" i="0" u="none" strike="noStrike" kern="1200" cap="none" spc="0" normalizeH="0" baseline="0" noProof="0" dirty="0">
                <a:ln>
                  <a:noFill/>
                </a:ln>
                <a:solidFill>
                  <a:srgbClr val="5F4879"/>
                </a:solidFill>
                <a:effectLst/>
                <a:uLnTx/>
                <a:uFillTx/>
                <a:latin typeface="Cambria" panose="02040503050406030204" pitchFamily="18" charset="0"/>
                <a:ea typeface="+mn-ea"/>
                <a:cs typeface="+mn-cs"/>
              </a:rPr>
              <a:t>La </a:t>
            </a:r>
            <a:r>
              <a:rPr kumimoji="0" lang="es-MX" sz="1800" b="0" i="0" u="none" strike="noStrike" kern="1200" cap="none" spc="0" normalizeH="0" baseline="0" noProof="0" dirty="0">
                <a:ln>
                  <a:noFill/>
                </a:ln>
                <a:solidFill>
                  <a:srgbClr val="5F4879"/>
                </a:solidFill>
                <a:effectLst/>
                <a:uLnTx/>
                <a:uFillTx/>
                <a:latin typeface="Cambria" panose="02040503050406030204" pitchFamily="18" charset="0"/>
                <a:ea typeface="+mn-ea"/>
                <a:cs typeface="+mn-cs"/>
              </a:rPr>
              <a:t>finalidad que la autoridad jurisdiccional tenga claridad sobre el tipo de autoridades y sus estructuras; aclarándose que esta identificación de ninguna manera está destinada a eliminar la titularidad de los derechos colectivos a las comunidades con estructura sindical; pues, conforme se ha explicado en la segunda parte del presente documento, ellas también son titulares del derecho a ejercer sus sistemas jurídicos (Puntos I.2.3. y I.8.3.), siempre y cuanto se cumplan con todos o algunos de los requisitos previstos en el art. 30 de la CPE, siendo fundamental, en todo caso,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srgbClr val="5F4879"/>
                </a:solidFill>
                <a:effectLst/>
                <a:uLnTx/>
                <a:uFillTx/>
                <a:latin typeface="Cambria" panose="02040503050406030204" pitchFamily="18" charset="0"/>
                <a:ea typeface="+mn-ea"/>
                <a:cs typeface="+mn-cs"/>
              </a:rPr>
              <a:t>la </a:t>
            </a:r>
            <a:r>
              <a:rPr kumimoji="0" lang="es-MX" sz="1800" b="0" i="0" u="none" strike="noStrike" kern="1200" cap="none" spc="0" normalizeH="0" baseline="0" noProof="0" dirty="0" err="1">
                <a:ln>
                  <a:noFill/>
                </a:ln>
                <a:solidFill>
                  <a:srgbClr val="5F4879"/>
                </a:solidFill>
                <a:effectLst/>
                <a:uLnTx/>
                <a:uFillTx/>
                <a:latin typeface="Cambria" panose="02040503050406030204" pitchFamily="18" charset="0"/>
                <a:ea typeface="+mn-ea"/>
                <a:cs typeface="+mn-cs"/>
              </a:rPr>
              <a:t>auotidentificación</a:t>
            </a:r>
            <a:r>
              <a:rPr kumimoji="0" lang="es-MX" sz="1800" b="0" i="0" u="none" strike="noStrike" kern="1200" cap="none" spc="0" normalizeH="0" baseline="0" noProof="0" dirty="0">
                <a:ln>
                  <a:noFill/>
                </a:ln>
                <a:solidFill>
                  <a:srgbClr val="5F4879"/>
                </a:solidFill>
                <a:effectLst/>
                <a:uLnTx/>
                <a:uFillTx/>
                <a:latin typeface="Cambria" panose="02040503050406030204" pitchFamily="18" charset="0"/>
                <a:ea typeface="+mn-ea"/>
                <a:cs typeface="+mn-cs"/>
              </a:rPr>
              <a:t> de la comunidad con relación a una nación o pueblo indígena originario campesino. </a:t>
            </a:r>
            <a:endParaRPr kumimoji="0" lang="es-BO"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642520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7"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8BBF45B4-8A4F-42D8-B8B0-BAFED8E51452}"/>
              </a:ext>
            </a:extLst>
          </p:cNvPr>
          <p:cNvSpPr txBox="1"/>
          <p:nvPr/>
        </p:nvSpPr>
        <p:spPr>
          <a:xfrm>
            <a:off x="3436883" y="2631766"/>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BO"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s-BO" sz="1800" b="0" i="0" u="none" strike="noStrike" kern="1200" cap="none" spc="0" normalizeH="0" baseline="0" noProof="0" dirty="0">
              <a:ln>
                <a:noFill/>
              </a:ln>
              <a:solidFill>
                <a:prstClr val="black"/>
              </a:solidFill>
              <a:effectLst/>
              <a:uLnTx/>
              <a:uFillTx/>
              <a:latin typeface="Rockwell" panose="02060603020205020403"/>
              <a:ea typeface="+mn-ea"/>
              <a:cs typeface="+mn-cs"/>
            </a:endParaRPr>
          </a:p>
        </p:txBody>
      </p:sp>
      <p:sp>
        <p:nvSpPr>
          <p:cNvPr id="13" name="CuadroTexto 12">
            <a:extLst>
              <a:ext uri="{FF2B5EF4-FFF2-40B4-BE49-F238E27FC236}">
                <a16:creationId xmlns:a16="http://schemas.microsoft.com/office/drawing/2014/main" id="{37A36114-F8D2-4F56-AB65-842060746EA6}"/>
              </a:ext>
            </a:extLst>
          </p:cNvPr>
          <p:cNvSpPr txBox="1"/>
          <p:nvPr/>
        </p:nvSpPr>
        <p:spPr>
          <a:xfrm>
            <a:off x="956442" y="56865"/>
            <a:ext cx="2596055" cy="672525"/>
          </a:xfrm>
          <a:prstGeom prst="rightArrow">
            <a:avLst/>
          </a:prstGeom>
          <a:noFill/>
          <a:ln>
            <a:solidFill>
              <a:srgbClr val="FF0000"/>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BO" sz="1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SEGUNDO MOMENTO</a:t>
            </a:r>
            <a:endParaRPr kumimoji="0" lang="es-BO"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5" name="CuadroTexto 14">
            <a:extLst>
              <a:ext uri="{FF2B5EF4-FFF2-40B4-BE49-F238E27FC236}">
                <a16:creationId xmlns:a16="http://schemas.microsoft.com/office/drawing/2014/main" id="{B9D8A1A3-270F-4E07-9414-5027269D7B64}"/>
              </a:ext>
            </a:extLst>
          </p:cNvPr>
          <p:cNvSpPr txBox="1"/>
          <p:nvPr/>
        </p:nvSpPr>
        <p:spPr>
          <a:xfrm>
            <a:off x="3715407" y="254641"/>
            <a:ext cx="7267904" cy="369332"/>
          </a:xfrm>
          <a:prstGeom prst="rect">
            <a:avLst/>
          </a:prstGeom>
          <a:noFill/>
          <a:ln>
            <a:solidFill>
              <a:srgbClr val="FF0000"/>
            </a:solidFill>
          </a:ln>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BO"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acordarse </a:t>
            </a:r>
            <a:r>
              <a:rPr kumimoji="0" lang="es-BO"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reuniones de coordinación y cooperación </a:t>
            </a:r>
            <a:r>
              <a:rPr kumimoji="0" lang="es-BO"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con las autoridades IOC</a:t>
            </a:r>
            <a:endParaRPr kumimoji="0" lang="es-BO" sz="1800" b="0" i="0" u="none" strike="noStrike" kern="1200" cap="none" spc="0" normalizeH="0" baseline="0" noProof="0" dirty="0">
              <a:ln>
                <a:noFill/>
              </a:ln>
              <a:solidFill>
                <a:prstClr val="black"/>
              </a:solidFill>
              <a:effectLst/>
              <a:uLnTx/>
              <a:uFillTx/>
              <a:latin typeface="Rockwell" panose="02060603020205020403"/>
              <a:ea typeface="+mn-ea"/>
              <a:cs typeface="+mn-cs"/>
            </a:endParaRPr>
          </a:p>
        </p:txBody>
      </p:sp>
      <p:sp>
        <p:nvSpPr>
          <p:cNvPr id="17" name="CuadroTexto 16">
            <a:extLst>
              <a:ext uri="{FF2B5EF4-FFF2-40B4-BE49-F238E27FC236}">
                <a16:creationId xmlns:a16="http://schemas.microsoft.com/office/drawing/2014/main" id="{8AD0AA54-F493-429E-9139-887E26155BCF}"/>
              </a:ext>
            </a:extLst>
          </p:cNvPr>
          <p:cNvSpPr txBox="1"/>
          <p:nvPr/>
        </p:nvSpPr>
        <p:spPr>
          <a:xfrm>
            <a:off x="115614" y="696039"/>
            <a:ext cx="11393214" cy="4108817"/>
          </a:xfrm>
          <a:prstGeom prst="rect">
            <a:avLst/>
          </a:prstGeom>
          <a:noFill/>
          <a:ln>
            <a:solidFill>
              <a:srgbClr val="FF0000"/>
            </a:solidFill>
          </a:ln>
        </p:spPr>
        <p:txBody>
          <a:bodyPr wrap="square">
            <a:spAutoFit/>
          </a:bodyPr>
          <a:lstStyle/>
          <a:p>
            <a:pPr marL="0" marR="0" lvl="0" indent="0" algn="just" defTabSz="914400" rtl="0" eaLnBrk="1" fontAlgn="auto" latinLnBrk="0" hangingPunct="1">
              <a:lnSpc>
                <a:spcPct val="100000"/>
              </a:lnSpc>
              <a:spcBef>
                <a:spcPts val="0"/>
              </a:spcBef>
              <a:spcAft>
                <a:spcPts val="65"/>
              </a:spcAft>
              <a:buClrTx/>
              <a:buSzTx/>
              <a:buFontTx/>
              <a:buNone/>
              <a:tabLst/>
              <a:defRPr/>
            </a:pPr>
            <a:r>
              <a:rPr kumimoji="0" lang="es-BO" sz="16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1. Estándares nacionales o internacionales : derechos PIOC y pluralismo jurídico. </a:t>
            </a:r>
          </a:p>
          <a:p>
            <a:pPr marL="0" marR="0" lvl="0" indent="0" algn="just" defTabSz="914400" rtl="0" eaLnBrk="1" fontAlgn="auto" latinLnBrk="0" hangingPunct="1">
              <a:lnSpc>
                <a:spcPct val="100000"/>
              </a:lnSpc>
              <a:spcBef>
                <a:spcPts val="0"/>
              </a:spcBef>
              <a:spcAft>
                <a:spcPts val="65"/>
              </a:spcAft>
              <a:buClrTx/>
              <a:buSzTx/>
              <a:buFontTx/>
              <a:buNone/>
              <a:tabLst/>
              <a:defRPr/>
            </a:pPr>
            <a:r>
              <a:rPr kumimoji="0" lang="es-BO" sz="16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2. Sistemas de justicia de las comunidades u orígenes cercanos al asiento judicial de la autoridad judicial</a:t>
            </a:r>
          </a:p>
          <a:p>
            <a:pPr marL="0" marR="0" lvl="0" indent="0" algn="just" defTabSz="914400" rtl="0" eaLnBrk="1" fontAlgn="auto" latinLnBrk="0" hangingPunct="1">
              <a:lnSpc>
                <a:spcPct val="100000"/>
              </a:lnSpc>
              <a:spcBef>
                <a:spcPts val="0"/>
              </a:spcBef>
              <a:spcAft>
                <a:spcPts val="65"/>
              </a:spcAft>
              <a:buClrTx/>
              <a:buSzTx/>
              <a:buFontTx/>
              <a:buNone/>
              <a:tabLst/>
              <a:defRPr/>
            </a:pPr>
            <a:r>
              <a:rPr kumimoji="0" lang="es-BO" sz="16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3. Derivación y devolución de casos entre jurisdicciones </a:t>
            </a:r>
          </a:p>
          <a:p>
            <a:pPr marL="0" marR="0" lvl="0" indent="0" algn="just" defTabSz="914400" rtl="0" eaLnBrk="1" fontAlgn="auto" latinLnBrk="0" hangingPunct="1">
              <a:lnSpc>
                <a:spcPct val="100000"/>
              </a:lnSpc>
              <a:spcBef>
                <a:spcPts val="0"/>
              </a:spcBef>
              <a:spcAft>
                <a:spcPts val="65"/>
              </a:spcAft>
              <a:buClrTx/>
              <a:buSzTx/>
              <a:buFontTx/>
              <a:buNone/>
              <a:tabLst/>
              <a:defRPr/>
            </a:pPr>
            <a:r>
              <a:rPr kumimoji="0" lang="es-BO" sz="16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4. Protección de los derechos de mujeres, niñas, niños y adolescentes, personas con discapacidad y adultos mayores y tratamiento específico de los procesos y forma de resolución en estos casos, determinando si serán tratados únicamente por la jurisdicción indígena o la jurisdicción ordinaria, señalando, además, los niveles de coordinación interjurisdiccional</a:t>
            </a:r>
          </a:p>
          <a:p>
            <a:pPr marL="0" marR="0" lvl="0" indent="0" algn="just" defTabSz="914400" rtl="0" eaLnBrk="1" fontAlgn="auto" latinLnBrk="0" hangingPunct="1">
              <a:lnSpc>
                <a:spcPct val="100000"/>
              </a:lnSpc>
              <a:spcBef>
                <a:spcPts val="0"/>
              </a:spcBef>
              <a:spcAft>
                <a:spcPts val="65"/>
              </a:spcAft>
              <a:buClrTx/>
              <a:buSzTx/>
              <a:buFontTx/>
              <a:buNone/>
              <a:tabLst/>
              <a:defRPr/>
            </a:pPr>
            <a:r>
              <a:rPr kumimoji="0" lang="es-BO" sz="16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5. Participación de las autoridades IOC en los procesos que se desarrollen ante la autoridad judicial cuando alguna de las partes sea indígena y se hubiere determinado que es competente la autoridad judicial, sea por remisión o por que no se presentan los ámbitos de vigencia de la jurisdicción IOC. </a:t>
            </a:r>
          </a:p>
          <a:p>
            <a:pPr marL="0" marR="0" lvl="0" indent="0" algn="just" defTabSz="914400" rtl="0" eaLnBrk="1" fontAlgn="auto" latinLnBrk="0" hangingPunct="1">
              <a:lnSpc>
                <a:spcPct val="100000"/>
              </a:lnSpc>
              <a:spcBef>
                <a:spcPts val="0"/>
              </a:spcBef>
              <a:spcAft>
                <a:spcPts val="65"/>
              </a:spcAft>
              <a:buClrTx/>
              <a:buSzTx/>
              <a:buFontTx/>
              <a:buNone/>
              <a:tabLst/>
              <a:defRPr/>
            </a:pPr>
            <a:r>
              <a:rPr kumimoji="0" lang="es-BO" sz="16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6. Participación de las autoridades judiciales en los procesos de la jurisdicción IOC para colaborar en la resolución de controversias complejas, siempre que así lo soliciten las autoridades IOC.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BO" sz="16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7. Cooperación: Atención recíproca de solicitudes de informes, cooperación </a:t>
            </a:r>
            <a:r>
              <a:rPr kumimoji="0" lang="es-BO" sz="1600" b="0" i="0" u="none" strike="noStrike" kern="1200" cap="none" spc="0" normalizeH="0" baseline="0" noProof="0" dirty="0" err="1">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enla</a:t>
            </a:r>
            <a:r>
              <a:rPr kumimoji="0" lang="es-BO" sz="16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ubicación, notificación citación, aprehensión de personas de cualquiera de las jurisdicciones, en el cumplimiento y aplicación de sanciones, en las pericias  </a:t>
            </a:r>
            <a:r>
              <a:rPr kumimoji="0" lang="es-MX"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estatales para la investigación y solución de casos concretos, práctica e intercambio de pruebas, colaboración de las autoridades indígenas a juezas, jueces y tribunales para la interpretación intercultural de los hechos, el derecho y los derechos, entre otros aspectos. </a:t>
            </a:r>
          </a:p>
        </p:txBody>
      </p:sp>
      <p:sp>
        <p:nvSpPr>
          <p:cNvPr id="19" name="CuadroTexto 18">
            <a:extLst>
              <a:ext uri="{FF2B5EF4-FFF2-40B4-BE49-F238E27FC236}">
                <a16:creationId xmlns:a16="http://schemas.microsoft.com/office/drawing/2014/main" id="{7B5E1E1B-AFF4-4A77-80DE-FDD3EB9F3DD5}"/>
              </a:ext>
            </a:extLst>
          </p:cNvPr>
          <p:cNvSpPr txBox="1"/>
          <p:nvPr/>
        </p:nvSpPr>
        <p:spPr>
          <a:xfrm>
            <a:off x="1660635" y="5173600"/>
            <a:ext cx="8113986" cy="1458669"/>
          </a:xfrm>
          <a:prstGeom prst="rect">
            <a:avLst/>
          </a:prstGeom>
          <a:solidFill>
            <a:srgbClr val="92D050"/>
          </a:solidFill>
        </p:spPr>
        <p:txBody>
          <a:bodyPr wrap="square">
            <a:spAutoFit/>
          </a:bodyPr>
          <a:lstStyle/>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es-BO" sz="1400" b="0" i="1" u="sng"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Reuniones de </a:t>
            </a:r>
            <a:r>
              <a:rPr kumimoji="0" lang="es-BO" sz="1400" b="1" i="1" u="sng" strike="noStrike" kern="1200"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Arial" panose="020B0604020202020204" pitchFamily="34" charset="0"/>
              </a:rPr>
              <a:t>manera continua</a:t>
            </a:r>
            <a:r>
              <a:rPr kumimoji="0" lang="es-BO" sz="1400" b="0" i="1" u="sng"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es-BO" sz="1400" b="0" i="1" u="sng"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sesiones referidas a los estándares nacionales o internacionales, derechos de los pueblos, y sistemas de justicia de las comunidades u orígenes cercanos al asiento judicial de la autoridad judicial, </a:t>
            </a:r>
            <a:r>
              <a:rPr kumimoji="0" lang="es-BO" sz="1400" b="1" i="1" u="sng" strike="noStrike" kern="1200"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Arial" panose="020B0604020202020204" pitchFamily="34" charset="0"/>
              </a:rPr>
              <a:t>por los menos dos veces al año</a:t>
            </a:r>
            <a:r>
              <a:rPr kumimoji="0" lang="es-BO" sz="1400" b="0" i="1" u="sng"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p>
          <a:p>
            <a:pPr marL="342900" marR="0" lvl="0" indent="-342900" algn="just" defTabSz="914400" rtl="0" eaLnBrk="1" fontAlgn="auto" latinLnBrk="0" hangingPunct="1">
              <a:lnSpc>
                <a:spcPct val="107000"/>
              </a:lnSpc>
              <a:spcBef>
                <a:spcPts val="0"/>
              </a:spcBef>
              <a:spcAft>
                <a:spcPts val="800"/>
              </a:spcAft>
              <a:buClrTx/>
              <a:buSzTx/>
              <a:buFont typeface="Symbol" panose="05050102010706020507" pitchFamily="18" charset="2"/>
              <a:buChar char=""/>
              <a:tabLst/>
              <a:defRPr/>
            </a:pPr>
            <a:r>
              <a:rPr kumimoji="0" lang="es-BO" sz="1400" b="0" i="1" u="sng"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reuniones de coordinación </a:t>
            </a:r>
            <a:r>
              <a:rPr kumimoji="0" lang="es-BO" sz="1400" b="1" i="1" u="sng" strike="noStrike" kern="1200"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Arial" panose="020B0604020202020204" pitchFamily="34" charset="0"/>
              </a:rPr>
              <a:t>cada dos meses</a:t>
            </a:r>
            <a:r>
              <a:rPr kumimoji="0" lang="es-BO" sz="1400" b="0" i="1" u="sng"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debiéndose documentar los acuerdos y consensos a los que arribaron, serán remitidos al TDJ</a:t>
            </a:r>
          </a:p>
        </p:txBody>
      </p:sp>
    </p:spTree>
    <p:extLst>
      <p:ext uri="{BB962C8B-B14F-4D97-AF65-F5344CB8AC3E}">
        <p14:creationId xmlns:p14="http://schemas.microsoft.com/office/powerpoint/2010/main" val="1850236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60F9F9C6-7C65-4E8C-A80A-9B94285D629F}"/>
              </a:ext>
            </a:extLst>
          </p:cNvPr>
          <p:cNvGraphicFramePr/>
          <p:nvPr/>
        </p:nvGraphicFramePr>
        <p:xfrm>
          <a:off x="2000469" y="1702676"/>
          <a:ext cx="9560910" cy="4824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uadroTexto 4">
            <a:extLst>
              <a:ext uri="{FF2B5EF4-FFF2-40B4-BE49-F238E27FC236}">
                <a16:creationId xmlns:a16="http://schemas.microsoft.com/office/drawing/2014/main" id="{5D00694D-3AA9-457B-8384-627AFB8788F5}"/>
              </a:ext>
            </a:extLst>
          </p:cNvPr>
          <p:cNvSpPr txBox="1"/>
          <p:nvPr/>
        </p:nvSpPr>
        <p:spPr>
          <a:xfrm>
            <a:off x="0" y="-38547"/>
            <a:ext cx="8502870" cy="369332"/>
          </a:xfrm>
          <a:prstGeom prst="rect">
            <a:avLst/>
          </a:prstGeom>
          <a:solidFill>
            <a:schemeClr val="bg1"/>
          </a:solidFill>
          <a:ln w="57150">
            <a:solidFill>
              <a:srgbClr val="00B050"/>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II.3. Lineamientos a considerar en casos que involucren a miembros de NPIOC </a:t>
            </a:r>
            <a:endParaRPr kumimoji="0" lang="es-BO"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8" name="CuadroTexto 7">
            <a:extLst>
              <a:ext uri="{FF2B5EF4-FFF2-40B4-BE49-F238E27FC236}">
                <a16:creationId xmlns:a16="http://schemas.microsoft.com/office/drawing/2014/main" id="{1FF77B7F-4500-426F-B45F-1D35D9955341}"/>
              </a:ext>
            </a:extLst>
          </p:cNvPr>
          <p:cNvSpPr txBox="1"/>
          <p:nvPr/>
        </p:nvSpPr>
        <p:spPr>
          <a:xfrm>
            <a:off x="462454" y="2917244"/>
            <a:ext cx="1439919"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la autoridad jurisdiccional debe  preguntarse </a:t>
            </a:r>
            <a:endParaRPr kumimoji="0" lang="es-BO"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Flecha: curvada hacia la derecha 8">
            <a:extLst>
              <a:ext uri="{FF2B5EF4-FFF2-40B4-BE49-F238E27FC236}">
                <a16:creationId xmlns:a16="http://schemas.microsoft.com/office/drawing/2014/main" id="{CC6E006E-EE66-4D55-9DD5-0EF865F40030}"/>
              </a:ext>
            </a:extLst>
          </p:cNvPr>
          <p:cNvSpPr/>
          <p:nvPr/>
        </p:nvSpPr>
        <p:spPr>
          <a:xfrm rot="18428891">
            <a:off x="1134849" y="4204399"/>
            <a:ext cx="641131" cy="1029726"/>
          </a:xfrm>
          <a:prstGeom prst="curv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BO"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7" name="CuadroTexto 6">
            <a:extLst>
              <a:ext uri="{FF2B5EF4-FFF2-40B4-BE49-F238E27FC236}">
                <a16:creationId xmlns:a16="http://schemas.microsoft.com/office/drawing/2014/main" id="{25F974BA-5389-4B8E-AC2D-7B1099D6E4DE}"/>
              </a:ext>
            </a:extLst>
          </p:cNvPr>
          <p:cNvSpPr txBox="1"/>
          <p:nvPr/>
        </p:nvSpPr>
        <p:spPr>
          <a:xfrm>
            <a:off x="147141" y="441315"/>
            <a:ext cx="7830211" cy="1077218"/>
          </a:xfrm>
          <a:prstGeom prst="rect">
            <a:avLst/>
          </a:prstGeom>
          <a:noFill/>
          <a:ln w="38100">
            <a:solidFill>
              <a:srgbClr val="FF0000"/>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Comprende las pautas generales que deben considerarse en los procesos judiciales en los que participen las NPIOC o sus miembros y, en ese sentido están orientadas,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s-MX" sz="1600" b="0"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a definir su competencia para no invadir la jurisdicción IOC 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s-MX" sz="1600" b="0" i="0" u="none" strike="noStrike" kern="1200" cap="none" spc="0" normalizeH="0" baseline="0" noProof="0" dirty="0">
                <a:ln>
                  <a:noFill/>
                </a:ln>
                <a:solidFill>
                  <a:srgbClr val="000000"/>
                </a:solidFill>
                <a:effectLst/>
                <a:uLnTx/>
                <a:uFillTx/>
                <a:latin typeface="Cambria" panose="02040503050406030204" pitchFamily="18" charset="0"/>
                <a:ea typeface="+mn-ea"/>
                <a:cs typeface="+mn-cs"/>
              </a:rPr>
              <a:t>a garantizar el acceso a la justicia plural de las NPIOC</a:t>
            </a:r>
            <a:endParaRPr kumimoji="0" lang="es-BO" sz="16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379999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487CBEDB-782F-4BB9-96B1-9B4A0307F490}"/>
              </a:ext>
            </a:extLst>
          </p:cNvPr>
          <p:cNvGraphicFramePr/>
          <p:nvPr/>
        </p:nvGraphicFramePr>
        <p:xfrm>
          <a:off x="1581806" y="62213"/>
          <a:ext cx="9264869" cy="17342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uadroTexto 4">
            <a:extLst>
              <a:ext uri="{FF2B5EF4-FFF2-40B4-BE49-F238E27FC236}">
                <a16:creationId xmlns:a16="http://schemas.microsoft.com/office/drawing/2014/main" id="{3B8A3606-E184-4B3C-B1DD-E5860AD64922}"/>
              </a:ext>
            </a:extLst>
          </p:cNvPr>
          <p:cNvSpPr txBox="1"/>
          <p:nvPr/>
        </p:nvSpPr>
        <p:spPr>
          <a:xfrm>
            <a:off x="183933" y="1965830"/>
            <a:ext cx="3436882" cy="307777"/>
          </a:xfrm>
          <a:prstGeom prst="rect">
            <a:avLst/>
          </a:prstGeom>
          <a:solidFill>
            <a:schemeClr val="accent6">
              <a:lumMod val="60000"/>
              <a:lumOff val="40000"/>
            </a:schemeClr>
          </a:solid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a. fue resuelto por la jurisdicción IOC</a:t>
            </a:r>
            <a:endParaRPr kumimoji="0" lang="es-BO" sz="14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EF30130A-7DB3-4554-890A-206307D0335A}"/>
              </a:ext>
            </a:extLst>
          </p:cNvPr>
          <p:cNvSpPr txBox="1"/>
          <p:nvPr/>
        </p:nvSpPr>
        <p:spPr>
          <a:xfrm>
            <a:off x="231231" y="5503306"/>
            <a:ext cx="3436882" cy="997645"/>
          </a:xfrm>
          <a:prstGeom prst="rect">
            <a:avLst/>
          </a:prstGeom>
          <a:solidFill>
            <a:schemeClr val="accent6">
              <a:lumMod val="60000"/>
              <a:lumOff val="40000"/>
            </a:schemeClr>
          </a:solidFill>
        </p:spPr>
        <p:txBody>
          <a:bodyPr wrap="square" rtlCol="0">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e. Si el proceso se inició a consecuencia de una resolución o decisión de la jurisdicción IOC, criminalizándola</a:t>
            </a:r>
            <a:endParaRPr kumimoji="0" lang="es-BO" sz="14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CDE5EAC1-4338-43CD-8130-E847681F62AD}"/>
              </a:ext>
            </a:extLst>
          </p:cNvPr>
          <p:cNvSpPr txBox="1"/>
          <p:nvPr/>
        </p:nvSpPr>
        <p:spPr>
          <a:xfrm>
            <a:off x="183933" y="2382271"/>
            <a:ext cx="3436882" cy="523220"/>
          </a:xfrm>
          <a:prstGeom prst="rect">
            <a:avLst/>
          </a:prstGeom>
          <a:solidFill>
            <a:schemeClr val="accent6">
              <a:lumMod val="60000"/>
              <a:lumOff val="40000"/>
            </a:schemeClr>
          </a:solid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rPr>
              <a:t>b. aún no fue resuelto, pero se encuentra en proceso ante la jurisdicción </a:t>
            </a: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IOC</a:t>
            </a:r>
            <a:endParaRPr kumimoji="0" lang="es-BO" sz="14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FE0C015B-79CB-4BA5-9769-28744D8E8005}"/>
              </a:ext>
            </a:extLst>
          </p:cNvPr>
          <p:cNvSpPr txBox="1"/>
          <p:nvPr/>
        </p:nvSpPr>
        <p:spPr>
          <a:xfrm>
            <a:off x="183933" y="3013741"/>
            <a:ext cx="3436882" cy="1233286"/>
          </a:xfrm>
          <a:prstGeom prst="rect">
            <a:avLst/>
          </a:prstGeom>
          <a:solidFill>
            <a:schemeClr val="accent6">
              <a:lumMod val="60000"/>
              <a:lumOff val="40000"/>
            </a:schemeClr>
          </a:solidFill>
        </p:spPr>
        <p:txBody>
          <a:bodyPr wrap="square" rtlCol="0">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s-MX"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rPr>
              <a:t>c. Remisión de antecedentes a la jurisdicción </a:t>
            </a: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IOC </a:t>
            </a:r>
            <a:r>
              <a:rPr kumimoji="0" lang="es-MX"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rPr>
              <a:t>a partir del análisis de los ámbitos de vigencia la autoridad judicial cuando exista la intención de conocer el caso por parte de las autoridades </a:t>
            </a: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IOC</a:t>
            </a:r>
            <a:endParaRPr kumimoji="0" lang="es-BO" sz="14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75E3FB5E-0535-42BB-9859-D7181132B95A}"/>
              </a:ext>
            </a:extLst>
          </p:cNvPr>
          <p:cNvSpPr txBox="1"/>
          <p:nvPr/>
        </p:nvSpPr>
        <p:spPr>
          <a:xfrm>
            <a:off x="220720" y="4339558"/>
            <a:ext cx="3436882" cy="997645"/>
          </a:xfrm>
          <a:prstGeom prst="rect">
            <a:avLst/>
          </a:prstGeom>
          <a:solidFill>
            <a:schemeClr val="accent6">
              <a:lumMod val="60000"/>
              <a:lumOff val="40000"/>
            </a:schemeClr>
          </a:solidFill>
        </p:spPr>
        <p:txBody>
          <a:bodyPr wrap="square" rtlCol="0">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d. Solicitud de apartamiento del caso por parte de las autoridades de la jurisdicción IOC: Conflicto de competencias.  </a:t>
            </a:r>
            <a:endParaRPr kumimoji="0" lang="es-BO" sz="14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p:txBody>
      </p:sp>
      <p:cxnSp>
        <p:nvCxnSpPr>
          <p:cNvPr id="15" name="Conector recto 14">
            <a:extLst>
              <a:ext uri="{FF2B5EF4-FFF2-40B4-BE49-F238E27FC236}">
                <a16:creationId xmlns:a16="http://schemas.microsoft.com/office/drawing/2014/main" id="{AD5E1377-1706-4901-B9A1-CCA759D797F2}"/>
              </a:ext>
            </a:extLst>
          </p:cNvPr>
          <p:cNvCxnSpPr/>
          <p:nvPr/>
        </p:nvCxnSpPr>
        <p:spPr>
          <a:xfrm>
            <a:off x="4593021" y="1755228"/>
            <a:ext cx="0" cy="415158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63C91A6A-6FCF-49FB-B303-5AC29F3E4382}"/>
              </a:ext>
            </a:extLst>
          </p:cNvPr>
          <p:cNvCxnSpPr>
            <a:cxnSpLocks/>
            <a:stCxn id="5" idx="3"/>
          </p:cNvCxnSpPr>
          <p:nvPr/>
        </p:nvCxnSpPr>
        <p:spPr>
          <a:xfrm flipV="1">
            <a:off x="3620815" y="2112579"/>
            <a:ext cx="1030014" cy="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CC46241-BD3A-4D7F-8E2A-FAB6A6187577}"/>
              </a:ext>
            </a:extLst>
          </p:cNvPr>
          <p:cNvCxnSpPr>
            <a:cxnSpLocks/>
          </p:cNvCxnSpPr>
          <p:nvPr/>
        </p:nvCxnSpPr>
        <p:spPr>
          <a:xfrm flipV="1">
            <a:off x="3584028" y="2685371"/>
            <a:ext cx="1030014" cy="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BF410C15-E20F-4DE4-9AF2-4CF6157D685B}"/>
              </a:ext>
            </a:extLst>
          </p:cNvPr>
          <p:cNvCxnSpPr>
            <a:cxnSpLocks/>
          </p:cNvCxnSpPr>
          <p:nvPr/>
        </p:nvCxnSpPr>
        <p:spPr>
          <a:xfrm flipV="1">
            <a:off x="3531476" y="3825361"/>
            <a:ext cx="1082566" cy="336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B1BFE3F0-C727-4902-9DD3-486F8E8AAEA7}"/>
              </a:ext>
            </a:extLst>
          </p:cNvPr>
          <p:cNvCxnSpPr>
            <a:cxnSpLocks/>
          </p:cNvCxnSpPr>
          <p:nvPr/>
        </p:nvCxnSpPr>
        <p:spPr>
          <a:xfrm flipV="1">
            <a:off x="3536731" y="4819819"/>
            <a:ext cx="1030014" cy="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B2F3C2BB-4D82-4FD2-95AA-7B678955481D}"/>
              </a:ext>
            </a:extLst>
          </p:cNvPr>
          <p:cNvCxnSpPr>
            <a:cxnSpLocks/>
          </p:cNvCxnSpPr>
          <p:nvPr/>
        </p:nvCxnSpPr>
        <p:spPr>
          <a:xfrm flipV="1">
            <a:off x="3526221" y="5906814"/>
            <a:ext cx="1030014" cy="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5D7B127B-95A9-4048-866A-F3495AB54847}"/>
              </a:ext>
            </a:extLst>
          </p:cNvPr>
          <p:cNvSpPr txBox="1"/>
          <p:nvPr/>
        </p:nvSpPr>
        <p:spPr>
          <a:xfrm>
            <a:off x="5281448" y="1883631"/>
            <a:ext cx="3436882" cy="1264642"/>
          </a:xfrm>
          <a:prstGeom prst="rect">
            <a:avLst/>
          </a:prstGeom>
          <a:solidFill>
            <a:schemeClr val="accent5">
              <a:lumMod val="40000"/>
              <a:lumOff val="60000"/>
            </a:schemeClr>
          </a:solidFill>
        </p:spPr>
        <p:txBody>
          <a:bodyPr wrap="square" rtlCol="0">
            <a:spAutoFit/>
          </a:bodyPr>
          <a:lstStyle/>
          <a:p>
            <a:pPr marL="84138" marR="0" lvl="0" indent="95250" algn="just" defTabSz="914400" rtl="0" eaLnBrk="1" fontAlgn="auto" latinLnBrk="0" hangingPunct="1">
              <a:lnSpc>
                <a:spcPct val="107000"/>
              </a:lnSpc>
              <a:spcBef>
                <a:spcPts val="0"/>
              </a:spcBef>
              <a:spcAft>
                <a:spcPts val="800"/>
              </a:spcAft>
              <a:buClrTx/>
              <a:buSzTx/>
              <a:buFontTx/>
              <a:buNone/>
              <a:tabLst/>
              <a:defRPr/>
            </a:pPr>
            <a:r>
              <a:rPr kumimoji="0" lang="es-MX"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rPr>
              <a:t>a.1. Supuesta inconcurrencia simultanea de los ámbitos de vigencia de la jurisdicción indígena originaria campesina: </a:t>
            </a:r>
            <a:endParaRPr kumimoji="0" lang="es-BO"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6" name="CuadroTexto 25">
            <a:extLst>
              <a:ext uri="{FF2B5EF4-FFF2-40B4-BE49-F238E27FC236}">
                <a16:creationId xmlns:a16="http://schemas.microsoft.com/office/drawing/2014/main" id="{0EEDF501-3CCE-4E0F-81D2-9B96E362847A}"/>
              </a:ext>
            </a:extLst>
          </p:cNvPr>
          <p:cNvSpPr txBox="1"/>
          <p:nvPr/>
        </p:nvSpPr>
        <p:spPr>
          <a:xfrm>
            <a:off x="5291958" y="3709728"/>
            <a:ext cx="3436882" cy="1264642"/>
          </a:xfrm>
          <a:prstGeom prst="rect">
            <a:avLst/>
          </a:prstGeom>
          <a:solidFill>
            <a:schemeClr val="accent5">
              <a:lumMod val="40000"/>
              <a:lumOff val="60000"/>
            </a:schemeClr>
          </a:solidFill>
        </p:spPr>
        <p:txBody>
          <a:bodyPr wrap="square" rtlCol="0">
            <a:spAutoFit/>
          </a:bodyPr>
          <a:lstStyle/>
          <a:p>
            <a:pPr marL="84138" marR="0" lvl="0" indent="0" algn="just" defTabSz="914400" rtl="0" eaLnBrk="1" fontAlgn="auto" latinLnBrk="0" hangingPunct="1">
              <a:lnSpc>
                <a:spcPct val="107000"/>
              </a:lnSpc>
              <a:spcBef>
                <a:spcPts val="0"/>
              </a:spcBef>
              <a:spcAft>
                <a:spcPts val="800"/>
              </a:spcAft>
              <a:buClrTx/>
              <a:buSzTx/>
              <a:buFontTx/>
              <a:buNone/>
              <a:tabLst/>
              <a:defRPr/>
            </a:pPr>
            <a:r>
              <a:rPr kumimoji="0" lang="es-MX"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rPr>
              <a:t>a.2.Supuestos de decisiones incompatibles con los estándares internacionales sobre derechos humanos: </a:t>
            </a:r>
            <a:endParaRPr kumimoji="0" lang="es-BO"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cxnSp>
        <p:nvCxnSpPr>
          <p:cNvPr id="28" name="Conector recto 27">
            <a:extLst>
              <a:ext uri="{FF2B5EF4-FFF2-40B4-BE49-F238E27FC236}">
                <a16:creationId xmlns:a16="http://schemas.microsoft.com/office/drawing/2014/main" id="{BD4BE4FE-25A7-4BC8-814F-DD6C0C68FF29}"/>
              </a:ext>
            </a:extLst>
          </p:cNvPr>
          <p:cNvCxnSpPr/>
          <p:nvPr/>
        </p:nvCxnSpPr>
        <p:spPr>
          <a:xfrm>
            <a:off x="4556235" y="2119718"/>
            <a:ext cx="31005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A2146AE7-FEDD-40C2-92F1-B5F96BAE78DC}"/>
              </a:ext>
            </a:extLst>
          </p:cNvPr>
          <p:cNvCxnSpPr>
            <a:cxnSpLocks/>
          </p:cNvCxnSpPr>
          <p:nvPr/>
        </p:nvCxnSpPr>
        <p:spPr>
          <a:xfrm flipH="1">
            <a:off x="4866290" y="2119718"/>
            <a:ext cx="10510" cy="21273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5CAB9E8D-3860-4E97-B125-DD7A860CDEED}"/>
              </a:ext>
            </a:extLst>
          </p:cNvPr>
          <p:cNvCxnSpPr>
            <a:endCxn id="24" idx="1"/>
          </p:cNvCxnSpPr>
          <p:nvPr/>
        </p:nvCxnSpPr>
        <p:spPr>
          <a:xfrm>
            <a:off x="4876800" y="2515952"/>
            <a:ext cx="4046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3AC73414-EA16-4C7E-B8F5-5030F922319C}"/>
              </a:ext>
            </a:extLst>
          </p:cNvPr>
          <p:cNvCxnSpPr/>
          <p:nvPr/>
        </p:nvCxnSpPr>
        <p:spPr>
          <a:xfrm>
            <a:off x="4876800" y="4247027"/>
            <a:ext cx="4046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729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162CEFB-9BBA-49A3-B672-E05CFFF0F443}"/>
              </a:ext>
            </a:extLst>
          </p:cNvPr>
          <p:cNvSpPr txBox="1"/>
          <p:nvPr/>
        </p:nvSpPr>
        <p:spPr>
          <a:xfrm>
            <a:off x="2601309" y="284816"/>
            <a:ext cx="9469821" cy="1815882"/>
          </a:xfrm>
          <a:prstGeom prst="rect">
            <a:avLst/>
          </a:prstGeom>
          <a:noFill/>
          <a:ln>
            <a:solidFill>
              <a:srgbClr val="FF0000"/>
            </a:solidFill>
          </a:ln>
        </p:spPr>
        <p:txBody>
          <a:bodyPr wrap="square">
            <a:spAutoFit/>
          </a:bodyPr>
          <a:lstStyle/>
          <a:p>
            <a:pPr algn="just"/>
            <a:r>
              <a:rPr lang="es-MX" sz="1400" b="0" i="0" u="none" strike="noStrike" baseline="0" dirty="0">
                <a:solidFill>
                  <a:srgbClr val="000000"/>
                </a:solidFill>
                <a:latin typeface="Cambria" panose="02040503050406030204" pitchFamily="18" charset="0"/>
              </a:rPr>
              <a:t>es evidente que la autoridad jurisdiccional, ya tendría que tener algunos acuerdos previos con las diferentes autoridades IOC sobre derivación o devolución de casos a su jurisdicción, </a:t>
            </a:r>
          </a:p>
          <a:p>
            <a:pPr algn="just"/>
            <a:endParaRPr lang="es-MX" sz="1400" dirty="0">
              <a:solidFill>
                <a:srgbClr val="000000"/>
              </a:solidFill>
              <a:latin typeface="Cambria" panose="02040503050406030204" pitchFamily="18" charset="0"/>
            </a:endParaRPr>
          </a:p>
          <a:p>
            <a:pPr algn="just"/>
            <a:r>
              <a:rPr lang="es-MX" sz="1400" b="0" i="0" u="none" strike="noStrike" baseline="0" dirty="0">
                <a:solidFill>
                  <a:srgbClr val="000000"/>
                </a:solidFill>
                <a:latin typeface="Cambria" panose="02040503050406030204" pitchFamily="18" charset="0"/>
              </a:rPr>
              <a:t>así como la coordinación que debe existir en los casos que involucren a poblaciones o grupos en situación de vulnerabilidad; </a:t>
            </a:r>
          </a:p>
          <a:p>
            <a:pPr algn="just"/>
            <a:endParaRPr lang="es-MX" sz="1400" dirty="0">
              <a:solidFill>
                <a:srgbClr val="000000"/>
              </a:solidFill>
              <a:latin typeface="Cambria" panose="02040503050406030204" pitchFamily="18" charset="0"/>
            </a:endParaRPr>
          </a:p>
          <a:p>
            <a:pPr algn="just"/>
            <a:r>
              <a:rPr lang="es-MX" sz="1400" b="0" i="0" u="none" strike="noStrike" baseline="0" dirty="0">
                <a:solidFill>
                  <a:srgbClr val="000000"/>
                </a:solidFill>
                <a:latin typeface="Cambria" panose="02040503050406030204" pitchFamily="18" charset="0"/>
              </a:rPr>
              <a:t>las siguientes pautas permitirán, a la autoridad jurisdiccional, tener certeza sobre la decisión a asumir en el caso; pues tendrá que realizar las siguientes acciones: </a:t>
            </a:r>
            <a:endParaRPr lang="es-BO" sz="1400" dirty="0"/>
          </a:p>
        </p:txBody>
      </p:sp>
      <p:sp>
        <p:nvSpPr>
          <p:cNvPr id="7" name="CuadroTexto 6">
            <a:extLst>
              <a:ext uri="{FF2B5EF4-FFF2-40B4-BE49-F238E27FC236}">
                <a16:creationId xmlns:a16="http://schemas.microsoft.com/office/drawing/2014/main" id="{53F1C221-FF08-44F7-B4C5-F3F56A0819B6}"/>
              </a:ext>
            </a:extLst>
          </p:cNvPr>
          <p:cNvSpPr txBox="1"/>
          <p:nvPr/>
        </p:nvSpPr>
        <p:spPr>
          <a:xfrm>
            <a:off x="562303" y="2295090"/>
            <a:ext cx="11067392" cy="4278094"/>
          </a:xfrm>
          <a:prstGeom prst="rect">
            <a:avLst/>
          </a:prstGeom>
          <a:noFill/>
          <a:ln w="38100">
            <a:solidFill>
              <a:srgbClr val="7030A0"/>
            </a:solidFill>
          </a:ln>
        </p:spPr>
        <p:txBody>
          <a:bodyPr wrap="square">
            <a:spAutoFit/>
          </a:bodyPr>
          <a:lstStyle/>
          <a:p>
            <a:pPr algn="just"/>
            <a:r>
              <a:rPr lang="es-MX" sz="1600" b="1" i="0" u="none" strike="noStrike" baseline="0" dirty="0">
                <a:solidFill>
                  <a:srgbClr val="365F91"/>
                </a:solidFill>
                <a:latin typeface="Arial" panose="020B0604020202020204" pitchFamily="34" charset="0"/>
                <a:cs typeface="Arial" panose="020B0604020202020204" pitchFamily="34" charset="0"/>
              </a:rPr>
              <a:t>1. </a:t>
            </a:r>
            <a:r>
              <a:rPr lang="es-MX" sz="1600" b="0" i="0" u="none" strike="noStrike" baseline="0" dirty="0">
                <a:solidFill>
                  <a:srgbClr val="365F91"/>
                </a:solidFill>
                <a:latin typeface="Arial" panose="020B0604020202020204" pitchFamily="34" charset="0"/>
                <a:cs typeface="Arial" panose="020B0604020202020204" pitchFamily="34" charset="0"/>
              </a:rPr>
              <a:t>Conocer la versión de los hechos de las autoridades de la JIOC, será necesario que la autoridad jurisdiccional convoque a una reunión informativa CON JIOC. </a:t>
            </a:r>
            <a:r>
              <a:rPr lang="es-MX" sz="1600" b="0" i="0" u="none" strike="noStrike" baseline="0" dirty="0">
                <a:solidFill>
                  <a:srgbClr val="000000"/>
                </a:solidFill>
                <a:latin typeface="Arial" panose="020B0604020202020204" pitchFamily="34" charset="0"/>
                <a:cs typeface="Arial" panose="020B0604020202020204" pitchFamily="34" charset="0"/>
              </a:rPr>
              <a:t>	</a:t>
            </a:r>
          </a:p>
          <a:p>
            <a:pPr algn="just"/>
            <a:r>
              <a:rPr lang="es-MX" sz="1600" b="1" i="0" u="none" strike="noStrike" baseline="0" dirty="0">
                <a:solidFill>
                  <a:srgbClr val="365F91"/>
                </a:solidFill>
                <a:latin typeface="Arial" panose="020B0604020202020204" pitchFamily="34" charset="0"/>
                <a:cs typeface="Arial" panose="020B0604020202020204" pitchFamily="34" charset="0"/>
              </a:rPr>
              <a:t>2. L</a:t>
            </a:r>
            <a:r>
              <a:rPr lang="es-MX" sz="1600" b="0" i="0" u="none" strike="noStrike" baseline="0" dirty="0">
                <a:solidFill>
                  <a:srgbClr val="365F91"/>
                </a:solidFill>
                <a:latin typeface="Arial" panose="020B0604020202020204" pitchFamily="34" charset="0"/>
                <a:cs typeface="Arial" panose="020B0604020202020204" pitchFamily="34" charset="0"/>
              </a:rPr>
              <a:t>a autoridad jurisdiccional indagará sobre: </a:t>
            </a:r>
          </a:p>
          <a:p>
            <a:pPr algn="just"/>
            <a:r>
              <a:rPr lang="es-MX" sz="1600" b="1" i="0" u="none" strike="noStrike" baseline="0" dirty="0">
                <a:solidFill>
                  <a:srgbClr val="365F91"/>
                </a:solidFill>
                <a:latin typeface="Arial" panose="020B0604020202020204" pitchFamily="34" charset="0"/>
                <a:cs typeface="Arial" panose="020B0604020202020204" pitchFamily="34" charset="0"/>
              </a:rPr>
              <a:t>a. </a:t>
            </a:r>
            <a:r>
              <a:rPr lang="es-MX" sz="1600" b="0" i="0" u="none" strike="noStrike" baseline="0" dirty="0">
                <a:solidFill>
                  <a:srgbClr val="365F91"/>
                </a:solidFill>
                <a:latin typeface="Arial" panose="020B0604020202020204" pitchFamily="34" charset="0"/>
                <a:cs typeface="Arial" panose="020B0604020202020204" pitchFamily="34" charset="0"/>
              </a:rPr>
              <a:t>Si el caso fue resuelto o no por JIOC. La finalidad de evitar el doble juzgamiento, </a:t>
            </a:r>
          </a:p>
          <a:p>
            <a:pPr algn="just"/>
            <a:r>
              <a:rPr lang="es-MX" sz="1600" b="1" i="0" u="none" strike="noStrike" baseline="0" dirty="0">
                <a:solidFill>
                  <a:srgbClr val="365F91"/>
                </a:solidFill>
                <a:latin typeface="Arial" panose="020B0604020202020204" pitchFamily="34" charset="0"/>
                <a:cs typeface="Arial" panose="020B0604020202020204" pitchFamily="34" charset="0"/>
              </a:rPr>
              <a:t>b. </a:t>
            </a:r>
            <a:r>
              <a:rPr lang="es-MX" sz="1600" b="0" i="0" u="none" strike="noStrike" baseline="0" dirty="0">
                <a:solidFill>
                  <a:srgbClr val="365F91"/>
                </a:solidFill>
                <a:latin typeface="Arial" panose="020B0604020202020204" pitchFamily="34" charset="0"/>
                <a:cs typeface="Arial" panose="020B0604020202020204" pitchFamily="34" charset="0"/>
              </a:rPr>
              <a:t>Si el proceso se inició, en especial en materia penal, a consecuencia de resolución asumida por las autoridades IOC. La finalidad de evitar la criminalización de la justicia IOC y de respetar la norma constitucional prevista en el art. 192.I que señala que </a:t>
            </a:r>
            <a:r>
              <a:rPr lang="es-MX" sz="1600" b="1" i="0" u="none" strike="noStrike" baseline="0" dirty="0">
                <a:solidFill>
                  <a:srgbClr val="365F91"/>
                </a:solidFill>
                <a:latin typeface="Arial" panose="020B0604020202020204" pitchFamily="34" charset="0"/>
                <a:cs typeface="Arial" panose="020B0604020202020204" pitchFamily="34" charset="0"/>
              </a:rPr>
              <a:t>“Toda autoridad pública o persona acatará las decisiones de la jurisdicción IOC</a:t>
            </a:r>
            <a:r>
              <a:rPr lang="es-MX" sz="1600" b="0" i="0" u="none" strike="noStrike" baseline="0" dirty="0">
                <a:solidFill>
                  <a:srgbClr val="365F91"/>
                </a:solidFill>
                <a:latin typeface="Arial" panose="020B0604020202020204" pitchFamily="34" charset="0"/>
                <a:cs typeface="Arial" panose="020B0604020202020204" pitchFamily="34" charset="0"/>
              </a:rPr>
              <a:t>”. </a:t>
            </a:r>
          </a:p>
          <a:p>
            <a:pPr algn="just"/>
            <a:r>
              <a:rPr lang="es-MX" sz="1600" b="1" i="0" u="none" strike="noStrike" baseline="0" dirty="0">
                <a:solidFill>
                  <a:srgbClr val="365F91"/>
                </a:solidFill>
                <a:latin typeface="Arial" panose="020B0604020202020204" pitchFamily="34" charset="0"/>
                <a:cs typeface="Arial" panose="020B0604020202020204" pitchFamily="34" charset="0"/>
              </a:rPr>
              <a:t>c. </a:t>
            </a:r>
            <a:r>
              <a:rPr lang="es-MX" sz="1600" b="0" i="0" u="none" strike="noStrike" baseline="0" dirty="0">
                <a:solidFill>
                  <a:srgbClr val="365F91"/>
                </a:solidFill>
                <a:latin typeface="Arial" panose="020B0604020202020204" pitchFamily="34" charset="0"/>
                <a:cs typeface="Arial" panose="020B0604020202020204" pitchFamily="34" charset="0"/>
              </a:rPr>
              <a:t>Si en la JIOC existe un proceso en curso sobre el mismo hecho o si tiene intención de asumir el conocimiento del caso y qué </a:t>
            </a:r>
            <a:r>
              <a:rPr lang="es-MX" sz="1600" b="1" i="0" u="none" strike="noStrike" baseline="0" dirty="0">
                <a:solidFill>
                  <a:srgbClr val="365F91"/>
                </a:solidFill>
                <a:latin typeface="Arial" panose="020B0604020202020204" pitchFamily="34" charset="0"/>
                <a:cs typeface="Arial" panose="020B0604020202020204" pitchFamily="34" charset="0"/>
              </a:rPr>
              <a:t>colaboración necesitaría de parte de la jurisdicción ordinaria</a:t>
            </a:r>
            <a:r>
              <a:rPr lang="es-MX" sz="1600" b="0" i="0" u="none" strike="noStrike" baseline="0" dirty="0">
                <a:solidFill>
                  <a:srgbClr val="365F91"/>
                </a:solidFill>
                <a:latin typeface="Arial" panose="020B0604020202020204" pitchFamily="34" charset="0"/>
                <a:cs typeface="Arial" panose="020B0604020202020204" pitchFamily="34" charset="0"/>
              </a:rPr>
              <a:t>. </a:t>
            </a:r>
          </a:p>
          <a:p>
            <a:pPr algn="just"/>
            <a:r>
              <a:rPr lang="es-MX" sz="1600" b="1" i="0" u="none" strike="noStrike" baseline="0" dirty="0">
                <a:solidFill>
                  <a:srgbClr val="365F91"/>
                </a:solidFill>
                <a:latin typeface="Arial" panose="020B0604020202020204" pitchFamily="34" charset="0"/>
                <a:cs typeface="Arial" panose="020B0604020202020204" pitchFamily="34" charset="0"/>
              </a:rPr>
              <a:t>d. </a:t>
            </a:r>
            <a:r>
              <a:rPr lang="es-MX" sz="1600" b="0" i="0" u="none" strike="noStrike" baseline="0" dirty="0">
                <a:solidFill>
                  <a:srgbClr val="365F91"/>
                </a:solidFill>
                <a:latin typeface="Arial" panose="020B0604020202020204" pitchFamily="34" charset="0"/>
                <a:cs typeface="Arial" panose="020B0604020202020204" pitchFamily="34" charset="0"/>
              </a:rPr>
              <a:t>Si las partes dentro del proceso (denunciante, denunciado imputado o víctima) son residentes o miembros de la comunidad u origen o, en su caso, tienen algún negocio, trabajo o empresa en la comunidad, </a:t>
            </a:r>
            <a:r>
              <a:rPr lang="es-MX" sz="1600" b="1" i="0" u="none" strike="noStrike" baseline="0" dirty="0">
                <a:solidFill>
                  <a:srgbClr val="365F91"/>
                </a:solidFill>
                <a:latin typeface="Arial" panose="020B0604020202020204" pitchFamily="34" charset="0"/>
                <a:cs typeface="Arial" panose="020B0604020202020204" pitchFamily="34" charset="0"/>
              </a:rPr>
              <a:t>esto con la finalidad de determinar si se cumple el ámbito de vigencia personal</a:t>
            </a:r>
            <a:r>
              <a:rPr lang="es-MX" sz="1600" b="0" i="0" u="none" strike="noStrike" baseline="0" dirty="0">
                <a:solidFill>
                  <a:srgbClr val="365F91"/>
                </a:solidFill>
                <a:latin typeface="Arial" panose="020B0604020202020204" pitchFamily="34" charset="0"/>
                <a:cs typeface="Arial" panose="020B0604020202020204" pitchFamily="34" charset="0"/>
              </a:rPr>
              <a:t>, </a:t>
            </a:r>
          </a:p>
          <a:p>
            <a:r>
              <a:rPr lang="es-MX" sz="1600" b="0" i="0" u="none" strike="noStrike" baseline="0" dirty="0">
                <a:solidFill>
                  <a:srgbClr val="365F91"/>
                </a:solidFill>
                <a:latin typeface="Arial" panose="020B0604020202020204" pitchFamily="34" charset="0"/>
                <a:cs typeface="Arial" panose="020B0604020202020204" pitchFamily="34" charset="0"/>
              </a:rPr>
              <a:t>e. Si el hecho se produjo dentro de la jurisdicción indígena originaria campesina o tuvo efectos en su jurisdicción, ello con la finalidad de determinar si se cumple el </a:t>
            </a:r>
            <a:r>
              <a:rPr lang="es-MX" sz="1600" b="1" i="0" u="none" strike="noStrike" baseline="0" dirty="0">
                <a:solidFill>
                  <a:srgbClr val="365F91"/>
                </a:solidFill>
                <a:latin typeface="Arial" panose="020B0604020202020204" pitchFamily="34" charset="0"/>
                <a:cs typeface="Arial" panose="020B0604020202020204" pitchFamily="34" charset="0"/>
              </a:rPr>
              <a:t>ámbito de vigencia territorial</a:t>
            </a:r>
            <a:r>
              <a:rPr lang="es-MX" sz="1600" b="0" i="0" u="none" strike="noStrike" baseline="0" dirty="0">
                <a:solidFill>
                  <a:srgbClr val="365F91"/>
                </a:solidFill>
                <a:latin typeface="Arial" panose="020B0604020202020204" pitchFamily="34" charset="0"/>
                <a:cs typeface="Arial" panose="020B0604020202020204" pitchFamily="34" charset="0"/>
              </a:rPr>
              <a:t>, </a:t>
            </a:r>
            <a:endParaRPr lang="es-BO" sz="1600" b="0" i="0" u="none" strike="noStrike" baseline="0" dirty="0">
              <a:solidFill>
                <a:srgbClr val="365F91"/>
              </a:solidFill>
              <a:latin typeface="Cambria" panose="02040503050406030204" pitchFamily="18" charset="0"/>
            </a:endParaRPr>
          </a:p>
          <a:p>
            <a:r>
              <a:rPr lang="es-MX" sz="1600" b="0" i="0" u="none" strike="noStrike" baseline="0" dirty="0">
                <a:solidFill>
                  <a:srgbClr val="365F91"/>
                </a:solidFill>
                <a:latin typeface="Arial" panose="020B0604020202020204" pitchFamily="34" charset="0"/>
                <a:cs typeface="Arial" panose="020B0604020202020204" pitchFamily="34" charset="0"/>
              </a:rPr>
              <a:t>f. Indagar sobre la naturaleza del hecho o el tipo de conflicto que dio origen a la demanda, acción que conoce la autoridad jurisdiccional y si ese hecho está dentro de los asuntos que histórica y tradicionalmente han conocido bajo sus normas y procedimientos propios, ello con la finalidad de analizar el </a:t>
            </a:r>
            <a:r>
              <a:rPr lang="es-MX" sz="1600" b="1" i="0" u="none" strike="noStrike" baseline="0" dirty="0">
                <a:solidFill>
                  <a:srgbClr val="365F91"/>
                </a:solidFill>
                <a:latin typeface="Arial" panose="020B0604020202020204" pitchFamily="34" charset="0"/>
                <a:cs typeface="Arial" panose="020B0604020202020204" pitchFamily="34" charset="0"/>
              </a:rPr>
              <a:t>ámbito de vigencia material </a:t>
            </a:r>
            <a:r>
              <a:rPr lang="es-MX" sz="1600" b="0" i="0" u="none" strike="noStrike" baseline="0" dirty="0">
                <a:solidFill>
                  <a:srgbClr val="365F91"/>
                </a:solidFill>
                <a:latin typeface="Arial" panose="020B0604020202020204" pitchFamily="34" charset="0"/>
                <a:cs typeface="Arial" panose="020B0604020202020204" pitchFamily="34" charset="0"/>
              </a:rPr>
              <a:t>de JIOC.</a:t>
            </a:r>
            <a:endParaRPr lang="es-MX" sz="1600" b="0" i="0" u="none" strike="noStrike" baseline="0" dirty="0">
              <a:solidFill>
                <a:srgbClr val="365F91"/>
              </a:solidFill>
              <a:latin typeface="Cambria" panose="02040503050406030204" pitchFamily="18" charset="0"/>
            </a:endParaRPr>
          </a:p>
        </p:txBody>
      </p:sp>
      <p:sp>
        <p:nvSpPr>
          <p:cNvPr id="8" name="CuadroTexto 7">
            <a:extLst>
              <a:ext uri="{FF2B5EF4-FFF2-40B4-BE49-F238E27FC236}">
                <a16:creationId xmlns:a16="http://schemas.microsoft.com/office/drawing/2014/main" id="{41F30CD8-9871-4D22-A483-A30E69F77ABC}"/>
              </a:ext>
            </a:extLst>
          </p:cNvPr>
          <p:cNvSpPr txBox="1"/>
          <p:nvPr/>
        </p:nvSpPr>
        <p:spPr>
          <a:xfrm>
            <a:off x="0" y="284816"/>
            <a:ext cx="2312276" cy="1281225"/>
          </a:xfrm>
          <a:prstGeom prst="rect">
            <a:avLst/>
          </a:prstGeom>
          <a:solidFill>
            <a:srgbClr val="FFFF00"/>
          </a:solidFill>
        </p:spPr>
        <p:style>
          <a:lnRef idx="0">
            <a:scrgbClr r="0" g="0" b="0"/>
          </a:lnRef>
          <a:fillRef idx="0">
            <a:scrgbClr r="0" g="0" b="0"/>
          </a:fillRef>
          <a:effectRef idx="0">
            <a:scrgbClr r="0" g="0" b="0"/>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b="1" kern="1200" dirty="0">
                <a:solidFill>
                  <a:sysClr val="windowText" lastClr="000000"/>
                </a:solidFill>
                <a:latin typeface="Arial" panose="020B0604020202020204" pitchFamily="34" charset="0"/>
                <a:cs typeface="Arial" panose="020B0604020202020204" pitchFamily="34" charset="0"/>
              </a:rPr>
              <a:t>II.3.1. Definición de la competencia de las </a:t>
            </a:r>
            <a:r>
              <a:rPr lang="es-MX" sz="1800" b="1" kern="1200" dirty="0">
                <a:solidFill>
                  <a:schemeClr val="tx1"/>
                </a:solidFill>
                <a:latin typeface="Arial" panose="020B0604020202020204" pitchFamily="34" charset="0"/>
                <a:cs typeface="Arial" panose="020B0604020202020204" pitchFamily="34" charset="0"/>
              </a:rPr>
              <a:t>autoridades jurisdiccionales Si</a:t>
            </a:r>
            <a:r>
              <a:rPr lang="es-MX" sz="1800" b="1"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 el caso: </a:t>
            </a:r>
            <a:endParaRPr lang="es-BO" sz="1800" kern="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6964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74AC091-DDEF-4FA9-9335-B9552E6917F8}"/>
              </a:ext>
            </a:extLst>
          </p:cNvPr>
          <p:cNvSpPr txBox="1"/>
          <p:nvPr/>
        </p:nvSpPr>
        <p:spPr>
          <a:xfrm>
            <a:off x="168165" y="375425"/>
            <a:ext cx="11456275" cy="1477328"/>
          </a:xfrm>
          <a:prstGeom prst="rect">
            <a:avLst/>
          </a:prstGeom>
          <a:noFill/>
        </p:spPr>
        <p:txBody>
          <a:bodyPr wrap="square">
            <a:spAutoFit/>
          </a:bodyPr>
          <a:lstStyle/>
          <a:p>
            <a:pPr algn="just"/>
            <a:r>
              <a:rPr lang="es-MX" sz="1800" b="1" i="0" u="none" strike="noStrike" baseline="0" dirty="0">
                <a:solidFill>
                  <a:srgbClr val="000000"/>
                </a:solidFill>
                <a:latin typeface="Cambria" panose="02040503050406030204" pitchFamily="18" charset="0"/>
              </a:rPr>
              <a:t>Si el caso fue resuelto por la jurisdicción IOC</a:t>
            </a:r>
            <a:r>
              <a:rPr lang="es-MX" dirty="0">
                <a:solidFill>
                  <a:srgbClr val="000000"/>
                </a:solidFill>
                <a:latin typeface="Cambria" panose="02040503050406030204" pitchFamily="18" charset="0"/>
              </a:rPr>
              <a:t> </a:t>
            </a:r>
            <a:r>
              <a:rPr lang="es-MX" sz="1800" b="0" i="0" u="none" strike="noStrike" baseline="0" dirty="0">
                <a:solidFill>
                  <a:srgbClr val="000000"/>
                </a:solidFill>
                <a:latin typeface="Cambria" panose="02040503050406030204" pitchFamily="18" charset="0"/>
              </a:rPr>
              <a:t>corresponde que la jueza o el juez, dependiendo de la materia, declare la extinción de la acción penal, ( art. 28 del CPP</a:t>
            </a:r>
            <a:r>
              <a:rPr lang="es-MX" sz="1100" b="0" i="0" u="none" strike="noStrike" baseline="0" dirty="0">
                <a:solidFill>
                  <a:srgbClr val="000000"/>
                </a:solidFill>
                <a:latin typeface="Cambria" panose="02040503050406030204" pitchFamily="18" charset="0"/>
              </a:rPr>
              <a:t> </a:t>
            </a:r>
            <a:r>
              <a:rPr lang="es-MX" sz="1800" b="0" i="0" u="none" strike="noStrike" baseline="0" dirty="0">
                <a:solidFill>
                  <a:srgbClr val="000000"/>
                </a:solidFill>
                <a:latin typeface="Cambria" panose="02040503050406030204" pitchFamily="18" charset="0"/>
              </a:rPr>
              <a:t>o, archive la causa por existir cosa juzgada), entendida ésta desde una perspectiva plural -en el marco del principio de unidad de la función judicial. </a:t>
            </a:r>
          </a:p>
          <a:p>
            <a:r>
              <a:rPr lang="es-MX" sz="1800" b="0" i="0" u="none" strike="noStrike" baseline="0" dirty="0">
                <a:solidFill>
                  <a:srgbClr val="FF0000"/>
                </a:solidFill>
                <a:latin typeface="Cambria" panose="02040503050406030204" pitchFamily="18" charset="0"/>
              </a:rPr>
              <a:t>Demuestre, a través de sus procedimientos y normas propias, que el caso ha sido resuelto en su jurisdicción. </a:t>
            </a:r>
            <a:r>
              <a:rPr lang="es-MX" sz="1800" b="1" i="1" u="none" strike="noStrike" baseline="0" dirty="0">
                <a:solidFill>
                  <a:srgbClr val="FF0000"/>
                </a:solidFill>
                <a:latin typeface="Arial" panose="020B0604020202020204" pitchFamily="34" charset="0"/>
                <a:cs typeface="Arial" panose="020B0604020202020204" pitchFamily="34" charset="0"/>
              </a:rPr>
              <a:t>L</a:t>
            </a:r>
            <a:r>
              <a:rPr lang="es-MX" sz="1800" b="1" i="1" u="none" strike="noStrike" baseline="0" dirty="0">
                <a:solidFill>
                  <a:srgbClr val="000000"/>
                </a:solidFill>
                <a:latin typeface="Arial" panose="020B0604020202020204" pitchFamily="34" charset="0"/>
                <a:cs typeface="Arial" panose="020B0604020202020204" pitchFamily="34" charset="0"/>
              </a:rPr>
              <a:t>a autoridad judicial, deberá otorgar valor a la prueba presentada por dichas autoridades</a:t>
            </a:r>
          </a:p>
        </p:txBody>
      </p:sp>
      <p:sp>
        <p:nvSpPr>
          <p:cNvPr id="7" name="CuadroTexto 6">
            <a:extLst>
              <a:ext uri="{FF2B5EF4-FFF2-40B4-BE49-F238E27FC236}">
                <a16:creationId xmlns:a16="http://schemas.microsoft.com/office/drawing/2014/main" id="{65347ABB-1D82-46AF-A1B8-B46EAF85DE98}"/>
              </a:ext>
            </a:extLst>
          </p:cNvPr>
          <p:cNvSpPr txBox="1"/>
          <p:nvPr/>
        </p:nvSpPr>
        <p:spPr>
          <a:xfrm>
            <a:off x="409902" y="4903446"/>
            <a:ext cx="10731063" cy="1754326"/>
          </a:xfrm>
          <a:prstGeom prst="rect">
            <a:avLst/>
          </a:prstGeom>
          <a:noFill/>
          <a:ln>
            <a:solidFill>
              <a:schemeClr val="accent6">
                <a:lumMod val="60000"/>
                <a:lumOff val="40000"/>
              </a:schemeClr>
            </a:solidFill>
          </a:ln>
        </p:spPr>
        <p:txBody>
          <a:bodyPr wrap="square">
            <a:spAutoFit/>
          </a:bodyPr>
          <a:lstStyle/>
          <a:p>
            <a:pPr algn="just"/>
            <a:r>
              <a:rPr lang="es-MX" sz="1800" b="0" i="0" u="none" strike="noStrike" baseline="0" dirty="0">
                <a:solidFill>
                  <a:srgbClr val="000000"/>
                </a:solidFill>
                <a:latin typeface="Cambria" panose="02040503050406030204" pitchFamily="18" charset="0"/>
              </a:rPr>
              <a:t>CPP : Artículo 28º.- (Justicia comunitaria). Se extinguirá la acción penal cuando el delito o la falta se cometa dentro de una comunidad indígena y campesina por uno de sus miembros en contra de otro y sus autoridades naturales hayan resuelto el conflicto conforme a su Derecho Consuetudinario Indígena, siempre que dicha resolución no sea contraria a los derechos fundamentales y garantías de las personas establecidos por la Constitución Política del Estado. </a:t>
            </a:r>
          </a:p>
          <a:p>
            <a:r>
              <a:rPr lang="es-MX" sz="1800" b="0" i="0" u="none" strike="noStrike" baseline="0" dirty="0">
                <a:solidFill>
                  <a:srgbClr val="000000"/>
                </a:solidFill>
                <a:latin typeface="Cambria" panose="02040503050406030204" pitchFamily="18" charset="0"/>
              </a:rPr>
              <a:t>La Ley compatibilizará la aplicación del Derecho Consuetudinario Indígena. </a:t>
            </a:r>
            <a:endParaRPr lang="es-BO" dirty="0"/>
          </a:p>
        </p:txBody>
      </p:sp>
      <p:sp>
        <p:nvSpPr>
          <p:cNvPr id="9" name="CuadroTexto 8">
            <a:extLst>
              <a:ext uri="{FF2B5EF4-FFF2-40B4-BE49-F238E27FC236}">
                <a16:creationId xmlns:a16="http://schemas.microsoft.com/office/drawing/2014/main" id="{E47399DA-74AA-4B01-883F-8140B697A524}"/>
              </a:ext>
            </a:extLst>
          </p:cNvPr>
          <p:cNvSpPr txBox="1"/>
          <p:nvPr/>
        </p:nvSpPr>
        <p:spPr>
          <a:xfrm>
            <a:off x="1844566" y="2085438"/>
            <a:ext cx="9396246" cy="2585323"/>
          </a:xfrm>
          <a:custGeom>
            <a:avLst/>
            <a:gdLst>
              <a:gd name="connsiteX0" fmla="*/ 0 w 9396246"/>
              <a:gd name="connsiteY0" fmla="*/ 0 h 2585323"/>
              <a:gd name="connsiteX1" fmla="*/ 681228 w 9396246"/>
              <a:gd name="connsiteY1" fmla="*/ 0 h 2585323"/>
              <a:gd name="connsiteX2" fmla="*/ 1362456 w 9396246"/>
              <a:gd name="connsiteY2" fmla="*/ 0 h 2585323"/>
              <a:gd name="connsiteX3" fmla="*/ 1667834 w 9396246"/>
              <a:gd name="connsiteY3" fmla="*/ 0 h 2585323"/>
              <a:gd name="connsiteX4" fmla="*/ 2349062 w 9396246"/>
              <a:gd name="connsiteY4" fmla="*/ 0 h 2585323"/>
              <a:gd name="connsiteX5" fmla="*/ 2936327 w 9396246"/>
              <a:gd name="connsiteY5" fmla="*/ 0 h 2585323"/>
              <a:gd name="connsiteX6" fmla="*/ 3241705 w 9396246"/>
              <a:gd name="connsiteY6" fmla="*/ 0 h 2585323"/>
              <a:gd name="connsiteX7" fmla="*/ 3922933 w 9396246"/>
              <a:gd name="connsiteY7" fmla="*/ 0 h 2585323"/>
              <a:gd name="connsiteX8" fmla="*/ 4228311 w 9396246"/>
              <a:gd name="connsiteY8" fmla="*/ 0 h 2585323"/>
              <a:gd name="connsiteX9" fmla="*/ 4627651 w 9396246"/>
              <a:gd name="connsiteY9" fmla="*/ 0 h 2585323"/>
              <a:gd name="connsiteX10" fmla="*/ 4933029 w 9396246"/>
              <a:gd name="connsiteY10" fmla="*/ 0 h 2585323"/>
              <a:gd name="connsiteX11" fmla="*/ 5238407 w 9396246"/>
              <a:gd name="connsiteY11" fmla="*/ 0 h 2585323"/>
              <a:gd name="connsiteX12" fmla="*/ 5825673 w 9396246"/>
              <a:gd name="connsiteY12" fmla="*/ 0 h 2585323"/>
              <a:gd name="connsiteX13" fmla="*/ 6412938 w 9396246"/>
              <a:gd name="connsiteY13" fmla="*/ 0 h 2585323"/>
              <a:gd name="connsiteX14" fmla="*/ 7000203 w 9396246"/>
              <a:gd name="connsiteY14" fmla="*/ 0 h 2585323"/>
              <a:gd name="connsiteX15" fmla="*/ 7587469 w 9396246"/>
              <a:gd name="connsiteY15" fmla="*/ 0 h 2585323"/>
              <a:gd name="connsiteX16" fmla="*/ 8268696 w 9396246"/>
              <a:gd name="connsiteY16" fmla="*/ 0 h 2585323"/>
              <a:gd name="connsiteX17" fmla="*/ 8574074 w 9396246"/>
              <a:gd name="connsiteY17" fmla="*/ 0 h 2585323"/>
              <a:gd name="connsiteX18" fmla="*/ 9396246 w 9396246"/>
              <a:gd name="connsiteY18" fmla="*/ 0 h 2585323"/>
              <a:gd name="connsiteX19" fmla="*/ 9396246 w 9396246"/>
              <a:gd name="connsiteY19" fmla="*/ 439505 h 2585323"/>
              <a:gd name="connsiteX20" fmla="*/ 9396246 w 9396246"/>
              <a:gd name="connsiteY20" fmla="*/ 982423 h 2585323"/>
              <a:gd name="connsiteX21" fmla="*/ 9396246 w 9396246"/>
              <a:gd name="connsiteY21" fmla="*/ 1473634 h 2585323"/>
              <a:gd name="connsiteX22" fmla="*/ 9396246 w 9396246"/>
              <a:gd name="connsiteY22" fmla="*/ 2042405 h 2585323"/>
              <a:gd name="connsiteX23" fmla="*/ 9396246 w 9396246"/>
              <a:gd name="connsiteY23" fmla="*/ 2585323 h 2585323"/>
              <a:gd name="connsiteX24" fmla="*/ 8715018 w 9396246"/>
              <a:gd name="connsiteY24" fmla="*/ 2585323 h 2585323"/>
              <a:gd name="connsiteX25" fmla="*/ 8127753 w 9396246"/>
              <a:gd name="connsiteY25" fmla="*/ 2585323 h 2585323"/>
              <a:gd name="connsiteX26" fmla="*/ 7352562 w 9396246"/>
              <a:gd name="connsiteY26" fmla="*/ 2585323 h 2585323"/>
              <a:gd name="connsiteX27" fmla="*/ 7047185 w 9396246"/>
              <a:gd name="connsiteY27" fmla="*/ 2585323 h 2585323"/>
              <a:gd name="connsiteX28" fmla="*/ 6459919 w 9396246"/>
              <a:gd name="connsiteY28" fmla="*/ 2585323 h 2585323"/>
              <a:gd name="connsiteX29" fmla="*/ 5872654 w 9396246"/>
              <a:gd name="connsiteY29" fmla="*/ 2585323 h 2585323"/>
              <a:gd name="connsiteX30" fmla="*/ 5097463 w 9396246"/>
              <a:gd name="connsiteY30" fmla="*/ 2585323 h 2585323"/>
              <a:gd name="connsiteX31" fmla="*/ 4322273 w 9396246"/>
              <a:gd name="connsiteY31" fmla="*/ 2585323 h 2585323"/>
              <a:gd name="connsiteX32" fmla="*/ 3922933 w 9396246"/>
              <a:gd name="connsiteY32" fmla="*/ 2585323 h 2585323"/>
              <a:gd name="connsiteX33" fmla="*/ 3241705 w 9396246"/>
              <a:gd name="connsiteY33" fmla="*/ 2585323 h 2585323"/>
              <a:gd name="connsiteX34" fmla="*/ 2654439 w 9396246"/>
              <a:gd name="connsiteY34" fmla="*/ 2585323 h 2585323"/>
              <a:gd name="connsiteX35" fmla="*/ 1879249 w 9396246"/>
              <a:gd name="connsiteY35" fmla="*/ 2585323 h 2585323"/>
              <a:gd name="connsiteX36" fmla="*/ 1291984 w 9396246"/>
              <a:gd name="connsiteY36" fmla="*/ 2585323 h 2585323"/>
              <a:gd name="connsiteX37" fmla="*/ 986606 w 9396246"/>
              <a:gd name="connsiteY37" fmla="*/ 2585323 h 2585323"/>
              <a:gd name="connsiteX38" fmla="*/ 681228 w 9396246"/>
              <a:gd name="connsiteY38" fmla="*/ 2585323 h 2585323"/>
              <a:gd name="connsiteX39" fmla="*/ 0 w 9396246"/>
              <a:gd name="connsiteY39" fmla="*/ 2585323 h 2585323"/>
              <a:gd name="connsiteX40" fmla="*/ 0 w 9396246"/>
              <a:gd name="connsiteY40" fmla="*/ 2068258 h 2585323"/>
              <a:gd name="connsiteX41" fmla="*/ 0 w 9396246"/>
              <a:gd name="connsiteY41" fmla="*/ 1577047 h 2585323"/>
              <a:gd name="connsiteX42" fmla="*/ 0 w 9396246"/>
              <a:gd name="connsiteY42" fmla="*/ 1034129 h 2585323"/>
              <a:gd name="connsiteX43" fmla="*/ 0 w 9396246"/>
              <a:gd name="connsiteY43" fmla="*/ 465358 h 2585323"/>
              <a:gd name="connsiteX44" fmla="*/ 0 w 9396246"/>
              <a:gd name="connsiteY44" fmla="*/ 0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396246" h="2585323" extrusionOk="0">
                <a:moveTo>
                  <a:pt x="0" y="0"/>
                </a:moveTo>
                <a:cubicBezTo>
                  <a:pt x="304194" y="-76778"/>
                  <a:pt x="511345" y="43313"/>
                  <a:pt x="681228" y="0"/>
                </a:cubicBezTo>
                <a:cubicBezTo>
                  <a:pt x="851111" y="-43313"/>
                  <a:pt x="1096391" y="51858"/>
                  <a:pt x="1362456" y="0"/>
                </a:cubicBezTo>
                <a:cubicBezTo>
                  <a:pt x="1628521" y="-51858"/>
                  <a:pt x="1593906" y="21598"/>
                  <a:pt x="1667834" y="0"/>
                </a:cubicBezTo>
                <a:cubicBezTo>
                  <a:pt x="1741762" y="-21598"/>
                  <a:pt x="2081603" y="77281"/>
                  <a:pt x="2349062" y="0"/>
                </a:cubicBezTo>
                <a:cubicBezTo>
                  <a:pt x="2616521" y="-77281"/>
                  <a:pt x="2728984" y="60049"/>
                  <a:pt x="2936327" y="0"/>
                </a:cubicBezTo>
                <a:cubicBezTo>
                  <a:pt x="3143671" y="-60049"/>
                  <a:pt x="3129032" y="26975"/>
                  <a:pt x="3241705" y="0"/>
                </a:cubicBezTo>
                <a:cubicBezTo>
                  <a:pt x="3354378" y="-26975"/>
                  <a:pt x="3611748" y="45761"/>
                  <a:pt x="3922933" y="0"/>
                </a:cubicBezTo>
                <a:cubicBezTo>
                  <a:pt x="4234118" y="-45761"/>
                  <a:pt x="4079346" y="14455"/>
                  <a:pt x="4228311" y="0"/>
                </a:cubicBezTo>
                <a:cubicBezTo>
                  <a:pt x="4377276" y="-14455"/>
                  <a:pt x="4445126" y="2169"/>
                  <a:pt x="4627651" y="0"/>
                </a:cubicBezTo>
                <a:cubicBezTo>
                  <a:pt x="4810176" y="-2169"/>
                  <a:pt x="4860467" y="34421"/>
                  <a:pt x="4933029" y="0"/>
                </a:cubicBezTo>
                <a:cubicBezTo>
                  <a:pt x="5005591" y="-34421"/>
                  <a:pt x="5121481" y="9834"/>
                  <a:pt x="5238407" y="0"/>
                </a:cubicBezTo>
                <a:cubicBezTo>
                  <a:pt x="5355333" y="-9834"/>
                  <a:pt x="5587713" y="28149"/>
                  <a:pt x="5825673" y="0"/>
                </a:cubicBezTo>
                <a:cubicBezTo>
                  <a:pt x="6063633" y="-28149"/>
                  <a:pt x="6233140" y="13187"/>
                  <a:pt x="6412938" y="0"/>
                </a:cubicBezTo>
                <a:cubicBezTo>
                  <a:pt x="6592737" y="-13187"/>
                  <a:pt x="6752954" y="18233"/>
                  <a:pt x="7000203" y="0"/>
                </a:cubicBezTo>
                <a:cubicBezTo>
                  <a:pt x="7247453" y="-18233"/>
                  <a:pt x="7469070" y="58242"/>
                  <a:pt x="7587469" y="0"/>
                </a:cubicBezTo>
                <a:cubicBezTo>
                  <a:pt x="7705868" y="-58242"/>
                  <a:pt x="8097564" y="18276"/>
                  <a:pt x="8268696" y="0"/>
                </a:cubicBezTo>
                <a:cubicBezTo>
                  <a:pt x="8439828" y="-18276"/>
                  <a:pt x="8422391" y="31902"/>
                  <a:pt x="8574074" y="0"/>
                </a:cubicBezTo>
                <a:cubicBezTo>
                  <a:pt x="8725757" y="-31902"/>
                  <a:pt x="9097150" y="29438"/>
                  <a:pt x="9396246" y="0"/>
                </a:cubicBezTo>
                <a:cubicBezTo>
                  <a:pt x="9416063" y="176556"/>
                  <a:pt x="9376379" y="297945"/>
                  <a:pt x="9396246" y="439505"/>
                </a:cubicBezTo>
                <a:cubicBezTo>
                  <a:pt x="9416113" y="581066"/>
                  <a:pt x="9374773" y="711174"/>
                  <a:pt x="9396246" y="982423"/>
                </a:cubicBezTo>
                <a:cubicBezTo>
                  <a:pt x="9417719" y="1253672"/>
                  <a:pt x="9373014" y="1310933"/>
                  <a:pt x="9396246" y="1473634"/>
                </a:cubicBezTo>
                <a:cubicBezTo>
                  <a:pt x="9419478" y="1636335"/>
                  <a:pt x="9395292" y="1765138"/>
                  <a:pt x="9396246" y="2042405"/>
                </a:cubicBezTo>
                <a:cubicBezTo>
                  <a:pt x="9397200" y="2319672"/>
                  <a:pt x="9387923" y="2326530"/>
                  <a:pt x="9396246" y="2585323"/>
                </a:cubicBezTo>
                <a:cubicBezTo>
                  <a:pt x="9107425" y="2635822"/>
                  <a:pt x="9036514" y="2531016"/>
                  <a:pt x="8715018" y="2585323"/>
                </a:cubicBezTo>
                <a:cubicBezTo>
                  <a:pt x="8393522" y="2639630"/>
                  <a:pt x="8373077" y="2560989"/>
                  <a:pt x="8127753" y="2585323"/>
                </a:cubicBezTo>
                <a:cubicBezTo>
                  <a:pt x="7882430" y="2609657"/>
                  <a:pt x="7638784" y="2496611"/>
                  <a:pt x="7352562" y="2585323"/>
                </a:cubicBezTo>
                <a:cubicBezTo>
                  <a:pt x="7066340" y="2674035"/>
                  <a:pt x="7160965" y="2575001"/>
                  <a:pt x="7047185" y="2585323"/>
                </a:cubicBezTo>
                <a:cubicBezTo>
                  <a:pt x="6933405" y="2595645"/>
                  <a:pt x="6631311" y="2572699"/>
                  <a:pt x="6459919" y="2585323"/>
                </a:cubicBezTo>
                <a:cubicBezTo>
                  <a:pt x="6288527" y="2597947"/>
                  <a:pt x="6118112" y="2575124"/>
                  <a:pt x="5872654" y="2585323"/>
                </a:cubicBezTo>
                <a:cubicBezTo>
                  <a:pt x="5627196" y="2595522"/>
                  <a:pt x="5403417" y="2521502"/>
                  <a:pt x="5097463" y="2585323"/>
                </a:cubicBezTo>
                <a:cubicBezTo>
                  <a:pt x="4791509" y="2649144"/>
                  <a:pt x="4537534" y="2520348"/>
                  <a:pt x="4322273" y="2585323"/>
                </a:cubicBezTo>
                <a:cubicBezTo>
                  <a:pt x="4107012" y="2650298"/>
                  <a:pt x="4061189" y="2576629"/>
                  <a:pt x="3922933" y="2585323"/>
                </a:cubicBezTo>
                <a:cubicBezTo>
                  <a:pt x="3784677" y="2594017"/>
                  <a:pt x="3409957" y="2517163"/>
                  <a:pt x="3241705" y="2585323"/>
                </a:cubicBezTo>
                <a:cubicBezTo>
                  <a:pt x="3073453" y="2653483"/>
                  <a:pt x="2903437" y="2530903"/>
                  <a:pt x="2654439" y="2585323"/>
                </a:cubicBezTo>
                <a:cubicBezTo>
                  <a:pt x="2405441" y="2639743"/>
                  <a:pt x="2064553" y="2573795"/>
                  <a:pt x="1879249" y="2585323"/>
                </a:cubicBezTo>
                <a:cubicBezTo>
                  <a:pt x="1693945" y="2596851"/>
                  <a:pt x="1469528" y="2542482"/>
                  <a:pt x="1291984" y="2585323"/>
                </a:cubicBezTo>
                <a:cubicBezTo>
                  <a:pt x="1114441" y="2628164"/>
                  <a:pt x="1096863" y="2570771"/>
                  <a:pt x="986606" y="2585323"/>
                </a:cubicBezTo>
                <a:cubicBezTo>
                  <a:pt x="876349" y="2599875"/>
                  <a:pt x="819768" y="2552620"/>
                  <a:pt x="681228" y="2585323"/>
                </a:cubicBezTo>
                <a:cubicBezTo>
                  <a:pt x="542688" y="2618026"/>
                  <a:pt x="192455" y="2528892"/>
                  <a:pt x="0" y="2585323"/>
                </a:cubicBezTo>
                <a:cubicBezTo>
                  <a:pt x="-21250" y="2383002"/>
                  <a:pt x="40225" y="2192963"/>
                  <a:pt x="0" y="2068258"/>
                </a:cubicBezTo>
                <a:cubicBezTo>
                  <a:pt x="-40225" y="1943554"/>
                  <a:pt x="15023" y="1748722"/>
                  <a:pt x="0" y="1577047"/>
                </a:cubicBezTo>
                <a:cubicBezTo>
                  <a:pt x="-15023" y="1405372"/>
                  <a:pt x="40931" y="1300400"/>
                  <a:pt x="0" y="1034129"/>
                </a:cubicBezTo>
                <a:cubicBezTo>
                  <a:pt x="-40931" y="767858"/>
                  <a:pt x="58177" y="588568"/>
                  <a:pt x="0" y="465358"/>
                </a:cubicBezTo>
                <a:cubicBezTo>
                  <a:pt x="-58177" y="342148"/>
                  <a:pt x="17974" y="115032"/>
                  <a:pt x="0" y="0"/>
                </a:cubicBezTo>
                <a:close/>
              </a:path>
            </a:pathLst>
          </a:custGeom>
          <a:noFill/>
          <a:ln w="57150">
            <a:solidFill>
              <a:srgbClr val="FF0000"/>
            </a:solidFill>
            <a:extLst>
              <a:ext uri="{C807C97D-BFC1-408E-A445-0C87EB9F89A2}">
                <ask:lineSketchStyleProps xmlns:ask="http://schemas.microsoft.com/office/drawing/2018/sketchyshapes" sd="4155484727">
                  <a:prstGeom prst="rect">
                    <a:avLst/>
                  </a:prstGeom>
                  <ask:type>
                    <ask:lineSketchScribble/>
                  </ask:type>
                </ask:lineSketchStyleProps>
              </a:ext>
            </a:extLst>
          </a:ln>
        </p:spPr>
        <p:txBody>
          <a:bodyPr wrap="square">
            <a:spAutoFit/>
          </a:bodyPr>
          <a:lstStyle/>
          <a:p>
            <a:pPr algn="just"/>
            <a:r>
              <a:rPr lang="es-MX" b="1" dirty="0">
                <a:solidFill>
                  <a:srgbClr val="000000"/>
                </a:solidFill>
                <a:latin typeface="Arial" panose="020B0604020202020204" pitchFamily="34" charset="0"/>
                <a:cs typeface="Arial" panose="020B0604020202020204" pitchFamily="34" charset="0"/>
              </a:rPr>
              <a:t>(</a:t>
            </a:r>
            <a:r>
              <a:rPr lang="es-MX" sz="1800" b="0" i="0" u="none" strike="noStrike" baseline="0" dirty="0">
                <a:solidFill>
                  <a:srgbClr val="000000"/>
                </a:solidFill>
                <a:latin typeface="Cambria" panose="02040503050406030204" pitchFamily="18" charset="0"/>
              </a:rPr>
              <a:t>SCP 0890/2013, FJ. III.3. “El principio de igualdad jerárquica entre la jurisdicción IOC y la jurisdicción ordinaria no sólo implica igualdad en lo referente a la aplicación de las normas jurídicas (jurisdicción), sino que la igualdad se extiende a todo el sistema jurídico, es decir, a sus normas, a sus procedimientos, a sus autoridades y a </a:t>
            </a:r>
            <a:r>
              <a:rPr lang="es-MX" sz="1800" b="1" i="0" u="none" strike="noStrike" baseline="0" dirty="0">
                <a:solidFill>
                  <a:srgbClr val="000000"/>
                </a:solidFill>
                <a:latin typeface="Cambria" panose="02040503050406030204" pitchFamily="18" charset="0"/>
              </a:rPr>
              <a:t>todas las resoluciones que pronuncien y los actos que realicen; los cuales, en consecuencia, están dotados del mismo valor y la misma fuerza que los efectuados por las autoridades de la jurisdicción ordinaria</a:t>
            </a:r>
            <a:r>
              <a:rPr lang="es-MX" sz="1800" b="0" i="0" u="none" strike="noStrike" baseline="0" dirty="0">
                <a:solidFill>
                  <a:srgbClr val="000000"/>
                </a:solidFill>
                <a:latin typeface="Cambria" panose="02040503050406030204" pitchFamily="18" charset="0"/>
              </a:rPr>
              <a:t>"; añadiendo posteriormente, al resolver el caso, que la parte demandada ha adjuntado documentación y certificaciones otorgadas por las autoridades del sistema) IOC, las cuales tiene igual jerarquía que las provenientes del sistema ordinario. </a:t>
            </a:r>
            <a:endParaRPr lang="es-BO" dirty="0"/>
          </a:p>
        </p:txBody>
      </p:sp>
      <p:sp>
        <p:nvSpPr>
          <p:cNvPr id="11" name="Flecha: curvada hacia la izquierda 10">
            <a:extLst>
              <a:ext uri="{FF2B5EF4-FFF2-40B4-BE49-F238E27FC236}">
                <a16:creationId xmlns:a16="http://schemas.microsoft.com/office/drawing/2014/main" id="{3DA18F91-77BF-44EB-B760-ACB5137F66BB}"/>
              </a:ext>
            </a:extLst>
          </p:cNvPr>
          <p:cNvSpPr/>
          <p:nvPr/>
        </p:nvSpPr>
        <p:spPr>
          <a:xfrm rot="20688264">
            <a:off x="9797957" y="1492966"/>
            <a:ext cx="935421" cy="627577"/>
          </a:xfrm>
          <a:prstGeom prst="curved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solidFill>
                <a:schemeClr val="tx1"/>
              </a:solidFill>
            </a:endParaRPr>
          </a:p>
        </p:txBody>
      </p:sp>
      <p:sp>
        <p:nvSpPr>
          <p:cNvPr id="6" name="CuadroTexto 5">
            <a:extLst>
              <a:ext uri="{FF2B5EF4-FFF2-40B4-BE49-F238E27FC236}">
                <a16:creationId xmlns:a16="http://schemas.microsoft.com/office/drawing/2014/main" id="{5D072F65-30E1-4E4C-B7FF-60FBF5697F62}"/>
              </a:ext>
            </a:extLst>
          </p:cNvPr>
          <p:cNvSpPr txBox="1"/>
          <p:nvPr/>
        </p:nvSpPr>
        <p:spPr>
          <a:xfrm>
            <a:off x="0" y="67648"/>
            <a:ext cx="3436882" cy="307777"/>
          </a:xfrm>
          <a:prstGeom prst="rect">
            <a:avLst/>
          </a:prstGeom>
          <a:solidFill>
            <a:schemeClr val="bg1">
              <a:lumMod val="85000"/>
            </a:schemeClr>
          </a:solid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a. fue resuelto por la jurisdicción IOC</a:t>
            </a:r>
            <a:endParaRPr kumimoji="0" lang="es-BO" sz="14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83119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FCFF8F4-FD98-4195-B9DE-36239638B813}"/>
              </a:ext>
            </a:extLst>
          </p:cNvPr>
          <p:cNvSpPr txBox="1"/>
          <p:nvPr/>
        </p:nvSpPr>
        <p:spPr>
          <a:xfrm>
            <a:off x="3752193" y="272534"/>
            <a:ext cx="3531476" cy="369332"/>
          </a:xfrm>
          <a:prstGeom prst="rect">
            <a:avLst/>
          </a:prstGeom>
          <a:noFill/>
          <a:ln>
            <a:solidFill>
              <a:srgbClr val="FF0000"/>
            </a:solidFill>
          </a:ln>
        </p:spPr>
        <p:txBody>
          <a:bodyPr wrap="square">
            <a:spAutoFit/>
          </a:bodyPr>
          <a:lstStyle/>
          <a:p>
            <a:r>
              <a:rPr lang="es-MX" sz="1800" b="0" i="0" u="none" strike="noStrike" baseline="0" dirty="0">
                <a:solidFill>
                  <a:srgbClr val="000000"/>
                </a:solidFill>
                <a:latin typeface="Cambria" panose="02040503050406030204" pitchFamily="18" charset="0"/>
              </a:rPr>
              <a:t>¿Cómo actuar en estos casos? </a:t>
            </a:r>
            <a:endParaRPr lang="es-BO" dirty="0"/>
          </a:p>
        </p:txBody>
      </p:sp>
      <p:sp>
        <p:nvSpPr>
          <p:cNvPr id="7" name="CuadroTexto 6">
            <a:extLst>
              <a:ext uri="{FF2B5EF4-FFF2-40B4-BE49-F238E27FC236}">
                <a16:creationId xmlns:a16="http://schemas.microsoft.com/office/drawing/2014/main" id="{60712C08-773E-49B8-B9EA-A6BAE5A7450A}"/>
              </a:ext>
            </a:extLst>
          </p:cNvPr>
          <p:cNvSpPr txBox="1"/>
          <p:nvPr/>
        </p:nvSpPr>
        <p:spPr>
          <a:xfrm>
            <a:off x="399393" y="755330"/>
            <a:ext cx="11445766" cy="1200329"/>
          </a:xfrm>
          <a:prstGeom prst="rect">
            <a:avLst/>
          </a:prstGeom>
          <a:noFill/>
          <a:ln>
            <a:solidFill>
              <a:srgbClr val="FF0000"/>
            </a:solidFill>
          </a:ln>
        </p:spPr>
        <p:txBody>
          <a:bodyPr wrap="square">
            <a:spAutoFit/>
          </a:bodyPr>
          <a:lstStyle/>
          <a:p>
            <a:r>
              <a:rPr lang="es-MX" sz="1800" b="0" i="0" u="none" strike="noStrike" baseline="0" dirty="0">
                <a:solidFill>
                  <a:srgbClr val="000000"/>
                </a:solidFill>
                <a:latin typeface="Cambria" panose="02040503050406030204" pitchFamily="18" charset="0"/>
              </a:rPr>
              <a:t>El caso hubiera sido resuelto, pero , </a:t>
            </a:r>
          </a:p>
          <a:p>
            <a:pPr marL="342900" indent="-342900" algn="just">
              <a:buFont typeface="+mj-lt"/>
              <a:buAutoNum type="arabicPeriod"/>
            </a:pPr>
            <a:r>
              <a:rPr lang="es-MX" dirty="0">
                <a:solidFill>
                  <a:srgbClr val="000000"/>
                </a:solidFill>
                <a:latin typeface="Cambria" panose="02040503050406030204" pitchFamily="18" charset="0"/>
              </a:rPr>
              <a:t>N</a:t>
            </a:r>
            <a:r>
              <a:rPr lang="es-MX" sz="1800" b="0" i="0" u="none" strike="noStrike" baseline="0" dirty="0">
                <a:solidFill>
                  <a:srgbClr val="000000"/>
                </a:solidFill>
                <a:latin typeface="Cambria" panose="02040503050406030204" pitchFamily="18" charset="0"/>
              </a:rPr>
              <a:t>o se cumplen con los ámbitos de vigencia de la jurisdicción IOC, o </a:t>
            </a:r>
            <a:endParaRPr lang="es-MX" dirty="0">
              <a:solidFill>
                <a:srgbClr val="000000"/>
              </a:solidFill>
              <a:latin typeface="Cambria" panose="02040503050406030204" pitchFamily="18" charset="0"/>
            </a:endParaRPr>
          </a:p>
          <a:p>
            <a:pPr marL="342900" indent="-342900" algn="just">
              <a:buFont typeface="+mj-lt"/>
              <a:buAutoNum type="arabicPeriod"/>
            </a:pPr>
            <a:r>
              <a:rPr lang="es-MX" sz="1800" b="0" i="0" u="none" strike="noStrike" baseline="0" dirty="0">
                <a:solidFill>
                  <a:srgbClr val="000000"/>
                </a:solidFill>
                <a:latin typeface="Cambria" panose="02040503050406030204" pitchFamily="18" charset="0"/>
              </a:rPr>
              <a:t>la solución adoptada no sea compatible con los estándares internacionales sobre derechos humanos vinculados a las personas en situación de vulnerabilidad: </a:t>
            </a:r>
            <a:endParaRPr lang="es-BO" dirty="0"/>
          </a:p>
        </p:txBody>
      </p:sp>
      <p:sp>
        <p:nvSpPr>
          <p:cNvPr id="9" name="CuadroTexto 8">
            <a:extLst>
              <a:ext uri="{FF2B5EF4-FFF2-40B4-BE49-F238E27FC236}">
                <a16:creationId xmlns:a16="http://schemas.microsoft.com/office/drawing/2014/main" id="{7069EEBB-EB5F-4633-BEB1-258C098BFE8E}"/>
              </a:ext>
            </a:extLst>
          </p:cNvPr>
          <p:cNvSpPr txBox="1"/>
          <p:nvPr/>
        </p:nvSpPr>
        <p:spPr>
          <a:xfrm>
            <a:off x="189187" y="2192195"/>
            <a:ext cx="5822731" cy="1477328"/>
          </a:xfrm>
          <a:custGeom>
            <a:avLst/>
            <a:gdLst>
              <a:gd name="connsiteX0" fmla="*/ 0 w 5822731"/>
              <a:gd name="connsiteY0" fmla="*/ 0 h 1477328"/>
              <a:gd name="connsiteX1" fmla="*/ 407591 w 5822731"/>
              <a:gd name="connsiteY1" fmla="*/ 0 h 1477328"/>
              <a:gd name="connsiteX2" fmla="*/ 1048092 w 5822731"/>
              <a:gd name="connsiteY2" fmla="*/ 0 h 1477328"/>
              <a:gd name="connsiteX3" fmla="*/ 1572137 w 5822731"/>
              <a:gd name="connsiteY3" fmla="*/ 0 h 1477328"/>
              <a:gd name="connsiteX4" fmla="*/ 2212638 w 5822731"/>
              <a:gd name="connsiteY4" fmla="*/ 0 h 1477328"/>
              <a:gd name="connsiteX5" fmla="*/ 2736684 w 5822731"/>
              <a:gd name="connsiteY5" fmla="*/ 0 h 1477328"/>
              <a:gd name="connsiteX6" fmla="*/ 3260729 w 5822731"/>
              <a:gd name="connsiteY6" fmla="*/ 0 h 1477328"/>
              <a:gd name="connsiteX7" fmla="*/ 3726548 w 5822731"/>
              <a:gd name="connsiteY7" fmla="*/ 0 h 1477328"/>
              <a:gd name="connsiteX8" fmla="*/ 4250594 w 5822731"/>
              <a:gd name="connsiteY8" fmla="*/ 0 h 1477328"/>
              <a:gd name="connsiteX9" fmla="*/ 4891094 w 5822731"/>
              <a:gd name="connsiteY9" fmla="*/ 0 h 1477328"/>
              <a:gd name="connsiteX10" fmla="*/ 5822731 w 5822731"/>
              <a:gd name="connsiteY10" fmla="*/ 0 h 1477328"/>
              <a:gd name="connsiteX11" fmla="*/ 5822731 w 5822731"/>
              <a:gd name="connsiteY11" fmla="*/ 492443 h 1477328"/>
              <a:gd name="connsiteX12" fmla="*/ 5822731 w 5822731"/>
              <a:gd name="connsiteY12" fmla="*/ 984885 h 1477328"/>
              <a:gd name="connsiteX13" fmla="*/ 5822731 w 5822731"/>
              <a:gd name="connsiteY13" fmla="*/ 1477328 h 1477328"/>
              <a:gd name="connsiteX14" fmla="*/ 5240458 w 5822731"/>
              <a:gd name="connsiteY14" fmla="*/ 1477328 h 1477328"/>
              <a:gd name="connsiteX15" fmla="*/ 4658185 w 5822731"/>
              <a:gd name="connsiteY15" fmla="*/ 1477328 h 1477328"/>
              <a:gd name="connsiteX16" fmla="*/ 4017684 w 5822731"/>
              <a:gd name="connsiteY16" fmla="*/ 1477328 h 1477328"/>
              <a:gd name="connsiteX17" fmla="*/ 3435411 w 5822731"/>
              <a:gd name="connsiteY17" fmla="*/ 1477328 h 1477328"/>
              <a:gd name="connsiteX18" fmla="*/ 2794911 w 5822731"/>
              <a:gd name="connsiteY18" fmla="*/ 1477328 h 1477328"/>
              <a:gd name="connsiteX19" fmla="*/ 2270865 w 5822731"/>
              <a:gd name="connsiteY19" fmla="*/ 1477328 h 1477328"/>
              <a:gd name="connsiteX20" fmla="*/ 1746819 w 5822731"/>
              <a:gd name="connsiteY20" fmla="*/ 1477328 h 1477328"/>
              <a:gd name="connsiteX21" fmla="*/ 1106319 w 5822731"/>
              <a:gd name="connsiteY21" fmla="*/ 1477328 h 1477328"/>
              <a:gd name="connsiteX22" fmla="*/ 0 w 5822731"/>
              <a:gd name="connsiteY22" fmla="*/ 1477328 h 1477328"/>
              <a:gd name="connsiteX23" fmla="*/ 0 w 5822731"/>
              <a:gd name="connsiteY23" fmla="*/ 970112 h 1477328"/>
              <a:gd name="connsiteX24" fmla="*/ 0 w 5822731"/>
              <a:gd name="connsiteY24" fmla="*/ 492443 h 1477328"/>
              <a:gd name="connsiteX25" fmla="*/ 0 w 5822731"/>
              <a:gd name="connsiteY25" fmla="*/ 0 h 1477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22731" h="1477328" extrusionOk="0">
                <a:moveTo>
                  <a:pt x="0" y="0"/>
                </a:moveTo>
                <a:cubicBezTo>
                  <a:pt x="194243" y="-28703"/>
                  <a:pt x="214455" y="8045"/>
                  <a:pt x="407591" y="0"/>
                </a:cubicBezTo>
                <a:cubicBezTo>
                  <a:pt x="600727" y="-8045"/>
                  <a:pt x="728557" y="28869"/>
                  <a:pt x="1048092" y="0"/>
                </a:cubicBezTo>
                <a:cubicBezTo>
                  <a:pt x="1367627" y="-28869"/>
                  <a:pt x="1410085" y="42182"/>
                  <a:pt x="1572137" y="0"/>
                </a:cubicBezTo>
                <a:cubicBezTo>
                  <a:pt x="1734189" y="-42182"/>
                  <a:pt x="2082460" y="44193"/>
                  <a:pt x="2212638" y="0"/>
                </a:cubicBezTo>
                <a:cubicBezTo>
                  <a:pt x="2342816" y="-44193"/>
                  <a:pt x="2625050" y="42926"/>
                  <a:pt x="2736684" y="0"/>
                </a:cubicBezTo>
                <a:cubicBezTo>
                  <a:pt x="2848318" y="-42926"/>
                  <a:pt x="3060326" y="35622"/>
                  <a:pt x="3260729" y="0"/>
                </a:cubicBezTo>
                <a:cubicBezTo>
                  <a:pt x="3461133" y="-35622"/>
                  <a:pt x="3629884" y="1175"/>
                  <a:pt x="3726548" y="0"/>
                </a:cubicBezTo>
                <a:cubicBezTo>
                  <a:pt x="3823212" y="-1175"/>
                  <a:pt x="4117991" y="60127"/>
                  <a:pt x="4250594" y="0"/>
                </a:cubicBezTo>
                <a:cubicBezTo>
                  <a:pt x="4383197" y="-60127"/>
                  <a:pt x="4676109" y="66663"/>
                  <a:pt x="4891094" y="0"/>
                </a:cubicBezTo>
                <a:cubicBezTo>
                  <a:pt x="5106079" y="-66663"/>
                  <a:pt x="5631505" y="86385"/>
                  <a:pt x="5822731" y="0"/>
                </a:cubicBezTo>
                <a:cubicBezTo>
                  <a:pt x="5855322" y="126466"/>
                  <a:pt x="5821874" y="323479"/>
                  <a:pt x="5822731" y="492443"/>
                </a:cubicBezTo>
                <a:cubicBezTo>
                  <a:pt x="5823588" y="661407"/>
                  <a:pt x="5791152" y="862592"/>
                  <a:pt x="5822731" y="984885"/>
                </a:cubicBezTo>
                <a:cubicBezTo>
                  <a:pt x="5854310" y="1107178"/>
                  <a:pt x="5783896" y="1298682"/>
                  <a:pt x="5822731" y="1477328"/>
                </a:cubicBezTo>
                <a:cubicBezTo>
                  <a:pt x="5652469" y="1486005"/>
                  <a:pt x="5393142" y="1455052"/>
                  <a:pt x="5240458" y="1477328"/>
                </a:cubicBezTo>
                <a:cubicBezTo>
                  <a:pt x="5087774" y="1499604"/>
                  <a:pt x="4824206" y="1422086"/>
                  <a:pt x="4658185" y="1477328"/>
                </a:cubicBezTo>
                <a:cubicBezTo>
                  <a:pt x="4492164" y="1532570"/>
                  <a:pt x="4235082" y="1408371"/>
                  <a:pt x="4017684" y="1477328"/>
                </a:cubicBezTo>
                <a:cubicBezTo>
                  <a:pt x="3800286" y="1546285"/>
                  <a:pt x="3579846" y="1469408"/>
                  <a:pt x="3435411" y="1477328"/>
                </a:cubicBezTo>
                <a:cubicBezTo>
                  <a:pt x="3290976" y="1485248"/>
                  <a:pt x="3086539" y="1458441"/>
                  <a:pt x="2794911" y="1477328"/>
                </a:cubicBezTo>
                <a:cubicBezTo>
                  <a:pt x="2503283" y="1496215"/>
                  <a:pt x="2430557" y="1463520"/>
                  <a:pt x="2270865" y="1477328"/>
                </a:cubicBezTo>
                <a:cubicBezTo>
                  <a:pt x="2111173" y="1491136"/>
                  <a:pt x="1965755" y="1423657"/>
                  <a:pt x="1746819" y="1477328"/>
                </a:cubicBezTo>
                <a:cubicBezTo>
                  <a:pt x="1527883" y="1530999"/>
                  <a:pt x="1296828" y="1447469"/>
                  <a:pt x="1106319" y="1477328"/>
                </a:cubicBezTo>
                <a:cubicBezTo>
                  <a:pt x="915810" y="1507187"/>
                  <a:pt x="348662" y="1360469"/>
                  <a:pt x="0" y="1477328"/>
                </a:cubicBezTo>
                <a:cubicBezTo>
                  <a:pt x="-45146" y="1278564"/>
                  <a:pt x="38781" y="1125946"/>
                  <a:pt x="0" y="970112"/>
                </a:cubicBezTo>
                <a:cubicBezTo>
                  <a:pt x="-38781" y="814278"/>
                  <a:pt x="45642" y="670528"/>
                  <a:pt x="0" y="492443"/>
                </a:cubicBezTo>
                <a:cubicBezTo>
                  <a:pt x="-45642" y="314358"/>
                  <a:pt x="26626" y="230511"/>
                  <a:pt x="0" y="0"/>
                </a:cubicBezTo>
                <a:close/>
              </a:path>
            </a:pathLst>
          </a:custGeom>
          <a:noFill/>
          <a:ln w="57150">
            <a:solidFill>
              <a:schemeClr val="accent6">
                <a:lumMod val="50000"/>
              </a:schemeClr>
            </a:solidFill>
            <a:extLst>
              <a:ext uri="{C807C97D-BFC1-408E-A445-0C87EB9F89A2}">
                <ask:lineSketchStyleProps xmlns:ask="http://schemas.microsoft.com/office/drawing/2018/sketchyshapes" sd="607199069">
                  <a:prstGeom prst="rect">
                    <a:avLst/>
                  </a:prstGeom>
                  <ask:type>
                    <ask:lineSketchScribble/>
                  </ask:type>
                </ask:lineSketchStyleProps>
              </a:ext>
            </a:extLst>
          </a:ln>
        </p:spPr>
        <p:txBody>
          <a:bodyPr wrap="square">
            <a:spAutoFit/>
          </a:bodyPr>
          <a:lstStyle/>
          <a:p>
            <a:pPr algn="just"/>
            <a:r>
              <a:rPr lang="es-MX" sz="1800" b="0" i="0" u="none" strike="noStrike" baseline="0" dirty="0">
                <a:solidFill>
                  <a:srgbClr val="000000"/>
                </a:solidFill>
                <a:latin typeface="Cambria" panose="02040503050406030204" pitchFamily="18" charset="0"/>
              </a:rPr>
              <a:t>Principio de pluralismo jurídico igualitario supone que las autoridades judiciales no tienen competencia para revisar, desconocer o criminalizar a la jurisdicción IOC y que sólo la justicia constitucional, tiene competencia para revisar las resoluciones de la jurisdicción IOC</a:t>
            </a:r>
            <a:endParaRPr lang="es-BO" dirty="0"/>
          </a:p>
        </p:txBody>
      </p:sp>
      <p:sp>
        <p:nvSpPr>
          <p:cNvPr id="11" name="CuadroTexto 10">
            <a:extLst>
              <a:ext uri="{FF2B5EF4-FFF2-40B4-BE49-F238E27FC236}">
                <a16:creationId xmlns:a16="http://schemas.microsoft.com/office/drawing/2014/main" id="{4AE64B8B-DD5C-4B5C-AB2E-E51D43317342}"/>
              </a:ext>
            </a:extLst>
          </p:cNvPr>
          <p:cNvSpPr txBox="1"/>
          <p:nvPr/>
        </p:nvSpPr>
        <p:spPr>
          <a:xfrm>
            <a:off x="6180083" y="2069123"/>
            <a:ext cx="5665076" cy="1754326"/>
          </a:xfrm>
          <a:custGeom>
            <a:avLst/>
            <a:gdLst>
              <a:gd name="connsiteX0" fmla="*/ 0 w 5665076"/>
              <a:gd name="connsiteY0" fmla="*/ 0 h 1754326"/>
              <a:gd name="connsiteX1" fmla="*/ 679809 w 5665076"/>
              <a:gd name="connsiteY1" fmla="*/ 0 h 1754326"/>
              <a:gd name="connsiteX2" fmla="*/ 1189666 w 5665076"/>
              <a:gd name="connsiteY2" fmla="*/ 0 h 1754326"/>
              <a:gd name="connsiteX3" fmla="*/ 1869475 w 5665076"/>
              <a:gd name="connsiteY3" fmla="*/ 0 h 1754326"/>
              <a:gd name="connsiteX4" fmla="*/ 2549284 w 5665076"/>
              <a:gd name="connsiteY4" fmla="*/ 0 h 1754326"/>
              <a:gd name="connsiteX5" fmla="*/ 3002490 w 5665076"/>
              <a:gd name="connsiteY5" fmla="*/ 0 h 1754326"/>
              <a:gd name="connsiteX6" fmla="*/ 3625649 w 5665076"/>
              <a:gd name="connsiteY6" fmla="*/ 0 h 1754326"/>
              <a:gd name="connsiteX7" fmla="*/ 4248807 w 5665076"/>
              <a:gd name="connsiteY7" fmla="*/ 0 h 1754326"/>
              <a:gd name="connsiteX8" fmla="*/ 4815315 w 5665076"/>
              <a:gd name="connsiteY8" fmla="*/ 0 h 1754326"/>
              <a:gd name="connsiteX9" fmla="*/ 5665076 w 5665076"/>
              <a:gd name="connsiteY9" fmla="*/ 0 h 1754326"/>
              <a:gd name="connsiteX10" fmla="*/ 5665076 w 5665076"/>
              <a:gd name="connsiteY10" fmla="*/ 602319 h 1754326"/>
              <a:gd name="connsiteX11" fmla="*/ 5665076 w 5665076"/>
              <a:gd name="connsiteY11" fmla="*/ 1204637 h 1754326"/>
              <a:gd name="connsiteX12" fmla="*/ 5665076 w 5665076"/>
              <a:gd name="connsiteY12" fmla="*/ 1754326 h 1754326"/>
              <a:gd name="connsiteX13" fmla="*/ 5155219 w 5665076"/>
              <a:gd name="connsiteY13" fmla="*/ 1754326 h 1754326"/>
              <a:gd name="connsiteX14" fmla="*/ 4645362 w 5665076"/>
              <a:gd name="connsiteY14" fmla="*/ 1754326 h 1754326"/>
              <a:gd name="connsiteX15" fmla="*/ 3965553 w 5665076"/>
              <a:gd name="connsiteY15" fmla="*/ 1754326 h 1754326"/>
              <a:gd name="connsiteX16" fmla="*/ 3342395 w 5665076"/>
              <a:gd name="connsiteY16" fmla="*/ 1754326 h 1754326"/>
              <a:gd name="connsiteX17" fmla="*/ 2719236 w 5665076"/>
              <a:gd name="connsiteY17" fmla="*/ 1754326 h 1754326"/>
              <a:gd name="connsiteX18" fmla="*/ 2152729 w 5665076"/>
              <a:gd name="connsiteY18" fmla="*/ 1754326 h 1754326"/>
              <a:gd name="connsiteX19" fmla="*/ 1586221 w 5665076"/>
              <a:gd name="connsiteY19" fmla="*/ 1754326 h 1754326"/>
              <a:gd name="connsiteX20" fmla="*/ 1019714 w 5665076"/>
              <a:gd name="connsiteY20" fmla="*/ 1754326 h 1754326"/>
              <a:gd name="connsiteX21" fmla="*/ 623158 w 5665076"/>
              <a:gd name="connsiteY21" fmla="*/ 1754326 h 1754326"/>
              <a:gd name="connsiteX22" fmla="*/ 0 w 5665076"/>
              <a:gd name="connsiteY22" fmla="*/ 1754326 h 1754326"/>
              <a:gd name="connsiteX23" fmla="*/ 0 w 5665076"/>
              <a:gd name="connsiteY23" fmla="*/ 1134464 h 1754326"/>
              <a:gd name="connsiteX24" fmla="*/ 0 w 5665076"/>
              <a:gd name="connsiteY24" fmla="*/ 532146 h 1754326"/>
              <a:gd name="connsiteX25" fmla="*/ 0 w 5665076"/>
              <a:gd name="connsiteY25" fmla="*/ 0 h 175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665076" h="1754326" extrusionOk="0">
                <a:moveTo>
                  <a:pt x="0" y="0"/>
                </a:moveTo>
                <a:cubicBezTo>
                  <a:pt x="231223" y="-20015"/>
                  <a:pt x="349030" y="75604"/>
                  <a:pt x="679809" y="0"/>
                </a:cubicBezTo>
                <a:cubicBezTo>
                  <a:pt x="1010588" y="-75604"/>
                  <a:pt x="942770" y="42275"/>
                  <a:pt x="1189666" y="0"/>
                </a:cubicBezTo>
                <a:cubicBezTo>
                  <a:pt x="1436562" y="-42275"/>
                  <a:pt x="1639214" y="28130"/>
                  <a:pt x="1869475" y="0"/>
                </a:cubicBezTo>
                <a:cubicBezTo>
                  <a:pt x="2099736" y="-28130"/>
                  <a:pt x="2257838" y="36536"/>
                  <a:pt x="2549284" y="0"/>
                </a:cubicBezTo>
                <a:cubicBezTo>
                  <a:pt x="2840730" y="-36536"/>
                  <a:pt x="2872158" y="19195"/>
                  <a:pt x="3002490" y="0"/>
                </a:cubicBezTo>
                <a:cubicBezTo>
                  <a:pt x="3132822" y="-19195"/>
                  <a:pt x="3432457" y="52313"/>
                  <a:pt x="3625649" y="0"/>
                </a:cubicBezTo>
                <a:cubicBezTo>
                  <a:pt x="3818841" y="-52313"/>
                  <a:pt x="3981389" y="44158"/>
                  <a:pt x="4248807" y="0"/>
                </a:cubicBezTo>
                <a:cubicBezTo>
                  <a:pt x="4516225" y="-44158"/>
                  <a:pt x="4573154" y="45094"/>
                  <a:pt x="4815315" y="0"/>
                </a:cubicBezTo>
                <a:cubicBezTo>
                  <a:pt x="5057476" y="-45094"/>
                  <a:pt x="5351587" y="15148"/>
                  <a:pt x="5665076" y="0"/>
                </a:cubicBezTo>
                <a:cubicBezTo>
                  <a:pt x="5690164" y="263569"/>
                  <a:pt x="5602965" y="415928"/>
                  <a:pt x="5665076" y="602319"/>
                </a:cubicBezTo>
                <a:cubicBezTo>
                  <a:pt x="5727187" y="788710"/>
                  <a:pt x="5624020" y="1053977"/>
                  <a:pt x="5665076" y="1204637"/>
                </a:cubicBezTo>
                <a:cubicBezTo>
                  <a:pt x="5706132" y="1355297"/>
                  <a:pt x="5648043" y="1538586"/>
                  <a:pt x="5665076" y="1754326"/>
                </a:cubicBezTo>
                <a:cubicBezTo>
                  <a:pt x="5422337" y="1778008"/>
                  <a:pt x="5282823" y="1711791"/>
                  <a:pt x="5155219" y="1754326"/>
                </a:cubicBezTo>
                <a:cubicBezTo>
                  <a:pt x="5027615" y="1796861"/>
                  <a:pt x="4824561" y="1746741"/>
                  <a:pt x="4645362" y="1754326"/>
                </a:cubicBezTo>
                <a:cubicBezTo>
                  <a:pt x="4466163" y="1761911"/>
                  <a:pt x="4103774" y="1711490"/>
                  <a:pt x="3965553" y="1754326"/>
                </a:cubicBezTo>
                <a:cubicBezTo>
                  <a:pt x="3827332" y="1797162"/>
                  <a:pt x="3608127" y="1751374"/>
                  <a:pt x="3342395" y="1754326"/>
                </a:cubicBezTo>
                <a:cubicBezTo>
                  <a:pt x="3076663" y="1757278"/>
                  <a:pt x="2991123" y="1711302"/>
                  <a:pt x="2719236" y="1754326"/>
                </a:cubicBezTo>
                <a:cubicBezTo>
                  <a:pt x="2447349" y="1797350"/>
                  <a:pt x="2285742" y="1722121"/>
                  <a:pt x="2152729" y="1754326"/>
                </a:cubicBezTo>
                <a:cubicBezTo>
                  <a:pt x="2019716" y="1786531"/>
                  <a:pt x="1868688" y="1728932"/>
                  <a:pt x="1586221" y="1754326"/>
                </a:cubicBezTo>
                <a:cubicBezTo>
                  <a:pt x="1303754" y="1779720"/>
                  <a:pt x="1208130" y="1719583"/>
                  <a:pt x="1019714" y="1754326"/>
                </a:cubicBezTo>
                <a:cubicBezTo>
                  <a:pt x="831298" y="1789069"/>
                  <a:pt x="744810" y="1715891"/>
                  <a:pt x="623158" y="1754326"/>
                </a:cubicBezTo>
                <a:cubicBezTo>
                  <a:pt x="501506" y="1792761"/>
                  <a:pt x="162069" y="1703356"/>
                  <a:pt x="0" y="1754326"/>
                </a:cubicBezTo>
                <a:cubicBezTo>
                  <a:pt x="-24705" y="1501707"/>
                  <a:pt x="56822" y="1416083"/>
                  <a:pt x="0" y="1134464"/>
                </a:cubicBezTo>
                <a:cubicBezTo>
                  <a:pt x="-56822" y="852845"/>
                  <a:pt x="60363" y="816938"/>
                  <a:pt x="0" y="532146"/>
                </a:cubicBezTo>
                <a:cubicBezTo>
                  <a:pt x="-60363" y="247354"/>
                  <a:pt x="14815" y="146716"/>
                  <a:pt x="0" y="0"/>
                </a:cubicBezTo>
                <a:close/>
              </a:path>
            </a:pathLst>
          </a:custGeom>
          <a:noFill/>
          <a:ln w="57150">
            <a:solidFill>
              <a:schemeClr val="accent6">
                <a:lumMod val="50000"/>
              </a:schemeClr>
            </a:solidFill>
            <a:extLst>
              <a:ext uri="{C807C97D-BFC1-408E-A445-0C87EB9F89A2}">
                <ask:lineSketchStyleProps xmlns:ask="http://schemas.microsoft.com/office/drawing/2018/sketchyshapes" sd="2649523438">
                  <a:prstGeom prst="rect">
                    <a:avLst/>
                  </a:prstGeom>
                  <ask:type>
                    <ask:lineSketchScribble/>
                  </ask:type>
                </ask:lineSketchStyleProps>
              </a:ext>
            </a:extLst>
          </a:ln>
        </p:spPr>
        <p:txBody>
          <a:bodyPr wrap="square">
            <a:spAutoFit/>
          </a:bodyPr>
          <a:lstStyle/>
          <a:p>
            <a:pPr algn="just"/>
            <a:r>
              <a:rPr lang="es-MX" sz="1800" b="0" i="0" u="none" strike="noStrike" baseline="0" dirty="0">
                <a:solidFill>
                  <a:srgbClr val="000000"/>
                </a:solidFill>
                <a:latin typeface="Cambria" panose="02040503050406030204" pitchFamily="18" charset="0"/>
              </a:rPr>
              <a:t>Los derechos de las NPIOC a la libre determinación y a ejercer sus sistemas jurídicos </a:t>
            </a:r>
            <a:r>
              <a:rPr lang="es-MX" sz="1800" b="0" i="1" u="sng" strike="noStrike" baseline="0" dirty="0">
                <a:solidFill>
                  <a:srgbClr val="FF0000"/>
                </a:solidFill>
                <a:latin typeface="Arial" panose="020B0604020202020204" pitchFamily="34" charset="0"/>
                <a:cs typeface="Arial" panose="020B0604020202020204" pitchFamily="34" charset="0"/>
              </a:rPr>
              <a:t>deben ser interpretados desde y conforme a la Constitución y las normas del bloque de constitucionalidad, de manera favorable y progresiva,</a:t>
            </a:r>
            <a:r>
              <a:rPr lang="es-MX" sz="1800" b="0" i="0" u="none" strike="noStrike" baseline="0" dirty="0">
                <a:solidFill>
                  <a:srgbClr val="000000"/>
                </a:solidFill>
                <a:latin typeface="Cambria" panose="02040503050406030204" pitchFamily="18" charset="0"/>
              </a:rPr>
              <a:t> de acuerdo a los criterios de interpretación previstos en nuestra propia CPE</a:t>
            </a:r>
            <a:endParaRPr lang="es-BO" dirty="0"/>
          </a:p>
        </p:txBody>
      </p:sp>
      <p:sp>
        <p:nvSpPr>
          <p:cNvPr id="13" name="CuadroTexto 12">
            <a:extLst>
              <a:ext uri="{FF2B5EF4-FFF2-40B4-BE49-F238E27FC236}">
                <a16:creationId xmlns:a16="http://schemas.microsoft.com/office/drawing/2014/main" id="{1CE67A92-F9BE-4875-B797-E5A1087AA5E9}"/>
              </a:ext>
            </a:extLst>
          </p:cNvPr>
          <p:cNvSpPr txBox="1"/>
          <p:nvPr/>
        </p:nvSpPr>
        <p:spPr>
          <a:xfrm>
            <a:off x="189187" y="3936913"/>
            <a:ext cx="6096000" cy="2246769"/>
          </a:xfrm>
          <a:custGeom>
            <a:avLst/>
            <a:gdLst>
              <a:gd name="connsiteX0" fmla="*/ 0 w 6096000"/>
              <a:gd name="connsiteY0" fmla="*/ 0 h 2246769"/>
              <a:gd name="connsiteX1" fmla="*/ 615142 w 6096000"/>
              <a:gd name="connsiteY1" fmla="*/ 0 h 2246769"/>
              <a:gd name="connsiteX2" fmla="*/ 1230284 w 6096000"/>
              <a:gd name="connsiteY2" fmla="*/ 0 h 2246769"/>
              <a:gd name="connsiteX3" fmla="*/ 1723505 w 6096000"/>
              <a:gd name="connsiteY3" fmla="*/ 0 h 2246769"/>
              <a:gd name="connsiteX4" fmla="*/ 2399607 w 6096000"/>
              <a:gd name="connsiteY4" fmla="*/ 0 h 2246769"/>
              <a:gd name="connsiteX5" fmla="*/ 2953789 w 6096000"/>
              <a:gd name="connsiteY5" fmla="*/ 0 h 2246769"/>
              <a:gd name="connsiteX6" fmla="*/ 3386051 w 6096000"/>
              <a:gd name="connsiteY6" fmla="*/ 0 h 2246769"/>
              <a:gd name="connsiteX7" fmla="*/ 3879273 w 6096000"/>
              <a:gd name="connsiteY7" fmla="*/ 0 h 2246769"/>
              <a:gd name="connsiteX8" fmla="*/ 4433455 w 6096000"/>
              <a:gd name="connsiteY8" fmla="*/ 0 h 2246769"/>
              <a:gd name="connsiteX9" fmla="*/ 4987636 w 6096000"/>
              <a:gd name="connsiteY9" fmla="*/ 0 h 2246769"/>
              <a:gd name="connsiteX10" fmla="*/ 5602778 w 6096000"/>
              <a:gd name="connsiteY10" fmla="*/ 0 h 2246769"/>
              <a:gd name="connsiteX11" fmla="*/ 6096000 w 6096000"/>
              <a:gd name="connsiteY11" fmla="*/ 0 h 2246769"/>
              <a:gd name="connsiteX12" fmla="*/ 6096000 w 6096000"/>
              <a:gd name="connsiteY12" fmla="*/ 494289 h 2246769"/>
              <a:gd name="connsiteX13" fmla="*/ 6096000 w 6096000"/>
              <a:gd name="connsiteY13" fmla="*/ 988578 h 2246769"/>
              <a:gd name="connsiteX14" fmla="*/ 6096000 w 6096000"/>
              <a:gd name="connsiteY14" fmla="*/ 1527803 h 2246769"/>
              <a:gd name="connsiteX15" fmla="*/ 6096000 w 6096000"/>
              <a:gd name="connsiteY15" fmla="*/ 2246769 h 2246769"/>
              <a:gd name="connsiteX16" fmla="*/ 5724698 w 6096000"/>
              <a:gd name="connsiteY16" fmla="*/ 2246769 h 2246769"/>
              <a:gd name="connsiteX17" fmla="*/ 5353396 w 6096000"/>
              <a:gd name="connsiteY17" fmla="*/ 2246769 h 2246769"/>
              <a:gd name="connsiteX18" fmla="*/ 4738255 w 6096000"/>
              <a:gd name="connsiteY18" fmla="*/ 2246769 h 2246769"/>
              <a:gd name="connsiteX19" fmla="*/ 4245033 w 6096000"/>
              <a:gd name="connsiteY19" fmla="*/ 2246769 h 2246769"/>
              <a:gd name="connsiteX20" fmla="*/ 3690851 w 6096000"/>
              <a:gd name="connsiteY20" fmla="*/ 2246769 h 2246769"/>
              <a:gd name="connsiteX21" fmla="*/ 3014749 w 6096000"/>
              <a:gd name="connsiteY21" fmla="*/ 2246769 h 2246769"/>
              <a:gd name="connsiteX22" fmla="*/ 2643447 w 6096000"/>
              <a:gd name="connsiteY22" fmla="*/ 2246769 h 2246769"/>
              <a:gd name="connsiteX23" fmla="*/ 2028305 w 6096000"/>
              <a:gd name="connsiteY23" fmla="*/ 2246769 h 2246769"/>
              <a:gd name="connsiteX24" fmla="*/ 1535084 w 6096000"/>
              <a:gd name="connsiteY24" fmla="*/ 2246769 h 2246769"/>
              <a:gd name="connsiteX25" fmla="*/ 1041862 w 6096000"/>
              <a:gd name="connsiteY25" fmla="*/ 2246769 h 2246769"/>
              <a:gd name="connsiteX26" fmla="*/ 0 w 6096000"/>
              <a:gd name="connsiteY26" fmla="*/ 2246769 h 2246769"/>
              <a:gd name="connsiteX27" fmla="*/ 0 w 6096000"/>
              <a:gd name="connsiteY27" fmla="*/ 1752480 h 2246769"/>
              <a:gd name="connsiteX28" fmla="*/ 0 w 6096000"/>
              <a:gd name="connsiteY28" fmla="*/ 1258191 h 2246769"/>
              <a:gd name="connsiteX29" fmla="*/ 0 w 6096000"/>
              <a:gd name="connsiteY29" fmla="*/ 718966 h 2246769"/>
              <a:gd name="connsiteX30" fmla="*/ 0 w 6096000"/>
              <a:gd name="connsiteY30" fmla="*/ 0 h 224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96000" h="2246769" extrusionOk="0">
                <a:moveTo>
                  <a:pt x="0" y="0"/>
                </a:moveTo>
                <a:cubicBezTo>
                  <a:pt x="199015" y="-34871"/>
                  <a:pt x="380112" y="24691"/>
                  <a:pt x="615142" y="0"/>
                </a:cubicBezTo>
                <a:cubicBezTo>
                  <a:pt x="850172" y="-24691"/>
                  <a:pt x="1058999" y="63797"/>
                  <a:pt x="1230284" y="0"/>
                </a:cubicBezTo>
                <a:cubicBezTo>
                  <a:pt x="1401569" y="-63797"/>
                  <a:pt x="1548196" y="12683"/>
                  <a:pt x="1723505" y="0"/>
                </a:cubicBezTo>
                <a:cubicBezTo>
                  <a:pt x="1898814" y="-12683"/>
                  <a:pt x="2162157" y="893"/>
                  <a:pt x="2399607" y="0"/>
                </a:cubicBezTo>
                <a:cubicBezTo>
                  <a:pt x="2637057" y="-893"/>
                  <a:pt x="2840853" y="46449"/>
                  <a:pt x="2953789" y="0"/>
                </a:cubicBezTo>
                <a:cubicBezTo>
                  <a:pt x="3066725" y="-46449"/>
                  <a:pt x="3212101" y="14507"/>
                  <a:pt x="3386051" y="0"/>
                </a:cubicBezTo>
                <a:cubicBezTo>
                  <a:pt x="3560001" y="-14507"/>
                  <a:pt x="3653540" y="58088"/>
                  <a:pt x="3879273" y="0"/>
                </a:cubicBezTo>
                <a:cubicBezTo>
                  <a:pt x="4105006" y="-58088"/>
                  <a:pt x="4243938" y="6934"/>
                  <a:pt x="4433455" y="0"/>
                </a:cubicBezTo>
                <a:cubicBezTo>
                  <a:pt x="4622972" y="-6934"/>
                  <a:pt x="4763083" y="28221"/>
                  <a:pt x="4987636" y="0"/>
                </a:cubicBezTo>
                <a:cubicBezTo>
                  <a:pt x="5212189" y="-28221"/>
                  <a:pt x="5356216" y="21288"/>
                  <a:pt x="5602778" y="0"/>
                </a:cubicBezTo>
                <a:cubicBezTo>
                  <a:pt x="5849340" y="-21288"/>
                  <a:pt x="5964489" y="6080"/>
                  <a:pt x="6096000" y="0"/>
                </a:cubicBezTo>
                <a:cubicBezTo>
                  <a:pt x="6136313" y="166683"/>
                  <a:pt x="6073798" y="341169"/>
                  <a:pt x="6096000" y="494289"/>
                </a:cubicBezTo>
                <a:cubicBezTo>
                  <a:pt x="6118202" y="647409"/>
                  <a:pt x="6048202" y="863991"/>
                  <a:pt x="6096000" y="988578"/>
                </a:cubicBezTo>
                <a:cubicBezTo>
                  <a:pt x="6143798" y="1113165"/>
                  <a:pt x="6052644" y="1367031"/>
                  <a:pt x="6096000" y="1527803"/>
                </a:cubicBezTo>
                <a:cubicBezTo>
                  <a:pt x="6139356" y="1688575"/>
                  <a:pt x="6085805" y="2092336"/>
                  <a:pt x="6096000" y="2246769"/>
                </a:cubicBezTo>
                <a:cubicBezTo>
                  <a:pt x="5932727" y="2254303"/>
                  <a:pt x="5856531" y="2246407"/>
                  <a:pt x="5724698" y="2246769"/>
                </a:cubicBezTo>
                <a:cubicBezTo>
                  <a:pt x="5592865" y="2247131"/>
                  <a:pt x="5448293" y="2235653"/>
                  <a:pt x="5353396" y="2246769"/>
                </a:cubicBezTo>
                <a:cubicBezTo>
                  <a:pt x="5258499" y="2257885"/>
                  <a:pt x="4920310" y="2189574"/>
                  <a:pt x="4738255" y="2246769"/>
                </a:cubicBezTo>
                <a:cubicBezTo>
                  <a:pt x="4556200" y="2303964"/>
                  <a:pt x="4344721" y="2246615"/>
                  <a:pt x="4245033" y="2246769"/>
                </a:cubicBezTo>
                <a:cubicBezTo>
                  <a:pt x="4145345" y="2246923"/>
                  <a:pt x="3967021" y="2180715"/>
                  <a:pt x="3690851" y="2246769"/>
                </a:cubicBezTo>
                <a:cubicBezTo>
                  <a:pt x="3414681" y="2312823"/>
                  <a:pt x="3202902" y="2238254"/>
                  <a:pt x="3014749" y="2246769"/>
                </a:cubicBezTo>
                <a:cubicBezTo>
                  <a:pt x="2826596" y="2255284"/>
                  <a:pt x="2823216" y="2239571"/>
                  <a:pt x="2643447" y="2246769"/>
                </a:cubicBezTo>
                <a:cubicBezTo>
                  <a:pt x="2463678" y="2253967"/>
                  <a:pt x="2251950" y="2219658"/>
                  <a:pt x="2028305" y="2246769"/>
                </a:cubicBezTo>
                <a:cubicBezTo>
                  <a:pt x="1804660" y="2273880"/>
                  <a:pt x="1687025" y="2234198"/>
                  <a:pt x="1535084" y="2246769"/>
                </a:cubicBezTo>
                <a:cubicBezTo>
                  <a:pt x="1383143" y="2259340"/>
                  <a:pt x="1282163" y="2222493"/>
                  <a:pt x="1041862" y="2246769"/>
                </a:cubicBezTo>
                <a:cubicBezTo>
                  <a:pt x="801561" y="2271045"/>
                  <a:pt x="239041" y="2233445"/>
                  <a:pt x="0" y="2246769"/>
                </a:cubicBezTo>
                <a:cubicBezTo>
                  <a:pt x="-45873" y="2108753"/>
                  <a:pt x="57037" y="1889913"/>
                  <a:pt x="0" y="1752480"/>
                </a:cubicBezTo>
                <a:cubicBezTo>
                  <a:pt x="-57037" y="1615047"/>
                  <a:pt x="22942" y="1471404"/>
                  <a:pt x="0" y="1258191"/>
                </a:cubicBezTo>
                <a:cubicBezTo>
                  <a:pt x="-22942" y="1044978"/>
                  <a:pt x="64148" y="930879"/>
                  <a:pt x="0" y="718966"/>
                </a:cubicBezTo>
                <a:cubicBezTo>
                  <a:pt x="-64148" y="507053"/>
                  <a:pt x="65476" y="294491"/>
                  <a:pt x="0" y="0"/>
                </a:cubicBezTo>
                <a:close/>
              </a:path>
            </a:pathLst>
          </a:custGeom>
          <a:noFill/>
          <a:ln w="57150">
            <a:solidFill>
              <a:schemeClr val="accent6">
                <a:lumMod val="50000"/>
              </a:schemeClr>
            </a:solidFill>
            <a:extLst>
              <a:ext uri="{C807C97D-BFC1-408E-A445-0C87EB9F89A2}">
                <ask:lineSketchStyleProps xmlns:ask="http://schemas.microsoft.com/office/drawing/2018/sketchyshapes" sd="2496495569">
                  <a:prstGeom prst="rect">
                    <a:avLst/>
                  </a:prstGeom>
                  <ask:type>
                    <ask:lineSketchScribble/>
                  </ask:type>
                </ask:lineSketchStyleProps>
              </a:ext>
            </a:extLst>
          </a:ln>
        </p:spPr>
        <p:txBody>
          <a:bodyPr wrap="square">
            <a:spAutoFit/>
          </a:bodyPr>
          <a:lstStyle/>
          <a:p>
            <a:pPr algn="just"/>
            <a:r>
              <a:rPr lang="es-MX" sz="1600" b="0" i="0" u="none" strike="noStrike" baseline="0" dirty="0">
                <a:solidFill>
                  <a:srgbClr val="000000"/>
                </a:solidFill>
                <a:latin typeface="Arial" panose="020B0604020202020204" pitchFamily="34" charset="0"/>
                <a:cs typeface="Arial" panose="020B0604020202020204" pitchFamily="34" charset="0"/>
              </a:rPr>
              <a:t>las autoridades jurisdiccionales deben analizar cada caso para determinar si corresponde el conocimiento del mismo a la jurisdicción ordinaria, agroambiental o a la jurisdicción </a:t>
            </a:r>
            <a:r>
              <a:rPr lang="es-MX" sz="1600" b="0" i="0" u="none" strike="noStrike" baseline="0" dirty="0">
                <a:solidFill>
                  <a:srgbClr val="000000"/>
                </a:solidFill>
                <a:latin typeface="Cambria" panose="02040503050406030204" pitchFamily="18" charset="0"/>
              </a:rPr>
              <a:t>IOC</a:t>
            </a:r>
            <a:r>
              <a:rPr lang="es-MX" sz="1600" b="0" i="0" u="none" strike="noStrike" baseline="0" dirty="0">
                <a:solidFill>
                  <a:srgbClr val="000000"/>
                </a:solidFill>
                <a:latin typeface="Arial" panose="020B0604020202020204" pitchFamily="34" charset="0"/>
                <a:cs typeface="Arial" panose="020B0604020202020204" pitchFamily="34" charset="0"/>
              </a:rPr>
              <a:t>, </a:t>
            </a:r>
            <a:r>
              <a:rPr lang="es-MX" sz="1800" b="1" i="0" u="none" strike="noStrike" baseline="0" dirty="0">
                <a:solidFill>
                  <a:schemeClr val="accent5">
                    <a:lumMod val="50000"/>
                  </a:schemeClr>
                </a:solidFill>
                <a:latin typeface="Arial" panose="020B0604020202020204" pitchFamily="34" charset="0"/>
                <a:cs typeface="Arial" panose="020B0604020202020204" pitchFamily="34" charset="0"/>
              </a:rPr>
              <a:t>no siendo posible establecer únicamente a través de la Ley del Deslinde Jurisdiccional qué casos son de conocimiento de una u otra jurisdicción</a:t>
            </a:r>
            <a:r>
              <a:rPr lang="es-MX" sz="1800" b="0" i="0" u="none" strike="noStrike" baseline="0" dirty="0">
                <a:solidFill>
                  <a:srgbClr val="000000"/>
                </a:solidFill>
                <a:latin typeface="Cambria" panose="02040503050406030204" pitchFamily="18" charset="0"/>
              </a:rPr>
              <a:t>, </a:t>
            </a:r>
            <a:r>
              <a:rPr lang="es-MX" sz="1800" b="1" i="1" u="none" strike="noStrike" baseline="0" dirty="0">
                <a:solidFill>
                  <a:srgbClr val="000000"/>
                </a:solidFill>
                <a:latin typeface="Arial" panose="020B0604020202020204" pitchFamily="34" charset="0"/>
                <a:cs typeface="Arial" panose="020B0604020202020204" pitchFamily="34" charset="0"/>
              </a:rPr>
              <a:t>por lo que cada supuesto tendrá que ser ponderado de manera intercultural</a:t>
            </a:r>
            <a:r>
              <a:rPr lang="es-MX" sz="1800" b="0" i="0" u="none" strike="noStrike" baseline="0" dirty="0">
                <a:solidFill>
                  <a:srgbClr val="000000"/>
                </a:solidFill>
                <a:latin typeface="Cambria" panose="02040503050406030204" pitchFamily="18" charset="0"/>
              </a:rPr>
              <a:t>. </a:t>
            </a:r>
            <a:endParaRPr lang="es-BO" dirty="0"/>
          </a:p>
        </p:txBody>
      </p:sp>
    </p:spTree>
    <p:extLst>
      <p:ext uri="{BB962C8B-B14F-4D97-AF65-F5344CB8AC3E}">
        <p14:creationId xmlns:p14="http://schemas.microsoft.com/office/powerpoint/2010/main" val="1212604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E5B4EB9-F798-4831-AD04-946C8ED15A97}"/>
              </a:ext>
            </a:extLst>
          </p:cNvPr>
          <p:cNvSpPr>
            <a:spLocks noGrp="1"/>
          </p:cNvSpPr>
          <p:nvPr>
            <p:ph idx="1"/>
          </p:nvPr>
        </p:nvSpPr>
        <p:spPr>
          <a:xfrm>
            <a:off x="438806" y="5007553"/>
            <a:ext cx="11067394" cy="1680106"/>
          </a:xfrm>
        </p:spPr>
        <p:txBody>
          <a:bodyPr>
            <a:normAutofit/>
          </a:bodyPr>
          <a:lstStyle/>
          <a:p>
            <a:pPr marL="0" indent="0" algn="just">
              <a:buNone/>
            </a:pPr>
            <a:r>
              <a:rPr lang="es-MX" sz="1600" b="0" i="0" u="none" strike="noStrike" baseline="0" dirty="0">
                <a:solidFill>
                  <a:srgbClr val="000000"/>
                </a:solidFill>
                <a:latin typeface="Arial" panose="020B0604020202020204" pitchFamily="34" charset="0"/>
                <a:cs typeface="Arial" panose="020B0604020202020204" pitchFamily="34" charset="0"/>
              </a:rPr>
              <a:t>Realizada la interpretación y ponderación,  tenga aún dudas sobre la competencia de la IOC, corresponderá, igualmente, que resuelva el caso por la existencia de cosa juzgada o extinción de la acción penal; </a:t>
            </a:r>
            <a:r>
              <a:rPr lang="es-MX" sz="1600" b="1" i="1" u="none" strike="noStrike" baseline="0" dirty="0">
                <a:solidFill>
                  <a:srgbClr val="000000"/>
                </a:solidFill>
                <a:latin typeface="Arial" panose="020B0604020202020204" pitchFamily="34" charset="0"/>
                <a:cs typeface="Arial" panose="020B0604020202020204" pitchFamily="34" charset="0"/>
              </a:rPr>
              <a:t>sin embargo, en la Resolución que emita deberá dejar establecido que la parte (demandante, denunciante, accionante) podrá acudir a la vía constitucional si considera lesionado su derecho al juez natural, en su elemento competencia, en virtud a que sobre la base de los principios de igualdad jerárquica de jurisdicciones y pluralismo jurídico igualitario, no le corresponde a la autoridad judicial desconocer ni revisar las resoluciones emitidas por la jurisdicción indígena originaria campesina</a:t>
            </a:r>
            <a:endParaRPr lang="es-BO" sz="1600"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DD8CA27F-DAE2-474D-9B32-E461236D187D}"/>
              </a:ext>
            </a:extLst>
          </p:cNvPr>
          <p:cNvSpPr txBox="1"/>
          <p:nvPr/>
        </p:nvSpPr>
        <p:spPr>
          <a:xfrm>
            <a:off x="438806" y="638757"/>
            <a:ext cx="11067394" cy="1569660"/>
          </a:xfrm>
          <a:prstGeom prst="rect">
            <a:avLst/>
          </a:prstGeom>
          <a:noFill/>
        </p:spPr>
        <p:txBody>
          <a:bodyPr wrap="square">
            <a:spAutoFit/>
          </a:bodyPr>
          <a:lstStyle/>
          <a:p>
            <a:pPr algn="just"/>
            <a:r>
              <a:rPr lang="es-MX" sz="1600" b="0" i="0" u="none" strike="noStrike" baseline="0" dirty="0">
                <a:solidFill>
                  <a:srgbClr val="000000"/>
                </a:solidFill>
                <a:latin typeface="Arial" panose="020B0604020202020204" pitchFamily="34" charset="0"/>
                <a:cs typeface="Arial" panose="020B0604020202020204" pitchFamily="34" charset="0"/>
              </a:rPr>
              <a:t>corresponde que la autoridad jurisdiccional efectúe una interpretación amplia y favorable del derecho de las NPIOC a ejercer sus sistemas jurídicos, y de tratarse de un caso en el que esté involucrado un derecho o bien jurídico de entidad nacional e internacional –conforme determina la jurisprudencia constitucional- corresponde efectuar una ponderación intercultural, analizando si el conocimiento del caso por la jurisdicción IOC ha resultado idóneo o adecuado para tutelar el derecho o bien jurídico comprometido o si, atendiendo a la forma en que se desarrolló y resolvió, la vía judicial resultaría ser la vía idónea o más adecuada. </a:t>
            </a:r>
          </a:p>
        </p:txBody>
      </p:sp>
      <p:sp>
        <p:nvSpPr>
          <p:cNvPr id="7" name="CuadroTexto 6">
            <a:extLst>
              <a:ext uri="{FF2B5EF4-FFF2-40B4-BE49-F238E27FC236}">
                <a16:creationId xmlns:a16="http://schemas.microsoft.com/office/drawing/2014/main" id="{7F5125B5-5FE2-49E1-A1FA-076EE3F71B8D}"/>
              </a:ext>
            </a:extLst>
          </p:cNvPr>
          <p:cNvSpPr txBox="1"/>
          <p:nvPr/>
        </p:nvSpPr>
        <p:spPr>
          <a:xfrm>
            <a:off x="438806" y="2307501"/>
            <a:ext cx="11269717" cy="830997"/>
          </a:xfrm>
          <a:prstGeom prst="rect">
            <a:avLst/>
          </a:prstGeom>
          <a:noFill/>
        </p:spPr>
        <p:txBody>
          <a:bodyPr wrap="square">
            <a:spAutoFit/>
          </a:bodyPr>
          <a:lstStyle/>
          <a:p>
            <a:pPr marL="0" indent="0" algn="just">
              <a:buNone/>
            </a:pPr>
            <a:r>
              <a:rPr lang="es-MX" sz="1600" b="0" i="0" u="none" strike="noStrike" baseline="0" dirty="0">
                <a:solidFill>
                  <a:srgbClr val="000000"/>
                </a:solidFill>
                <a:latin typeface="Arial" panose="020B0604020202020204" pitchFamily="34" charset="0"/>
                <a:cs typeface="Arial" panose="020B0604020202020204" pitchFamily="34" charset="0"/>
              </a:rPr>
              <a:t>Analizar la necesidad: El caso sea conocido por la autoridad judicial o si, al contrario, con la intervención de la jurisdicción IOC </a:t>
            </a:r>
            <a:r>
              <a:rPr lang="es-MX" sz="1600" b="1" i="0" u="none" strike="noStrike" baseline="0" dirty="0">
                <a:solidFill>
                  <a:srgbClr val="FF0000"/>
                </a:solidFill>
                <a:latin typeface="Arial" panose="020B0604020202020204" pitchFamily="34" charset="0"/>
                <a:cs typeface="Arial" panose="020B0604020202020204" pitchFamily="34" charset="0"/>
              </a:rPr>
              <a:t>se ha logrado tutelar de manera adecuada al bien jurídico </a:t>
            </a:r>
            <a:r>
              <a:rPr lang="es-MX" sz="1600" b="0" i="0" u="none" strike="noStrike" baseline="0" dirty="0">
                <a:solidFill>
                  <a:srgbClr val="000000"/>
                </a:solidFill>
                <a:latin typeface="Arial" panose="020B0604020202020204" pitchFamily="34" charset="0"/>
                <a:cs typeface="Arial" panose="020B0604020202020204" pitchFamily="34" charset="0"/>
              </a:rPr>
              <a:t>o derecho en conflicto, todo en el marco de las normas, principios y valores de las NPIOC.</a:t>
            </a:r>
          </a:p>
        </p:txBody>
      </p:sp>
      <p:sp>
        <p:nvSpPr>
          <p:cNvPr id="9" name="CuadroTexto 8">
            <a:extLst>
              <a:ext uri="{FF2B5EF4-FFF2-40B4-BE49-F238E27FC236}">
                <a16:creationId xmlns:a16="http://schemas.microsoft.com/office/drawing/2014/main" id="{6BFF5A01-3C14-4D2C-898A-B0C8C0858662}"/>
              </a:ext>
            </a:extLst>
          </p:cNvPr>
          <p:cNvSpPr txBox="1"/>
          <p:nvPr/>
        </p:nvSpPr>
        <p:spPr>
          <a:xfrm>
            <a:off x="629306" y="170341"/>
            <a:ext cx="10134601" cy="369332"/>
          </a:xfrm>
          <a:prstGeom prst="rect">
            <a:avLst/>
          </a:prstGeom>
          <a:noFill/>
        </p:spPr>
        <p:txBody>
          <a:bodyPr wrap="square">
            <a:spAutoFit/>
          </a:bodyPr>
          <a:lstStyle/>
          <a:p>
            <a:r>
              <a:rPr lang="es-MX" sz="1800" b="1" i="0" u="none" strike="noStrike" baseline="0" dirty="0">
                <a:solidFill>
                  <a:srgbClr val="000000"/>
                </a:solidFill>
                <a:latin typeface="Arial" panose="020B0604020202020204" pitchFamily="34" charset="0"/>
                <a:cs typeface="Arial" panose="020B0604020202020204" pitchFamily="34" charset="0"/>
              </a:rPr>
              <a:t>a.1. Supuesta inconcurrencia simultanea de los ámbitos de vigencia de la jurisdicción IOC</a:t>
            </a:r>
            <a:endParaRPr lang="es-MX" sz="1800" b="0" i="0" u="none" strike="noStrike" baseline="0" dirty="0">
              <a:solidFill>
                <a:srgbClr val="000000"/>
              </a:solidFill>
              <a:latin typeface="Arial" panose="020B0604020202020204" pitchFamily="34" charset="0"/>
              <a:cs typeface="Arial" panose="020B0604020202020204" pitchFamily="34" charset="0"/>
            </a:endParaRPr>
          </a:p>
        </p:txBody>
      </p:sp>
      <p:sp>
        <p:nvSpPr>
          <p:cNvPr id="11" name="CuadroTexto 10">
            <a:extLst>
              <a:ext uri="{FF2B5EF4-FFF2-40B4-BE49-F238E27FC236}">
                <a16:creationId xmlns:a16="http://schemas.microsoft.com/office/drawing/2014/main" id="{F89F9BB7-9B85-4056-B77A-709C90E0E11C}"/>
              </a:ext>
            </a:extLst>
          </p:cNvPr>
          <p:cNvSpPr txBox="1"/>
          <p:nvPr/>
        </p:nvSpPr>
        <p:spPr>
          <a:xfrm>
            <a:off x="438806" y="3170425"/>
            <a:ext cx="11164614" cy="584775"/>
          </a:xfrm>
          <a:prstGeom prst="rect">
            <a:avLst/>
          </a:prstGeom>
          <a:noFill/>
        </p:spPr>
        <p:txBody>
          <a:bodyPr wrap="square">
            <a:spAutoFit/>
          </a:bodyPr>
          <a:lstStyle/>
          <a:p>
            <a:pPr marL="0" indent="0" algn="just">
              <a:buNone/>
            </a:pPr>
            <a:r>
              <a:rPr lang="es-MX" sz="1600" b="0" i="0" u="none" strike="noStrike" baseline="0" dirty="0">
                <a:solidFill>
                  <a:srgbClr val="000000"/>
                </a:solidFill>
                <a:latin typeface="Arial" panose="020B0604020202020204" pitchFamily="34" charset="0"/>
                <a:cs typeface="Arial" panose="020B0604020202020204" pitchFamily="34" charset="0"/>
              </a:rPr>
              <a:t>Examinar las ventajas la jurisdicción </a:t>
            </a:r>
            <a:r>
              <a:rPr lang="es-MX" sz="1600" b="1" i="0" u="none" strike="noStrike" baseline="0" dirty="0">
                <a:solidFill>
                  <a:srgbClr val="000000"/>
                </a:solidFill>
                <a:latin typeface="Arial" panose="020B0604020202020204" pitchFamily="34" charset="0"/>
                <a:cs typeface="Arial" panose="020B0604020202020204" pitchFamily="34" charset="0"/>
              </a:rPr>
              <a:t>IOC</a:t>
            </a:r>
            <a:r>
              <a:rPr lang="es-MX" sz="1600" b="0" i="0" u="none" strike="noStrike" baseline="0" dirty="0">
                <a:solidFill>
                  <a:srgbClr val="000000"/>
                </a:solidFill>
                <a:latin typeface="Arial" panose="020B0604020202020204" pitchFamily="34" charset="0"/>
                <a:cs typeface="Arial" panose="020B0604020202020204" pitchFamily="34" charset="0"/>
              </a:rPr>
              <a:t>, así como las desventajas, considerando los principios de pluralismo jurídico, interculturalidad, los derechos de las NPIOC. </a:t>
            </a:r>
          </a:p>
        </p:txBody>
      </p:sp>
      <p:sp>
        <p:nvSpPr>
          <p:cNvPr id="13" name="CuadroTexto 12">
            <a:extLst>
              <a:ext uri="{FF2B5EF4-FFF2-40B4-BE49-F238E27FC236}">
                <a16:creationId xmlns:a16="http://schemas.microsoft.com/office/drawing/2014/main" id="{43086B8F-B12A-4D52-9D1B-F89FF5B4A281}"/>
              </a:ext>
            </a:extLst>
          </p:cNvPr>
          <p:cNvSpPr txBox="1"/>
          <p:nvPr/>
        </p:nvSpPr>
        <p:spPr>
          <a:xfrm>
            <a:off x="438806" y="3838748"/>
            <a:ext cx="11269717" cy="830997"/>
          </a:xfrm>
          <a:prstGeom prst="rect">
            <a:avLst/>
          </a:prstGeom>
          <a:noFill/>
        </p:spPr>
        <p:txBody>
          <a:bodyPr wrap="square">
            <a:spAutoFit/>
          </a:bodyPr>
          <a:lstStyle/>
          <a:p>
            <a:pPr marL="0" indent="0" algn="just">
              <a:buNone/>
            </a:pPr>
            <a:r>
              <a:rPr lang="es-MX" sz="1600" b="0" i="0" u="none" strike="noStrike" baseline="0" dirty="0">
                <a:solidFill>
                  <a:srgbClr val="000000"/>
                </a:solidFill>
                <a:latin typeface="Arial" panose="020B0604020202020204" pitchFamily="34" charset="0"/>
                <a:cs typeface="Arial" panose="020B0604020202020204" pitchFamily="34" charset="0"/>
              </a:rPr>
              <a:t>Si la autoridad jurisdiccional llega a la conclusión que resultaba competente la jurisdicción IOC, decidirá simple y llanamente sobre la existencia de cosa juzgada o extinción de la acción penal, previa fundamentación de los motivos que sustentan su decisión. </a:t>
            </a:r>
          </a:p>
        </p:txBody>
      </p:sp>
    </p:spTree>
    <p:extLst>
      <p:ext uri="{BB962C8B-B14F-4D97-AF65-F5344CB8AC3E}">
        <p14:creationId xmlns:p14="http://schemas.microsoft.com/office/powerpoint/2010/main" val="2949212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68D8F49-B0CC-4CC7-9B8C-6E7D0C2B61FB}"/>
              </a:ext>
            </a:extLst>
          </p:cNvPr>
          <p:cNvSpPr txBox="1"/>
          <p:nvPr/>
        </p:nvSpPr>
        <p:spPr>
          <a:xfrm>
            <a:off x="861848" y="805337"/>
            <a:ext cx="10216055" cy="1754326"/>
          </a:xfrm>
          <a:custGeom>
            <a:avLst/>
            <a:gdLst>
              <a:gd name="connsiteX0" fmla="*/ 0 w 10216055"/>
              <a:gd name="connsiteY0" fmla="*/ 0 h 1754326"/>
              <a:gd name="connsiteX1" fmla="*/ 669719 w 10216055"/>
              <a:gd name="connsiteY1" fmla="*/ 0 h 1754326"/>
              <a:gd name="connsiteX2" fmla="*/ 1237278 w 10216055"/>
              <a:gd name="connsiteY2" fmla="*/ 0 h 1754326"/>
              <a:gd name="connsiteX3" fmla="*/ 1498355 w 10216055"/>
              <a:gd name="connsiteY3" fmla="*/ 0 h 1754326"/>
              <a:gd name="connsiteX4" fmla="*/ 2065913 w 10216055"/>
              <a:gd name="connsiteY4" fmla="*/ 0 h 1754326"/>
              <a:gd name="connsiteX5" fmla="*/ 2735633 w 10216055"/>
              <a:gd name="connsiteY5" fmla="*/ 0 h 1754326"/>
              <a:gd name="connsiteX6" fmla="*/ 3303191 w 10216055"/>
              <a:gd name="connsiteY6" fmla="*/ 0 h 1754326"/>
              <a:gd name="connsiteX7" fmla="*/ 3564268 w 10216055"/>
              <a:gd name="connsiteY7" fmla="*/ 0 h 1754326"/>
              <a:gd name="connsiteX8" fmla="*/ 3825345 w 10216055"/>
              <a:gd name="connsiteY8" fmla="*/ 0 h 1754326"/>
              <a:gd name="connsiteX9" fmla="*/ 4188583 w 10216055"/>
              <a:gd name="connsiteY9" fmla="*/ 0 h 1754326"/>
              <a:gd name="connsiteX10" fmla="*/ 4858302 w 10216055"/>
              <a:gd name="connsiteY10" fmla="*/ 0 h 1754326"/>
              <a:gd name="connsiteX11" fmla="*/ 5323700 w 10216055"/>
              <a:gd name="connsiteY11" fmla="*/ 0 h 1754326"/>
              <a:gd name="connsiteX12" fmla="*/ 5789098 w 10216055"/>
              <a:gd name="connsiteY12" fmla="*/ 0 h 1754326"/>
              <a:gd name="connsiteX13" fmla="*/ 6458817 w 10216055"/>
              <a:gd name="connsiteY13" fmla="*/ 0 h 1754326"/>
              <a:gd name="connsiteX14" fmla="*/ 7230697 w 10216055"/>
              <a:gd name="connsiteY14" fmla="*/ 0 h 1754326"/>
              <a:gd name="connsiteX15" fmla="*/ 7696095 w 10216055"/>
              <a:gd name="connsiteY15" fmla="*/ 0 h 1754326"/>
              <a:gd name="connsiteX16" fmla="*/ 8263653 w 10216055"/>
              <a:gd name="connsiteY16" fmla="*/ 0 h 1754326"/>
              <a:gd name="connsiteX17" fmla="*/ 8524730 w 10216055"/>
              <a:gd name="connsiteY17" fmla="*/ 0 h 1754326"/>
              <a:gd name="connsiteX18" fmla="*/ 9296610 w 10216055"/>
              <a:gd name="connsiteY18" fmla="*/ 0 h 1754326"/>
              <a:gd name="connsiteX19" fmla="*/ 10216055 w 10216055"/>
              <a:gd name="connsiteY19" fmla="*/ 0 h 1754326"/>
              <a:gd name="connsiteX20" fmla="*/ 10216055 w 10216055"/>
              <a:gd name="connsiteY20" fmla="*/ 549689 h 1754326"/>
              <a:gd name="connsiteX21" fmla="*/ 10216055 w 10216055"/>
              <a:gd name="connsiteY21" fmla="*/ 1081834 h 1754326"/>
              <a:gd name="connsiteX22" fmla="*/ 10216055 w 10216055"/>
              <a:gd name="connsiteY22" fmla="*/ 1754326 h 1754326"/>
              <a:gd name="connsiteX23" fmla="*/ 9954978 w 10216055"/>
              <a:gd name="connsiteY23" fmla="*/ 1754326 h 1754326"/>
              <a:gd name="connsiteX24" fmla="*/ 9693901 w 10216055"/>
              <a:gd name="connsiteY24" fmla="*/ 1754326 h 1754326"/>
              <a:gd name="connsiteX25" fmla="*/ 9330664 w 10216055"/>
              <a:gd name="connsiteY25" fmla="*/ 1754326 h 1754326"/>
              <a:gd name="connsiteX26" fmla="*/ 8660944 w 10216055"/>
              <a:gd name="connsiteY26" fmla="*/ 1754326 h 1754326"/>
              <a:gd name="connsiteX27" fmla="*/ 8093386 w 10216055"/>
              <a:gd name="connsiteY27" fmla="*/ 1754326 h 1754326"/>
              <a:gd name="connsiteX28" fmla="*/ 7423667 w 10216055"/>
              <a:gd name="connsiteY28" fmla="*/ 1754326 h 1754326"/>
              <a:gd name="connsiteX29" fmla="*/ 6651787 w 10216055"/>
              <a:gd name="connsiteY29" fmla="*/ 1754326 h 1754326"/>
              <a:gd name="connsiteX30" fmla="*/ 5982068 w 10216055"/>
              <a:gd name="connsiteY30" fmla="*/ 1754326 h 1754326"/>
              <a:gd name="connsiteX31" fmla="*/ 5720991 w 10216055"/>
              <a:gd name="connsiteY31" fmla="*/ 1754326 h 1754326"/>
              <a:gd name="connsiteX32" fmla="*/ 5153432 w 10216055"/>
              <a:gd name="connsiteY32" fmla="*/ 1754326 h 1754326"/>
              <a:gd name="connsiteX33" fmla="*/ 4585874 w 10216055"/>
              <a:gd name="connsiteY33" fmla="*/ 1754326 h 1754326"/>
              <a:gd name="connsiteX34" fmla="*/ 3916154 w 10216055"/>
              <a:gd name="connsiteY34" fmla="*/ 1754326 h 1754326"/>
              <a:gd name="connsiteX35" fmla="*/ 3144275 w 10216055"/>
              <a:gd name="connsiteY35" fmla="*/ 1754326 h 1754326"/>
              <a:gd name="connsiteX36" fmla="*/ 2883198 w 10216055"/>
              <a:gd name="connsiteY36" fmla="*/ 1754326 h 1754326"/>
              <a:gd name="connsiteX37" fmla="*/ 2519960 w 10216055"/>
              <a:gd name="connsiteY37" fmla="*/ 1754326 h 1754326"/>
              <a:gd name="connsiteX38" fmla="*/ 2054562 w 10216055"/>
              <a:gd name="connsiteY38" fmla="*/ 1754326 h 1754326"/>
              <a:gd name="connsiteX39" fmla="*/ 1384843 w 10216055"/>
              <a:gd name="connsiteY39" fmla="*/ 1754326 h 1754326"/>
              <a:gd name="connsiteX40" fmla="*/ 1123766 w 10216055"/>
              <a:gd name="connsiteY40" fmla="*/ 1754326 h 1754326"/>
              <a:gd name="connsiteX41" fmla="*/ 658368 w 10216055"/>
              <a:gd name="connsiteY41" fmla="*/ 1754326 h 1754326"/>
              <a:gd name="connsiteX42" fmla="*/ 0 w 10216055"/>
              <a:gd name="connsiteY42" fmla="*/ 1754326 h 1754326"/>
              <a:gd name="connsiteX43" fmla="*/ 0 w 10216055"/>
              <a:gd name="connsiteY43" fmla="*/ 1222180 h 1754326"/>
              <a:gd name="connsiteX44" fmla="*/ 0 w 10216055"/>
              <a:gd name="connsiteY44" fmla="*/ 672492 h 1754326"/>
              <a:gd name="connsiteX45" fmla="*/ 0 w 10216055"/>
              <a:gd name="connsiteY45" fmla="*/ 0 h 175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216055" h="1754326" extrusionOk="0">
                <a:moveTo>
                  <a:pt x="0" y="0"/>
                </a:moveTo>
                <a:cubicBezTo>
                  <a:pt x="177693" y="-21388"/>
                  <a:pt x="353452" y="61298"/>
                  <a:pt x="669719" y="0"/>
                </a:cubicBezTo>
                <a:cubicBezTo>
                  <a:pt x="985986" y="-61298"/>
                  <a:pt x="984151" y="12950"/>
                  <a:pt x="1237278" y="0"/>
                </a:cubicBezTo>
                <a:cubicBezTo>
                  <a:pt x="1490405" y="-12950"/>
                  <a:pt x="1401022" y="18172"/>
                  <a:pt x="1498355" y="0"/>
                </a:cubicBezTo>
                <a:cubicBezTo>
                  <a:pt x="1595688" y="-18172"/>
                  <a:pt x="1863298" y="62112"/>
                  <a:pt x="2065913" y="0"/>
                </a:cubicBezTo>
                <a:cubicBezTo>
                  <a:pt x="2268528" y="-62112"/>
                  <a:pt x="2448398" y="26131"/>
                  <a:pt x="2735633" y="0"/>
                </a:cubicBezTo>
                <a:cubicBezTo>
                  <a:pt x="3022868" y="-26131"/>
                  <a:pt x="3117063" y="14210"/>
                  <a:pt x="3303191" y="0"/>
                </a:cubicBezTo>
                <a:cubicBezTo>
                  <a:pt x="3489319" y="-14210"/>
                  <a:pt x="3482620" y="351"/>
                  <a:pt x="3564268" y="0"/>
                </a:cubicBezTo>
                <a:cubicBezTo>
                  <a:pt x="3645916" y="-351"/>
                  <a:pt x="3731437" y="8979"/>
                  <a:pt x="3825345" y="0"/>
                </a:cubicBezTo>
                <a:cubicBezTo>
                  <a:pt x="3919253" y="-8979"/>
                  <a:pt x="4053538" y="24611"/>
                  <a:pt x="4188583" y="0"/>
                </a:cubicBezTo>
                <a:cubicBezTo>
                  <a:pt x="4323628" y="-24611"/>
                  <a:pt x="4563776" y="71014"/>
                  <a:pt x="4858302" y="0"/>
                </a:cubicBezTo>
                <a:cubicBezTo>
                  <a:pt x="5152828" y="-71014"/>
                  <a:pt x="5133704" y="42243"/>
                  <a:pt x="5323700" y="0"/>
                </a:cubicBezTo>
                <a:cubicBezTo>
                  <a:pt x="5513696" y="-42243"/>
                  <a:pt x="5634151" y="18317"/>
                  <a:pt x="5789098" y="0"/>
                </a:cubicBezTo>
                <a:cubicBezTo>
                  <a:pt x="5944045" y="-18317"/>
                  <a:pt x="6274827" y="54391"/>
                  <a:pt x="6458817" y="0"/>
                </a:cubicBezTo>
                <a:cubicBezTo>
                  <a:pt x="6642807" y="-54391"/>
                  <a:pt x="6869084" y="68888"/>
                  <a:pt x="7230697" y="0"/>
                </a:cubicBezTo>
                <a:cubicBezTo>
                  <a:pt x="7592310" y="-68888"/>
                  <a:pt x="7588568" y="27407"/>
                  <a:pt x="7696095" y="0"/>
                </a:cubicBezTo>
                <a:cubicBezTo>
                  <a:pt x="7803622" y="-27407"/>
                  <a:pt x="8001196" y="64470"/>
                  <a:pt x="8263653" y="0"/>
                </a:cubicBezTo>
                <a:cubicBezTo>
                  <a:pt x="8526110" y="-64470"/>
                  <a:pt x="8421878" y="28370"/>
                  <a:pt x="8524730" y="0"/>
                </a:cubicBezTo>
                <a:cubicBezTo>
                  <a:pt x="8627582" y="-28370"/>
                  <a:pt x="9103630" y="19133"/>
                  <a:pt x="9296610" y="0"/>
                </a:cubicBezTo>
                <a:cubicBezTo>
                  <a:pt x="9489590" y="-19133"/>
                  <a:pt x="9818225" y="101790"/>
                  <a:pt x="10216055" y="0"/>
                </a:cubicBezTo>
                <a:cubicBezTo>
                  <a:pt x="10225338" y="150670"/>
                  <a:pt x="10169014" y="435161"/>
                  <a:pt x="10216055" y="549689"/>
                </a:cubicBezTo>
                <a:cubicBezTo>
                  <a:pt x="10263096" y="664217"/>
                  <a:pt x="10192118" y="900496"/>
                  <a:pt x="10216055" y="1081834"/>
                </a:cubicBezTo>
                <a:cubicBezTo>
                  <a:pt x="10239992" y="1263172"/>
                  <a:pt x="10204088" y="1512757"/>
                  <a:pt x="10216055" y="1754326"/>
                </a:cubicBezTo>
                <a:cubicBezTo>
                  <a:pt x="10153521" y="1768654"/>
                  <a:pt x="10015595" y="1750731"/>
                  <a:pt x="9954978" y="1754326"/>
                </a:cubicBezTo>
                <a:cubicBezTo>
                  <a:pt x="9894361" y="1757921"/>
                  <a:pt x="9789898" y="1745241"/>
                  <a:pt x="9693901" y="1754326"/>
                </a:cubicBezTo>
                <a:cubicBezTo>
                  <a:pt x="9597904" y="1763411"/>
                  <a:pt x="9507562" y="1747461"/>
                  <a:pt x="9330664" y="1754326"/>
                </a:cubicBezTo>
                <a:cubicBezTo>
                  <a:pt x="9153766" y="1761191"/>
                  <a:pt x="8904955" y="1747370"/>
                  <a:pt x="8660944" y="1754326"/>
                </a:cubicBezTo>
                <a:cubicBezTo>
                  <a:pt x="8416933" y="1761282"/>
                  <a:pt x="8208605" y="1723944"/>
                  <a:pt x="8093386" y="1754326"/>
                </a:cubicBezTo>
                <a:cubicBezTo>
                  <a:pt x="7978167" y="1784708"/>
                  <a:pt x="7707964" y="1674219"/>
                  <a:pt x="7423667" y="1754326"/>
                </a:cubicBezTo>
                <a:cubicBezTo>
                  <a:pt x="7139370" y="1834433"/>
                  <a:pt x="6938972" y="1728359"/>
                  <a:pt x="6651787" y="1754326"/>
                </a:cubicBezTo>
                <a:cubicBezTo>
                  <a:pt x="6364602" y="1780293"/>
                  <a:pt x="6132026" y="1739316"/>
                  <a:pt x="5982068" y="1754326"/>
                </a:cubicBezTo>
                <a:cubicBezTo>
                  <a:pt x="5832110" y="1769336"/>
                  <a:pt x="5825226" y="1738515"/>
                  <a:pt x="5720991" y="1754326"/>
                </a:cubicBezTo>
                <a:cubicBezTo>
                  <a:pt x="5616756" y="1770137"/>
                  <a:pt x="5289202" y="1713612"/>
                  <a:pt x="5153432" y="1754326"/>
                </a:cubicBezTo>
                <a:cubicBezTo>
                  <a:pt x="5017662" y="1795040"/>
                  <a:pt x="4720964" y="1732402"/>
                  <a:pt x="4585874" y="1754326"/>
                </a:cubicBezTo>
                <a:cubicBezTo>
                  <a:pt x="4450784" y="1776250"/>
                  <a:pt x="4133004" y="1692500"/>
                  <a:pt x="3916154" y="1754326"/>
                </a:cubicBezTo>
                <a:cubicBezTo>
                  <a:pt x="3699304" y="1816152"/>
                  <a:pt x="3309079" y="1698316"/>
                  <a:pt x="3144275" y="1754326"/>
                </a:cubicBezTo>
                <a:cubicBezTo>
                  <a:pt x="2979471" y="1810336"/>
                  <a:pt x="2942975" y="1723096"/>
                  <a:pt x="2883198" y="1754326"/>
                </a:cubicBezTo>
                <a:cubicBezTo>
                  <a:pt x="2823421" y="1785556"/>
                  <a:pt x="2695483" y="1715750"/>
                  <a:pt x="2519960" y="1754326"/>
                </a:cubicBezTo>
                <a:cubicBezTo>
                  <a:pt x="2344437" y="1792902"/>
                  <a:pt x="2274350" y="1747825"/>
                  <a:pt x="2054562" y="1754326"/>
                </a:cubicBezTo>
                <a:cubicBezTo>
                  <a:pt x="1834774" y="1760827"/>
                  <a:pt x="1543321" y="1691728"/>
                  <a:pt x="1384843" y="1754326"/>
                </a:cubicBezTo>
                <a:cubicBezTo>
                  <a:pt x="1226365" y="1816924"/>
                  <a:pt x="1206366" y="1751072"/>
                  <a:pt x="1123766" y="1754326"/>
                </a:cubicBezTo>
                <a:cubicBezTo>
                  <a:pt x="1041166" y="1757580"/>
                  <a:pt x="869307" y="1724442"/>
                  <a:pt x="658368" y="1754326"/>
                </a:cubicBezTo>
                <a:cubicBezTo>
                  <a:pt x="447429" y="1784210"/>
                  <a:pt x="254100" y="1746314"/>
                  <a:pt x="0" y="1754326"/>
                </a:cubicBezTo>
                <a:cubicBezTo>
                  <a:pt x="-12506" y="1546033"/>
                  <a:pt x="24807" y="1333260"/>
                  <a:pt x="0" y="1222180"/>
                </a:cubicBezTo>
                <a:cubicBezTo>
                  <a:pt x="-24807" y="1111100"/>
                  <a:pt x="32857" y="856287"/>
                  <a:pt x="0" y="672492"/>
                </a:cubicBezTo>
                <a:cubicBezTo>
                  <a:pt x="-32857" y="488697"/>
                  <a:pt x="46280" y="287081"/>
                  <a:pt x="0" y="0"/>
                </a:cubicBezTo>
                <a:close/>
              </a:path>
            </a:pathLst>
          </a:custGeom>
          <a:noFill/>
          <a:ln w="57150">
            <a:solidFill>
              <a:srgbClr val="7030A0"/>
            </a:solidFill>
            <a:extLst>
              <a:ext uri="{C807C97D-BFC1-408E-A445-0C87EB9F89A2}">
                <ask:lineSketchStyleProps xmlns:ask="http://schemas.microsoft.com/office/drawing/2018/sketchyshapes" sd="1879571029">
                  <a:prstGeom prst="rect">
                    <a:avLst/>
                  </a:prstGeom>
                  <ask:type>
                    <ask:lineSketchScribble/>
                  </ask:type>
                </ask:lineSketchStyleProps>
              </a:ext>
            </a:extLst>
          </a:ln>
        </p:spPr>
        <p:txBody>
          <a:bodyPr wrap="square">
            <a:spAutoFit/>
          </a:bodyPr>
          <a:lstStyle/>
          <a:p>
            <a:pPr algn="just"/>
            <a:r>
              <a:rPr lang="es-MX" sz="1800" b="0" i="0" u="none" strike="noStrike" baseline="0" dirty="0">
                <a:solidFill>
                  <a:srgbClr val="000000"/>
                </a:solidFill>
                <a:latin typeface="Cambria" panose="02040503050406030204" pitchFamily="18" charset="0"/>
              </a:rPr>
              <a:t>Supuestos, de evidencia, la resolución por jurisdicción IOC y la autoridad judicial </a:t>
            </a:r>
            <a:r>
              <a:rPr lang="es-MX" sz="1800" b="0" i="1" u="sng" strike="noStrike" baseline="0" dirty="0">
                <a:solidFill>
                  <a:srgbClr val="FF0000"/>
                </a:solidFill>
                <a:latin typeface="Cambria" panose="02040503050406030204" pitchFamily="18" charset="0"/>
              </a:rPr>
              <a:t>tenga duda sobre si la decisión asumida lesiona derechos fundamentales</a:t>
            </a:r>
            <a:r>
              <a:rPr lang="es-MX" sz="1800" b="0" i="0" u="none" strike="noStrike" baseline="0" dirty="0">
                <a:solidFill>
                  <a:srgbClr val="000000"/>
                </a:solidFill>
                <a:latin typeface="Cambria" panose="02040503050406030204" pitchFamily="18" charset="0"/>
              </a:rPr>
              <a:t>, deberá igualmente, declarar la existencia de cosa juzgada o en su caso la extinción de la acción penal, </a:t>
            </a:r>
            <a:r>
              <a:rPr lang="es-MX" sz="1800" b="1" i="1" u="none" strike="noStrike" baseline="0" dirty="0">
                <a:solidFill>
                  <a:srgbClr val="000000"/>
                </a:solidFill>
                <a:latin typeface="Cambria" panose="02040503050406030204" pitchFamily="18" charset="0"/>
              </a:rPr>
              <a:t>dejando establecido que la jurisdicción ordinaria o agroambiental no pueden ser la vía para revisar las resoluciones de la jurisdicción </a:t>
            </a:r>
            <a:r>
              <a:rPr lang="es-MX" sz="1800" b="0" i="0" u="none" strike="noStrike" baseline="0" dirty="0">
                <a:solidFill>
                  <a:srgbClr val="000000"/>
                </a:solidFill>
                <a:latin typeface="Cambria" panose="02040503050406030204" pitchFamily="18" charset="0"/>
              </a:rPr>
              <a:t>IOC por supuesta lesión a derechos y garantías constitucionales; la vía idónea es la justicia constitucional. </a:t>
            </a:r>
            <a:endParaRPr lang="es-BO" dirty="0"/>
          </a:p>
        </p:txBody>
      </p:sp>
      <p:sp>
        <p:nvSpPr>
          <p:cNvPr id="7" name="CuadroTexto 6">
            <a:extLst>
              <a:ext uri="{FF2B5EF4-FFF2-40B4-BE49-F238E27FC236}">
                <a16:creationId xmlns:a16="http://schemas.microsoft.com/office/drawing/2014/main" id="{4AF4BE55-D944-455B-BF79-3312853CA349}"/>
              </a:ext>
            </a:extLst>
          </p:cNvPr>
          <p:cNvSpPr txBox="1"/>
          <p:nvPr/>
        </p:nvSpPr>
        <p:spPr>
          <a:xfrm>
            <a:off x="336331" y="270669"/>
            <a:ext cx="11267090" cy="369332"/>
          </a:xfrm>
          <a:prstGeom prst="rect">
            <a:avLst/>
          </a:prstGeom>
          <a:noFill/>
          <a:ln w="57150">
            <a:solidFill>
              <a:srgbClr val="FF0000"/>
            </a:solidFill>
          </a:ln>
        </p:spPr>
        <p:txBody>
          <a:bodyPr wrap="square">
            <a:spAutoFit/>
          </a:bodyPr>
          <a:lstStyle/>
          <a:p>
            <a:r>
              <a:rPr lang="es-MX" sz="1800" b="1" i="0" u="none" strike="noStrike" baseline="0" dirty="0">
                <a:solidFill>
                  <a:srgbClr val="000000"/>
                </a:solidFill>
                <a:latin typeface="Cambria" panose="02040503050406030204" pitchFamily="18" charset="0"/>
              </a:rPr>
              <a:t>a.2.Supuestos de decisiones incompatibles con los estándares internacionales sobre derechos humanos: </a:t>
            </a:r>
            <a:endParaRPr lang="es-MX" sz="1800" b="0" i="0" u="none" strike="noStrike" baseline="0" dirty="0">
              <a:solidFill>
                <a:srgbClr val="000000"/>
              </a:solidFill>
              <a:latin typeface="Cambria" panose="02040503050406030204" pitchFamily="18" charset="0"/>
            </a:endParaRPr>
          </a:p>
        </p:txBody>
      </p:sp>
      <p:sp>
        <p:nvSpPr>
          <p:cNvPr id="9" name="CuadroTexto 8">
            <a:extLst>
              <a:ext uri="{FF2B5EF4-FFF2-40B4-BE49-F238E27FC236}">
                <a16:creationId xmlns:a16="http://schemas.microsoft.com/office/drawing/2014/main" id="{678F842C-516C-455A-8134-452E82558457}"/>
              </a:ext>
            </a:extLst>
          </p:cNvPr>
          <p:cNvSpPr txBox="1"/>
          <p:nvPr/>
        </p:nvSpPr>
        <p:spPr>
          <a:xfrm>
            <a:off x="336330" y="3003358"/>
            <a:ext cx="6138041" cy="646331"/>
          </a:xfrm>
          <a:prstGeom prst="rect">
            <a:avLst/>
          </a:prstGeom>
          <a:noFill/>
          <a:ln>
            <a:solidFill>
              <a:srgbClr val="7030A0"/>
            </a:solidFill>
          </a:ln>
        </p:spPr>
        <p:txBody>
          <a:bodyPr wrap="square">
            <a:spAutoFit/>
          </a:bodyPr>
          <a:lstStyle/>
          <a:p>
            <a:r>
              <a:rPr lang="es-MX" sz="1800" b="0" i="0" u="none" strike="noStrike" baseline="0" dirty="0">
                <a:solidFill>
                  <a:srgbClr val="000000"/>
                </a:solidFill>
                <a:latin typeface="Cambria" panose="02040503050406030204" pitchFamily="18" charset="0"/>
              </a:rPr>
              <a:t>Sin embargo, un tratamiento especial merecen las personas que se encuentran en situación de vulnerabilidad, </a:t>
            </a:r>
            <a:endParaRPr lang="es-BO" dirty="0"/>
          </a:p>
        </p:txBody>
      </p:sp>
      <p:sp>
        <p:nvSpPr>
          <p:cNvPr id="11" name="CuadroTexto 10">
            <a:extLst>
              <a:ext uri="{FF2B5EF4-FFF2-40B4-BE49-F238E27FC236}">
                <a16:creationId xmlns:a16="http://schemas.microsoft.com/office/drawing/2014/main" id="{A40939FF-A411-4819-B7D6-3574F3980CD0}"/>
              </a:ext>
            </a:extLst>
          </p:cNvPr>
          <p:cNvSpPr txBox="1"/>
          <p:nvPr/>
        </p:nvSpPr>
        <p:spPr>
          <a:xfrm>
            <a:off x="409902" y="3908718"/>
            <a:ext cx="11109436" cy="1815882"/>
          </a:xfrm>
          <a:custGeom>
            <a:avLst/>
            <a:gdLst>
              <a:gd name="connsiteX0" fmla="*/ 0 w 11109436"/>
              <a:gd name="connsiteY0" fmla="*/ 0 h 1815882"/>
              <a:gd name="connsiteX1" fmla="*/ 473613 w 11109436"/>
              <a:gd name="connsiteY1" fmla="*/ 0 h 1815882"/>
              <a:gd name="connsiteX2" fmla="*/ 836131 w 11109436"/>
              <a:gd name="connsiteY2" fmla="*/ 0 h 1815882"/>
              <a:gd name="connsiteX3" fmla="*/ 1643027 w 11109436"/>
              <a:gd name="connsiteY3" fmla="*/ 0 h 1815882"/>
              <a:gd name="connsiteX4" fmla="*/ 2116640 w 11109436"/>
              <a:gd name="connsiteY4" fmla="*/ 0 h 1815882"/>
              <a:gd name="connsiteX5" fmla="*/ 2479158 w 11109436"/>
              <a:gd name="connsiteY5" fmla="*/ 0 h 1815882"/>
              <a:gd name="connsiteX6" fmla="*/ 2952771 w 11109436"/>
              <a:gd name="connsiteY6" fmla="*/ 0 h 1815882"/>
              <a:gd name="connsiteX7" fmla="*/ 3204195 w 11109436"/>
              <a:gd name="connsiteY7" fmla="*/ 0 h 1815882"/>
              <a:gd name="connsiteX8" fmla="*/ 3566714 w 11109436"/>
              <a:gd name="connsiteY8" fmla="*/ 0 h 1815882"/>
              <a:gd name="connsiteX9" fmla="*/ 4262515 w 11109436"/>
              <a:gd name="connsiteY9" fmla="*/ 0 h 1815882"/>
              <a:gd name="connsiteX10" fmla="*/ 4847222 w 11109436"/>
              <a:gd name="connsiteY10" fmla="*/ 0 h 1815882"/>
              <a:gd name="connsiteX11" fmla="*/ 5654118 w 11109436"/>
              <a:gd name="connsiteY11" fmla="*/ 0 h 1815882"/>
              <a:gd name="connsiteX12" fmla="*/ 5905542 w 11109436"/>
              <a:gd name="connsiteY12" fmla="*/ 0 h 1815882"/>
              <a:gd name="connsiteX13" fmla="*/ 6712438 w 11109436"/>
              <a:gd name="connsiteY13" fmla="*/ 0 h 1815882"/>
              <a:gd name="connsiteX14" fmla="*/ 7408240 w 11109436"/>
              <a:gd name="connsiteY14" fmla="*/ 0 h 1815882"/>
              <a:gd name="connsiteX15" fmla="*/ 7659664 w 11109436"/>
              <a:gd name="connsiteY15" fmla="*/ 0 h 1815882"/>
              <a:gd name="connsiteX16" fmla="*/ 8022182 w 11109436"/>
              <a:gd name="connsiteY16" fmla="*/ 0 h 1815882"/>
              <a:gd name="connsiteX17" fmla="*/ 8273606 w 11109436"/>
              <a:gd name="connsiteY17" fmla="*/ 0 h 1815882"/>
              <a:gd name="connsiteX18" fmla="*/ 8858313 w 11109436"/>
              <a:gd name="connsiteY18" fmla="*/ 0 h 1815882"/>
              <a:gd name="connsiteX19" fmla="*/ 9109738 w 11109436"/>
              <a:gd name="connsiteY19" fmla="*/ 0 h 1815882"/>
              <a:gd name="connsiteX20" fmla="*/ 9472256 w 11109436"/>
              <a:gd name="connsiteY20" fmla="*/ 0 h 1815882"/>
              <a:gd name="connsiteX21" fmla="*/ 9834774 w 11109436"/>
              <a:gd name="connsiteY21" fmla="*/ 0 h 1815882"/>
              <a:gd name="connsiteX22" fmla="*/ 10419482 w 11109436"/>
              <a:gd name="connsiteY22" fmla="*/ 0 h 1815882"/>
              <a:gd name="connsiteX23" fmla="*/ 11109436 w 11109436"/>
              <a:gd name="connsiteY23" fmla="*/ 0 h 1815882"/>
              <a:gd name="connsiteX24" fmla="*/ 11109436 w 11109436"/>
              <a:gd name="connsiteY24" fmla="*/ 417653 h 1815882"/>
              <a:gd name="connsiteX25" fmla="*/ 11109436 w 11109436"/>
              <a:gd name="connsiteY25" fmla="*/ 871623 h 1815882"/>
              <a:gd name="connsiteX26" fmla="*/ 11109436 w 11109436"/>
              <a:gd name="connsiteY26" fmla="*/ 1271117 h 1815882"/>
              <a:gd name="connsiteX27" fmla="*/ 11109436 w 11109436"/>
              <a:gd name="connsiteY27" fmla="*/ 1815882 h 1815882"/>
              <a:gd name="connsiteX28" fmla="*/ 10858012 w 11109436"/>
              <a:gd name="connsiteY28" fmla="*/ 1815882 h 1815882"/>
              <a:gd name="connsiteX29" fmla="*/ 10495493 w 11109436"/>
              <a:gd name="connsiteY29" fmla="*/ 1815882 h 1815882"/>
              <a:gd name="connsiteX30" fmla="*/ 9688598 w 11109436"/>
              <a:gd name="connsiteY30" fmla="*/ 1815882 h 1815882"/>
              <a:gd name="connsiteX31" fmla="*/ 9326079 w 11109436"/>
              <a:gd name="connsiteY31" fmla="*/ 1815882 h 1815882"/>
              <a:gd name="connsiteX32" fmla="*/ 8852466 w 11109436"/>
              <a:gd name="connsiteY32" fmla="*/ 1815882 h 1815882"/>
              <a:gd name="connsiteX33" fmla="*/ 8601042 w 11109436"/>
              <a:gd name="connsiteY33" fmla="*/ 1815882 h 1815882"/>
              <a:gd name="connsiteX34" fmla="*/ 8016335 w 11109436"/>
              <a:gd name="connsiteY34" fmla="*/ 1815882 h 1815882"/>
              <a:gd name="connsiteX35" fmla="*/ 7542722 w 11109436"/>
              <a:gd name="connsiteY35" fmla="*/ 1815882 h 1815882"/>
              <a:gd name="connsiteX36" fmla="*/ 7291298 w 11109436"/>
              <a:gd name="connsiteY36" fmla="*/ 1815882 h 1815882"/>
              <a:gd name="connsiteX37" fmla="*/ 6706591 w 11109436"/>
              <a:gd name="connsiteY37" fmla="*/ 1815882 h 1815882"/>
              <a:gd name="connsiteX38" fmla="*/ 6232978 w 11109436"/>
              <a:gd name="connsiteY38" fmla="*/ 1815882 h 1815882"/>
              <a:gd name="connsiteX39" fmla="*/ 5981554 w 11109436"/>
              <a:gd name="connsiteY39" fmla="*/ 1815882 h 1815882"/>
              <a:gd name="connsiteX40" fmla="*/ 5174658 w 11109436"/>
              <a:gd name="connsiteY40" fmla="*/ 1815882 h 1815882"/>
              <a:gd name="connsiteX41" fmla="*/ 4923234 w 11109436"/>
              <a:gd name="connsiteY41" fmla="*/ 1815882 h 1815882"/>
              <a:gd name="connsiteX42" fmla="*/ 4116338 w 11109436"/>
              <a:gd name="connsiteY42" fmla="*/ 1815882 h 1815882"/>
              <a:gd name="connsiteX43" fmla="*/ 3642726 w 11109436"/>
              <a:gd name="connsiteY43" fmla="*/ 1815882 h 1815882"/>
              <a:gd name="connsiteX44" fmla="*/ 3169113 w 11109436"/>
              <a:gd name="connsiteY44" fmla="*/ 1815882 h 1815882"/>
              <a:gd name="connsiteX45" fmla="*/ 2584406 w 11109436"/>
              <a:gd name="connsiteY45" fmla="*/ 1815882 h 1815882"/>
              <a:gd name="connsiteX46" fmla="*/ 1999698 w 11109436"/>
              <a:gd name="connsiteY46" fmla="*/ 1815882 h 1815882"/>
              <a:gd name="connsiteX47" fmla="*/ 1748274 w 11109436"/>
              <a:gd name="connsiteY47" fmla="*/ 1815882 h 1815882"/>
              <a:gd name="connsiteX48" fmla="*/ 941379 w 11109436"/>
              <a:gd name="connsiteY48" fmla="*/ 1815882 h 1815882"/>
              <a:gd name="connsiteX49" fmla="*/ 0 w 11109436"/>
              <a:gd name="connsiteY49" fmla="*/ 1815882 h 1815882"/>
              <a:gd name="connsiteX50" fmla="*/ 0 w 11109436"/>
              <a:gd name="connsiteY50" fmla="*/ 1325594 h 1815882"/>
              <a:gd name="connsiteX51" fmla="*/ 0 w 11109436"/>
              <a:gd name="connsiteY51" fmla="*/ 871623 h 1815882"/>
              <a:gd name="connsiteX52" fmla="*/ 0 w 11109436"/>
              <a:gd name="connsiteY52" fmla="*/ 435812 h 1815882"/>
              <a:gd name="connsiteX53" fmla="*/ 0 w 11109436"/>
              <a:gd name="connsiteY53" fmla="*/ 0 h 1815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109436" h="1815882" fill="none" extrusionOk="0">
                <a:moveTo>
                  <a:pt x="0" y="0"/>
                </a:moveTo>
                <a:cubicBezTo>
                  <a:pt x="189501" y="-6632"/>
                  <a:pt x="298208" y="44422"/>
                  <a:pt x="473613" y="0"/>
                </a:cubicBezTo>
                <a:cubicBezTo>
                  <a:pt x="649018" y="-44422"/>
                  <a:pt x="731911" y="20311"/>
                  <a:pt x="836131" y="0"/>
                </a:cubicBezTo>
                <a:cubicBezTo>
                  <a:pt x="940351" y="-20311"/>
                  <a:pt x="1243106" y="61943"/>
                  <a:pt x="1643027" y="0"/>
                </a:cubicBezTo>
                <a:cubicBezTo>
                  <a:pt x="2042948" y="-61943"/>
                  <a:pt x="1912562" y="4034"/>
                  <a:pt x="2116640" y="0"/>
                </a:cubicBezTo>
                <a:cubicBezTo>
                  <a:pt x="2320718" y="-4034"/>
                  <a:pt x="2389102" y="23963"/>
                  <a:pt x="2479158" y="0"/>
                </a:cubicBezTo>
                <a:cubicBezTo>
                  <a:pt x="2569214" y="-23963"/>
                  <a:pt x="2737809" y="973"/>
                  <a:pt x="2952771" y="0"/>
                </a:cubicBezTo>
                <a:cubicBezTo>
                  <a:pt x="3167733" y="-973"/>
                  <a:pt x="3097739" y="29964"/>
                  <a:pt x="3204195" y="0"/>
                </a:cubicBezTo>
                <a:cubicBezTo>
                  <a:pt x="3310651" y="-29964"/>
                  <a:pt x="3443218" y="5234"/>
                  <a:pt x="3566714" y="0"/>
                </a:cubicBezTo>
                <a:cubicBezTo>
                  <a:pt x="3690210" y="-5234"/>
                  <a:pt x="4098191" y="29223"/>
                  <a:pt x="4262515" y="0"/>
                </a:cubicBezTo>
                <a:cubicBezTo>
                  <a:pt x="4426839" y="-29223"/>
                  <a:pt x="4620185" y="47917"/>
                  <a:pt x="4847222" y="0"/>
                </a:cubicBezTo>
                <a:cubicBezTo>
                  <a:pt x="5074259" y="-47917"/>
                  <a:pt x="5392773" y="22079"/>
                  <a:pt x="5654118" y="0"/>
                </a:cubicBezTo>
                <a:cubicBezTo>
                  <a:pt x="5915463" y="-22079"/>
                  <a:pt x="5855232" y="21291"/>
                  <a:pt x="5905542" y="0"/>
                </a:cubicBezTo>
                <a:cubicBezTo>
                  <a:pt x="5955852" y="-21291"/>
                  <a:pt x="6400894" y="67500"/>
                  <a:pt x="6712438" y="0"/>
                </a:cubicBezTo>
                <a:cubicBezTo>
                  <a:pt x="7023982" y="-67500"/>
                  <a:pt x="7076481" y="35090"/>
                  <a:pt x="7408240" y="0"/>
                </a:cubicBezTo>
                <a:cubicBezTo>
                  <a:pt x="7739999" y="-35090"/>
                  <a:pt x="7580062" y="21254"/>
                  <a:pt x="7659664" y="0"/>
                </a:cubicBezTo>
                <a:cubicBezTo>
                  <a:pt x="7739266" y="-21254"/>
                  <a:pt x="7845857" y="34035"/>
                  <a:pt x="8022182" y="0"/>
                </a:cubicBezTo>
                <a:cubicBezTo>
                  <a:pt x="8198507" y="-34035"/>
                  <a:pt x="8214136" y="11017"/>
                  <a:pt x="8273606" y="0"/>
                </a:cubicBezTo>
                <a:cubicBezTo>
                  <a:pt x="8333076" y="-11017"/>
                  <a:pt x="8587079" y="17492"/>
                  <a:pt x="8858313" y="0"/>
                </a:cubicBezTo>
                <a:cubicBezTo>
                  <a:pt x="9129547" y="-17492"/>
                  <a:pt x="9042151" y="25143"/>
                  <a:pt x="9109738" y="0"/>
                </a:cubicBezTo>
                <a:cubicBezTo>
                  <a:pt x="9177325" y="-25143"/>
                  <a:pt x="9307534" y="27247"/>
                  <a:pt x="9472256" y="0"/>
                </a:cubicBezTo>
                <a:cubicBezTo>
                  <a:pt x="9636978" y="-27247"/>
                  <a:pt x="9663769" y="20600"/>
                  <a:pt x="9834774" y="0"/>
                </a:cubicBezTo>
                <a:cubicBezTo>
                  <a:pt x="10005779" y="-20600"/>
                  <a:pt x="10155360" y="25258"/>
                  <a:pt x="10419482" y="0"/>
                </a:cubicBezTo>
                <a:cubicBezTo>
                  <a:pt x="10683604" y="-25258"/>
                  <a:pt x="10802837" y="7404"/>
                  <a:pt x="11109436" y="0"/>
                </a:cubicBezTo>
                <a:cubicBezTo>
                  <a:pt x="11141774" y="163675"/>
                  <a:pt x="11066462" y="323838"/>
                  <a:pt x="11109436" y="417653"/>
                </a:cubicBezTo>
                <a:cubicBezTo>
                  <a:pt x="11152410" y="511468"/>
                  <a:pt x="11102920" y="671701"/>
                  <a:pt x="11109436" y="871623"/>
                </a:cubicBezTo>
                <a:cubicBezTo>
                  <a:pt x="11115952" y="1071545"/>
                  <a:pt x="11070689" y="1143742"/>
                  <a:pt x="11109436" y="1271117"/>
                </a:cubicBezTo>
                <a:cubicBezTo>
                  <a:pt x="11148183" y="1398492"/>
                  <a:pt x="11063915" y="1644470"/>
                  <a:pt x="11109436" y="1815882"/>
                </a:cubicBezTo>
                <a:cubicBezTo>
                  <a:pt x="11005998" y="1821737"/>
                  <a:pt x="10976663" y="1804414"/>
                  <a:pt x="10858012" y="1815882"/>
                </a:cubicBezTo>
                <a:cubicBezTo>
                  <a:pt x="10739361" y="1827350"/>
                  <a:pt x="10585587" y="1805113"/>
                  <a:pt x="10495493" y="1815882"/>
                </a:cubicBezTo>
                <a:cubicBezTo>
                  <a:pt x="10405399" y="1826651"/>
                  <a:pt x="9991315" y="1738502"/>
                  <a:pt x="9688598" y="1815882"/>
                </a:cubicBezTo>
                <a:cubicBezTo>
                  <a:pt x="9385881" y="1893262"/>
                  <a:pt x="9449555" y="1799784"/>
                  <a:pt x="9326079" y="1815882"/>
                </a:cubicBezTo>
                <a:cubicBezTo>
                  <a:pt x="9202603" y="1831980"/>
                  <a:pt x="9043930" y="1765919"/>
                  <a:pt x="8852466" y="1815882"/>
                </a:cubicBezTo>
                <a:cubicBezTo>
                  <a:pt x="8661002" y="1865845"/>
                  <a:pt x="8689777" y="1788838"/>
                  <a:pt x="8601042" y="1815882"/>
                </a:cubicBezTo>
                <a:cubicBezTo>
                  <a:pt x="8512307" y="1842926"/>
                  <a:pt x="8160897" y="1801178"/>
                  <a:pt x="8016335" y="1815882"/>
                </a:cubicBezTo>
                <a:cubicBezTo>
                  <a:pt x="7871773" y="1830586"/>
                  <a:pt x="7654426" y="1802680"/>
                  <a:pt x="7542722" y="1815882"/>
                </a:cubicBezTo>
                <a:cubicBezTo>
                  <a:pt x="7431018" y="1829084"/>
                  <a:pt x="7414802" y="1815068"/>
                  <a:pt x="7291298" y="1815882"/>
                </a:cubicBezTo>
                <a:cubicBezTo>
                  <a:pt x="7167794" y="1816696"/>
                  <a:pt x="6948373" y="1795526"/>
                  <a:pt x="6706591" y="1815882"/>
                </a:cubicBezTo>
                <a:cubicBezTo>
                  <a:pt x="6464809" y="1836238"/>
                  <a:pt x="6468247" y="1774501"/>
                  <a:pt x="6232978" y="1815882"/>
                </a:cubicBezTo>
                <a:cubicBezTo>
                  <a:pt x="5997709" y="1857263"/>
                  <a:pt x="6058572" y="1800356"/>
                  <a:pt x="5981554" y="1815882"/>
                </a:cubicBezTo>
                <a:cubicBezTo>
                  <a:pt x="5904536" y="1831408"/>
                  <a:pt x="5375853" y="1790224"/>
                  <a:pt x="5174658" y="1815882"/>
                </a:cubicBezTo>
                <a:cubicBezTo>
                  <a:pt x="4973463" y="1841540"/>
                  <a:pt x="5013553" y="1785907"/>
                  <a:pt x="4923234" y="1815882"/>
                </a:cubicBezTo>
                <a:cubicBezTo>
                  <a:pt x="4832915" y="1845857"/>
                  <a:pt x="4314789" y="1732665"/>
                  <a:pt x="4116338" y="1815882"/>
                </a:cubicBezTo>
                <a:cubicBezTo>
                  <a:pt x="3917887" y="1899099"/>
                  <a:pt x="3785714" y="1801136"/>
                  <a:pt x="3642726" y="1815882"/>
                </a:cubicBezTo>
                <a:cubicBezTo>
                  <a:pt x="3499738" y="1830628"/>
                  <a:pt x="3327777" y="1765291"/>
                  <a:pt x="3169113" y="1815882"/>
                </a:cubicBezTo>
                <a:cubicBezTo>
                  <a:pt x="3010449" y="1866473"/>
                  <a:pt x="2826290" y="1801301"/>
                  <a:pt x="2584406" y="1815882"/>
                </a:cubicBezTo>
                <a:cubicBezTo>
                  <a:pt x="2342522" y="1830463"/>
                  <a:pt x="2198591" y="1806020"/>
                  <a:pt x="1999698" y="1815882"/>
                </a:cubicBezTo>
                <a:cubicBezTo>
                  <a:pt x="1800805" y="1825744"/>
                  <a:pt x="1812035" y="1810318"/>
                  <a:pt x="1748274" y="1815882"/>
                </a:cubicBezTo>
                <a:cubicBezTo>
                  <a:pt x="1684513" y="1821446"/>
                  <a:pt x="1235418" y="1739306"/>
                  <a:pt x="941379" y="1815882"/>
                </a:cubicBezTo>
                <a:cubicBezTo>
                  <a:pt x="647340" y="1892458"/>
                  <a:pt x="211197" y="1729326"/>
                  <a:pt x="0" y="1815882"/>
                </a:cubicBezTo>
                <a:cubicBezTo>
                  <a:pt x="-39155" y="1712200"/>
                  <a:pt x="35726" y="1535466"/>
                  <a:pt x="0" y="1325594"/>
                </a:cubicBezTo>
                <a:cubicBezTo>
                  <a:pt x="-35726" y="1115722"/>
                  <a:pt x="1305" y="1035531"/>
                  <a:pt x="0" y="871623"/>
                </a:cubicBezTo>
                <a:cubicBezTo>
                  <a:pt x="-1305" y="707715"/>
                  <a:pt x="26089" y="568694"/>
                  <a:pt x="0" y="435812"/>
                </a:cubicBezTo>
                <a:cubicBezTo>
                  <a:pt x="-26089" y="302930"/>
                  <a:pt x="21614" y="195821"/>
                  <a:pt x="0" y="0"/>
                </a:cubicBezTo>
                <a:close/>
              </a:path>
              <a:path w="11109436" h="1815882" stroke="0" extrusionOk="0">
                <a:moveTo>
                  <a:pt x="0" y="0"/>
                </a:moveTo>
                <a:cubicBezTo>
                  <a:pt x="164424" y="-22316"/>
                  <a:pt x="341179" y="7959"/>
                  <a:pt x="473613" y="0"/>
                </a:cubicBezTo>
                <a:cubicBezTo>
                  <a:pt x="606047" y="-7959"/>
                  <a:pt x="1006880" y="38102"/>
                  <a:pt x="1169414" y="0"/>
                </a:cubicBezTo>
                <a:cubicBezTo>
                  <a:pt x="1331948" y="-38102"/>
                  <a:pt x="1362181" y="19892"/>
                  <a:pt x="1420838" y="0"/>
                </a:cubicBezTo>
                <a:cubicBezTo>
                  <a:pt x="1479495" y="-19892"/>
                  <a:pt x="1613971" y="21522"/>
                  <a:pt x="1672262" y="0"/>
                </a:cubicBezTo>
                <a:cubicBezTo>
                  <a:pt x="1730553" y="-21522"/>
                  <a:pt x="1848099" y="6806"/>
                  <a:pt x="1923687" y="0"/>
                </a:cubicBezTo>
                <a:cubicBezTo>
                  <a:pt x="1999276" y="-6806"/>
                  <a:pt x="2232989" y="43162"/>
                  <a:pt x="2397299" y="0"/>
                </a:cubicBezTo>
                <a:cubicBezTo>
                  <a:pt x="2561609" y="-43162"/>
                  <a:pt x="2665899" y="15497"/>
                  <a:pt x="2759818" y="0"/>
                </a:cubicBezTo>
                <a:cubicBezTo>
                  <a:pt x="2853737" y="-15497"/>
                  <a:pt x="3183407" y="38105"/>
                  <a:pt x="3344525" y="0"/>
                </a:cubicBezTo>
                <a:cubicBezTo>
                  <a:pt x="3505643" y="-38105"/>
                  <a:pt x="3776772" y="68030"/>
                  <a:pt x="4151421" y="0"/>
                </a:cubicBezTo>
                <a:cubicBezTo>
                  <a:pt x="4526070" y="-68030"/>
                  <a:pt x="4588976" y="13649"/>
                  <a:pt x="4736128" y="0"/>
                </a:cubicBezTo>
                <a:cubicBezTo>
                  <a:pt x="4883280" y="-13649"/>
                  <a:pt x="4985089" y="5905"/>
                  <a:pt x="5209741" y="0"/>
                </a:cubicBezTo>
                <a:cubicBezTo>
                  <a:pt x="5434393" y="-5905"/>
                  <a:pt x="5624344" y="3571"/>
                  <a:pt x="6016637" y="0"/>
                </a:cubicBezTo>
                <a:cubicBezTo>
                  <a:pt x="6408930" y="-3571"/>
                  <a:pt x="6211827" y="25463"/>
                  <a:pt x="6268061" y="0"/>
                </a:cubicBezTo>
                <a:cubicBezTo>
                  <a:pt x="6324295" y="-25463"/>
                  <a:pt x="6428566" y="16081"/>
                  <a:pt x="6519485" y="0"/>
                </a:cubicBezTo>
                <a:cubicBezTo>
                  <a:pt x="6610404" y="-16081"/>
                  <a:pt x="6818872" y="48832"/>
                  <a:pt x="7104192" y="0"/>
                </a:cubicBezTo>
                <a:cubicBezTo>
                  <a:pt x="7389512" y="-48832"/>
                  <a:pt x="7381330" y="35133"/>
                  <a:pt x="7466710" y="0"/>
                </a:cubicBezTo>
                <a:cubicBezTo>
                  <a:pt x="7552090" y="-35133"/>
                  <a:pt x="7851704" y="42776"/>
                  <a:pt x="8051418" y="0"/>
                </a:cubicBezTo>
                <a:cubicBezTo>
                  <a:pt x="8251132" y="-42776"/>
                  <a:pt x="8597262" y="29921"/>
                  <a:pt x="8858313" y="0"/>
                </a:cubicBezTo>
                <a:cubicBezTo>
                  <a:pt x="9119365" y="-29921"/>
                  <a:pt x="9098110" y="16395"/>
                  <a:pt x="9220832" y="0"/>
                </a:cubicBezTo>
                <a:cubicBezTo>
                  <a:pt x="9343554" y="-16395"/>
                  <a:pt x="9530760" y="53140"/>
                  <a:pt x="9694445" y="0"/>
                </a:cubicBezTo>
                <a:cubicBezTo>
                  <a:pt x="9858130" y="-53140"/>
                  <a:pt x="9984109" y="9860"/>
                  <a:pt x="10056963" y="0"/>
                </a:cubicBezTo>
                <a:cubicBezTo>
                  <a:pt x="10129817" y="-9860"/>
                  <a:pt x="10285541" y="26347"/>
                  <a:pt x="10419482" y="0"/>
                </a:cubicBezTo>
                <a:cubicBezTo>
                  <a:pt x="10553423" y="-26347"/>
                  <a:pt x="10857216" y="23518"/>
                  <a:pt x="11109436" y="0"/>
                </a:cubicBezTo>
                <a:cubicBezTo>
                  <a:pt x="11113859" y="116250"/>
                  <a:pt x="11073046" y="207063"/>
                  <a:pt x="11109436" y="399494"/>
                </a:cubicBezTo>
                <a:cubicBezTo>
                  <a:pt x="11145826" y="591925"/>
                  <a:pt x="11075263" y="626662"/>
                  <a:pt x="11109436" y="798988"/>
                </a:cubicBezTo>
                <a:cubicBezTo>
                  <a:pt x="11143609" y="971314"/>
                  <a:pt x="11101617" y="1045382"/>
                  <a:pt x="11109436" y="1198482"/>
                </a:cubicBezTo>
                <a:cubicBezTo>
                  <a:pt x="11117255" y="1351582"/>
                  <a:pt x="11042280" y="1622457"/>
                  <a:pt x="11109436" y="1815882"/>
                </a:cubicBezTo>
                <a:cubicBezTo>
                  <a:pt x="10726815" y="1870350"/>
                  <a:pt x="10613634" y="1798917"/>
                  <a:pt x="10302540" y="1815882"/>
                </a:cubicBezTo>
                <a:cubicBezTo>
                  <a:pt x="9991446" y="1832847"/>
                  <a:pt x="10040424" y="1777517"/>
                  <a:pt x="9940022" y="1815882"/>
                </a:cubicBezTo>
                <a:cubicBezTo>
                  <a:pt x="9839620" y="1854247"/>
                  <a:pt x="9490975" y="1813221"/>
                  <a:pt x="9244220" y="1815882"/>
                </a:cubicBezTo>
                <a:cubicBezTo>
                  <a:pt x="8997465" y="1818543"/>
                  <a:pt x="9055202" y="1814647"/>
                  <a:pt x="8992796" y="1815882"/>
                </a:cubicBezTo>
                <a:cubicBezTo>
                  <a:pt x="8930390" y="1817117"/>
                  <a:pt x="8591037" y="1813099"/>
                  <a:pt x="8408089" y="1815882"/>
                </a:cubicBezTo>
                <a:cubicBezTo>
                  <a:pt x="8225141" y="1818665"/>
                  <a:pt x="7949089" y="1781387"/>
                  <a:pt x="7601193" y="1815882"/>
                </a:cubicBezTo>
                <a:cubicBezTo>
                  <a:pt x="7253297" y="1850377"/>
                  <a:pt x="7415123" y="1795747"/>
                  <a:pt x="7349769" y="1815882"/>
                </a:cubicBezTo>
                <a:cubicBezTo>
                  <a:pt x="7284415" y="1836017"/>
                  <a:pt x="6812464" y="1734420"/>
                  <a:pt x="6653967" y="1815882"/>
                </a:cubicBezTo>
                <a:cubicBezTo>
                  <a:pt x="6495470" y="1897344"/>
                  <a:pt x="6152853" y="1792524"/>
                  <a:pt x="5958166" y="1815882"/>
                </a:cubicBezTo>
                <a:cubicBezTo>
                  <a:pt x="5763479" y="1839240"/>
                  <a:pt x="5494829" y="1781112"/>
                  <a:pt x="5151270" y="1815882"/>
                </a:cubicBezTo>
                <a:cubicBezTo>
                  <a:pt x="4807711" y="1850652"/>
                  <a:pt x="4864172" y="1773768"/>
                  <a:pt x="4677657" y="1815882"/>
                </a:cubicBezTo>
                <a:cubicBezTo>
                  <a:pt x="4491142" y="1857996"/>
                  <a:pt x="4257025" y="1788199"/>
                  <a:pt x="3870761" y="1815882"/>
                </a:cubicBezTo>
                <a:cubicBezTo>
                  <a:pt x="3484497" y="1843565"/>
                  <a:pt x="3684815" y="1802774"/>
                  <a:pt x="3619337" y="1815882"/>
                </a:cubicBezTo>
                <a:cubicBezTo>
                  <a:pt x="3553859" y="1828990"/>
                  <a:pt x="3195346" y="1727548"/>
                  <a:pt x="2812441" y="1815882"/>
                </a:cubicBezTo>
                <a:cubicBezTo>
                  <a:pt x="2429536" y="1904216"/>
                  <a:pt x="2539380" y="1799321"/>
                  <a:pt x="2449923" y="1815882"/>
                </a:cubicBezTo>
                <a:cubicBezTo>
                  <a:pt x="2360466" y="1832443"/>
                  <a:pt x="1876134" y="1804824"/>
                  <a:pt x="1643027" y="1815882"/>
                </a:cubicBezTo>
                <a:cubicBezTo>
                  <a:pt x="1409920" y="1826940"/>
                  <a:pt x="1452773" y="1790058"/>
                  <a:pt x="1391603" y="1815882"/>
                </a:cubicBezTo>
                <a:cubicBezTo>
                  <a:pt x="1330433" y="1841706"/>
                  <a:pt x="1257668" y="1792229"/>
                  <a:pt x="1140179" y="1815882"/>
                </a:cubicBezTo>
                <a:cubicBezTo>
                  <a:pt x="1022690" y="1839535"/>
                  <a:pt x="994668" y="1799483"/>
                  <a:pt x="888755" y="1815882"/>
                </a:cubicBezTo>
                <a:cubicBezTo>
                  <a:pt x="782842" y="1832281"/>
                  <a:pt x="672723" y="1802559"/>
                  <a:pt x="526236" y="1815882"/>
                </a:cubicBezTo>
                <a:cubicBezTo>
                  <a:pt x="379749" y="1829205"/>
                  <a:pt x="210897" y="1761571"/>
                  <a:pt x="0" y="1815882"/>
                </a:cubicBezTo>
                <a:cubicBezTo>
                  <a:pt x="-24266" y="1695802"/>
                  <a:pt x="55068" y="1563454"/>
                  <a:pt x="0" y="1325594"/>
                </a:cubicBezTo>
                <a:cubicBezTo>
                  <a:pt x="-55068" y="1087734"/>
                  <a:pt x="30990" y="1083897"/>
                  <a:pt x="0" y="871623"/>
                </a:cubicBezTo>
                <a:cubicBezTo>
                  <a:pt x="-30990" y="659349"/>
                  <a:pt x="28535" y="587148"/>
                  <a:pt x="0" y="399494"/>
                </a:cubicBezTo>
                <a:cubicBezTo>
                  <a:pt x="-28535" y="211840"/>
                  <a:pt x="34745" y="140469"/>
                  <a:pt x="0" y="0"/>
                </a:cubicBezTo>
                <a:close/>
              </a:path>
            </a:pathLst>
          </a:custGeom>
          <a:solidFill>
            <a:schemeClr val="accent4">
              <a:lumMod val="40000"/>
              <a:lumOff val="60000"/>
            </a:schemeClr>
          </a:solidFill>
          <a:ln w="76200">
            <a:solidFill>
              <a:srgbClr val="7030A0"/>
            </a:solidFill>
            <a:extLst>
              <a:ext uri="{C807C97D-BFC1-408E-A445-0C87EB9F89A2}">
                <ask:lineSketchStyleProps xmlns:ask="http://schemas.microsoft.com/office/drawing/2018/sketchyshapes" sd="1606250876">
                  <a:prstGeom prst="rect">
                    <a:avLst/>
                  </a:prstGeom>
                  <ask:type>
                    <ask:lineSketchScribble/>
                  </ask:type>
                </ask:lineSketchStyleProps>
              </a:ext>
            </a:extLst>
          </a:ln>
        </p:spPr>
        <p:txBody>
          <a:bodyPr wrap="square">
            <a:spAutoFit/>
          </a:bodyPr>
          <a:lstStyle/>
          <a:p>
            <a:r>
              <a:rPr lang="es-BO" sz="1600" b="1" i="1" u="none" strike="noStrike" baseline="0" dirty="0">
                <a:latin typeface="Arial" panose="020B0604020202020204" pitchFamily="34" charset="0"/>
                <a:cs typeface="Arial" panose="020B0604020202020204" pitchFamily="34" charset="0"/>
              </a:rPr>
              <a:t>Violencia contra mujeres:</a:t>
            </a:r>
          </a:p>
          <a:p>
            <a:r>
              <a:rPr lang="es-MX" sz="1600" b="1" i="1" u="none" strike="noStrike" baseline="0" dirty="0">
                <a:solidFill>
                  <a:srgbClr val="000000"/>
                </a:solidFill>
                <a:latin typeface="Arial" panose="020B0604020202020204" pitchFamily="34" charset="0"/>
                <a:cs typeface="Arial" panose="020B0604020202020204" pitchFamily="34" charset="0"/>
              </a:rPr>
              <a:t>Derechos de los niños, niñas y adolescentes </a:t>
            </a:r>
          </a:p>
          <a:p>
            <a:pPr marL="714375" algn="just"/>
            <a:r>
              <a:rPr lang="es-MX" sz="1600" b="1" i="1" u="none" strike="noStrike" baseline="0" dirty="0">
                <a:latin typeface="Arial" panose="020B0604020202020204" pitchFamily="34" charset="0"/>
                <a:cs typeface="Arial" panose="020B0604020202020204" pitchFamily="34" charset="0"/>
              </a:rPr>
              <a:t>art. 5.IV Ley del Deslinde Jurisdiccional que dispone que todas las jurisdicciones reconocidas constitucionalmente, prohíben y sancionan toda forma de violencia contra niñas, niños, adolescentes y mujeres, y que es ilegal cualquier conciliación al respecto de este tema; </a:t>
            </a:r>
            <a:r>
              <a:rPr lang="es-MX" sz="1600" b="1" i="1" u="sng" strike="noStrike" baseline="0" dirty="0">
                <a:latin typeface="Arial" panose="020B0604020202020204" pitchFamily="34" charset="0"/>
                <a:cs typeface="Arial" panose="020B0604020202020204" pitchFamily="34" charset="0"/>
              </a:rPr>
              <a:t>norma que no establece una prohibición de conocer dichos casos de violencia</a:t>
            </a:r>
            <a:r>
              <a:rPr lang="es-MX" sz="1600" b="1" i="1" u="none" strike="noStrike" baseline="0" dirty="0">
                <a:latin typeface="Arial" panose="020B0604020202020204" pitchFamily="34" charset="0"/>
                <a:cs typeface="Arial" panose="020B0604020202020204" pitchFamily="34" charset="0"/>
              </a:rPr>
              <a:t>, sino que obliga a las diferentes jurisdicciones, entre ellas</a:t>
            </a:r>
            <a:r>
              <a:rPr lang="es-MX" sz="1600" b="1" i="1" u="sng" strike="noStrike" baseline="0" dirty="0">
                <a:solidFill>
                  <a:srgbClr val="FF0000"/>
                </a:solidFill>
                <a:latin typeface="Arial" panose="020B0604020202020204" pitchFamily="34" charset="0"/>
                <a:cs typeface="Arial" panose="020B0604020202020204" pitchFamily="34" charset="0"/>
              </a:rPr>
              <a:t>, la jurisdicción </a:t>
            </a:r>
            <a:r>
              <a:rPr lang="es-MX" sz="1600" b="1" i="1" u="sng" strike="noStrike" baseline="0" dirty="0" err="1">
                <a:solidFill>
                  <a:srgbClr val="FF0000"/>
                </a:solidFill>
                <a:latin typeface="Arial" panose="020B0604020202020204" pitchFamily="34" charset="0"/>
                <a:cs typeface="Arial" panose="020B0604020202020204" pitchFamily="34" charset="0"/>
              </a:rPr>
              <a:t>IOCo</a:t>
            </a:r>
            <a:r>
              <a:rPr lang="es-MX" sz="1600" b="1" i="1" u="sng" strike="noStrike" baseline="0" dirty="0">
                <a:solidFill>
                  <a:srgbClr val="FF0000"/>
                </a:solidFill>
                <a:latin typeface="Arial" panose="020B0604020202020204" pitchFamily="34" charset="0"/>
                <a:cs typeface="Arial" panose="020B0604020202020204" pitchFamily="34" charset="0"/>
              </a:rPr>
              <a:t>, a sancionar la violencia.</a:t>
            </a:r>
            <a:endParaRPr lang="es-BO" sz="1600" b="1" i="1" u="sng" strike="noStrike" baseline="0" dirty="0">
              <a:solidFill>
                <a:srgbClr val="FF0000"/>
              </a:solidFill>
              <a:latin typeface="Arial" panose="020B0604020202020204" pitchFamily="34" charset="0"/>
              <a:cs typeface="Arial" panose="020B0604020202020204" pitchFamily="34" charset="0"/>
            </a:endParaRPr>
          </a:p>
        </p:txBody>
      </p:sp>
      <p:sp>
        <p:nvSpPr>
          <p:cNvPr id="17" name="CuadroTexto 16">
            <a:extLst>
              <a:ext uri="{FF2B5EF4-FFF2-40B4-BE49-F238E27FC236}">
                <a16:creationId xmlns:a16="http://schemas.microsoft.com/office/drawing/2014/main" id="{FC3D64B1-593C-49B3-94AC-384DC44A10FD}"/>
              </a:ext>
            </a:extLst>
          </p:cNvPr>
          <p:cNvSpPr txBox="1"/>
          <p:nvPr/>
        </p:nvSpPr>
        <p:spPr>
          <a:xfrm>
            <a:off x="525518" y="5724600"/>
            <a:ext cx="7756634" cy="677108"/>
          </a:xfrm>
          <a:prstGeom prst="rect">
            <a:avLst/>
          </a:prstGeom>
          <a:noFill/>
        </p:spPr>
        <p:txBody>
          <a:bodyPr wrap="square">
            <a:spAutoFit/>
          </a:bodyPr>
          <a:lstStyle/>
          <a:p>
            <a:pPr algn="l"/>
            <a:endParaRPr lang="es-BO" sz="2000" b="0" i="0" u="none" strike="noStrike" baseline="0" dirty="0">
              <a:solidFill>
                <a:srgbClr val="000000"/>
              </a:solidFill>
              <a:latin typeface="Cambria" panose="02040503050406030204" pitchFamily="18" charset="0"/>
            </a:endParaRPr>
          </a:p>
          <a:p>
            <a:r>
              <a:rPr lang="es-MX" sz="1800" b="1" i="0" u="none" strike="noStrike" baseline="0" dirty="0">
                <a:solidFill>
                  <a:srgbClr val="000000"/>
                </a:solidFill>
                <a:latin typeface="Cambria" panose="02040503050406030204" pitchFamily="18" charset="0"/>
              </a:rPr>
              <a:t>Derechos de las personas adultas mayores y personas con discapacidad </a:t>
            </a:r>
            <a:endParaRPr lang="es-MX" sz="1800" b="0" i="0" u="none" strike="noStrike" baseline="0" dirty="0">
              <a:solidFill>
                <a:srgbClr val="000000"/>
              </a:solidFill>
              <a:latin typeface="Cambria" panose="02040503050406030204" pitchFamily="18" charset="0"/>
            </a:endParaRPr>
          </a:p>
        </p:txBody>
      </p:sp>
      <p:sp>
        <p:nvSpPr>
          <p:cNvPr id="8" name="CuadroTexto 7">
            <a:extLst>
              <a:ext uri="{FF2B5EF4-FFF2-40B4-BE49-F238E27FC236}">
                <a16:creationId xmlns:a16="http://schemas.microsoft.com/office/drawing/2014/main" id="{4D6FF1F0-0D9D-4021-9855-1C1BC881CE8B}"/>
              </a:ext>
            </a:extLst>
          </p:cNvPr>
          <p:cNvSpPr txBox="1"/>
          <p:nvPr/>
        </p:nvSpPr>
        <p:spPr>
          <a:xfrm>
            <a:off x="3048000" y="4461355"/>
            <a:ext cx="6096000" cy="923330"/>
          </a:xfrm>
          <a:prstGeom prst="rect">
            <a:avLst/>
          </a:prstGeom>
          <a:solidFill>
            <a:schemeClr val="bg1"/>
          </a:solidFill>
        </p:spPr>
        <p:txBody>
          <a:bodyPr wrap="square">
            <a:spAutoFit/>
          </a:bodyPr>
          <a:lstStyle/>
          <a:p>
            <a:pPr algn="just"/>
            <a:r>
              <a:rPr lang="es-MX" dirty="0"/>
              <a:t>Artículo 5. IV. Todas las jurisdicciones reconocidas constitucionalmente, prohíben y sancionan toda forma de violencia contra niñas, niños, adolescentes y mujeres. </a:t>
            </a:r>
            <a:endParaRPr lang="es-BO" dirty="0"/>
          </a:p>
        </p:txBody>
      </p:sp>
    </p:spTree>
    <p:extLst>
      <p:ext uri="{BB962C8B-B14F-4D97-AF65-F5344CB8AC3E}">
        <p14:creationId xmlns:p14="http://schemas.microsoft.com/office/powerpoint/2010/main" val="429937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27CF4AFF-EDBB-4552-80C5-BE75511FFA96}"/>
              </a:ext>
            </a:extLst>
          </p:cNvPr>
          <p:cNvSpPr txBox="1"/>
          <p:nvPr/>
        </p:nvSpPr>
        <p:spPr>
          <a:xfrm>
            <a:off x="630620" y="1035379"/>
            <a:ext cx="8387256" cy="2031325"/>
          </a:xfrm>
          <a:prstGeom prst="rect">
            <a:avLst/>
          </a:prstGeom>
          <a:noFill/>
          <a:ln>
            <a:solidFill>
              <a:srgbClr val="FF0000"/>
            </a:solidFill>
          </a:ln>
        </p:spPr>
        <p:txBody>
          <a:bodyPr wrap="square">
            <a:spAutoFit/>
          </a:bodyPr>
          <a:lstStyle/>
          <a:p>
            <a:pPr algn="just"/>
            <a:r>
              <a:rPr lang="es-MX" sz="1800" b="0" i="0" u="none" strike="noStrike" baseline="0" dirty="0">
                <a:solidFill>
                  <a:srgbClr val="000000"/>
                </a:solidFill>
                <a:latin typeface="Cambria" panose="02040503050406030204" pitchFamily="18" charset="0"/>
              </a:rPr>
              <a:t>la autoridad judicial analiza:</a:t>
            </a:r>
          </a:p>
          <a:p>
            <a:pPr algn="just"/>
            <a:r>
              <a:rPr lang="es-MX" sz="1800" b="0" i="0" u="none" strike="noStrike" baseline="0" dirty="0">
                <a:solidFill>
                  <a:srgbClr val="000000"/>
                </a:solidFill>
                <a:latin typeface="Cambria" panose="02040503050406030204" pitchFamily="18" charset="0"/>
              </a:rPr>
              <a:t>si se cumplen los ámbitos de vigencia de la jurisdicción IOC y una interpretación favorable y progresiva del derecho a la libre determinación y a ejercer sus sistemas jurídicos y, en ese sentido </a:t>
            </a:r>
          </a:p>
          <a:p>
            <a:pPr marL="285750" indent="-285750" algn="just">
              <a:buFont typeface="Arial" panose="020B0604020202020204" pitchFamily="34" charset="0"/>
              <a:buChar char="•"/>
            </a:pPr>
            <a:r>
              <a:rPr lang="es-MX" sz="1800" b="0" i="0" u="none" strike="noStrike" baseline="0" dirty="0">
                <a:solidFill>
                  <a:srgbClr val="000000"/>
                </a:solidFill>
                <a:latin typeface="Cambria" panose="02040503050406030204" pitchFamily="18" charset="0"/>
              </a:rPr>
              <a:t>interpretar la Ley del Deslinde Jurisdiccional, </a:t>
            </a:r>
          </a:p>
          <a:p>
            <a:pPr marL="285750" indent="-285750" algn="just">
              <a:buFont typeface="Arial" panose="020B0604020202020204" pitchFamily="34" charset="0"/>
              <a:buChar char="•"/>
            </a:pPr>
            <a:r>
              <a:rPr lang="es-MX" sz="1800" b="0" i="0" u="none" strike="noStrike" baseline="0" dirty="0">
                <a:solidFill>
                  <a:srgbClr val="000000"/>
                </a:solidFill>
                <a:latin typeface="Cambria" panose="02040503050406030204" pitchFamily="18" charset="0"/>
              </a:rPr>
              <a:t>desde y conforme a la CPE y</a:t>
            </a:r>
          </a:p>
          <a:p>
            <a:pPr marL="285750" indent="-285750" algn="just">
              <a:buFont typeface="Arial" panose="020B0604020202020204" pitchFamily="34" charset="0"/>
              <a:buChar char="•"/>
            </a:pPr>
            <a:r>
              <a:rPr lang="es-MX" sz="1800" b="0" i="0" u="none" strike="noStrike" baseline="0" dirty="0">
                <a:solidFill>
                  <a:srgbClr val="000000"/>
                </a:solidFill>
                <a:latin typeface="Cambria" panose="02040503050406030204" pitchFamily="18" charset="0"/>
              </a:rPr>
              <a:t>las normas del bloque de constitucionalidad. </a:t>
            </a:r>
            <a:endParaRPr lang="es-BO" dirty="0"/>
          </a:p>
        </p:txBody>
      </p:sp>
      <p:sp>
        <p:nvSpPr>
          <p:cNvPr id="4" name="CuadroTexto 3">
            <a:extLst>
              <a:ext uri="{FF2B5EF4-FFF2-40B4-BE49-F238E27FC236}">
                <a16:creationId xmlns:a16="http://schemas.microsoft.com/office/drawing/2014/main" id="{1EEF6A00-317A-48A2-90F5-B5475D0BC89A}"/>
              </a:ext>
            </a:extLst>
          </p:cNvPr>
          <p:cNvSpPr txBox="1"/>
          <p:nvPr/>
        </p:nvSpPr>
        <p:spPr>
          <a:xfrm>
            <a:off x="194443" y="133057"/>
            <a:ext cx="8907515" cy="307777"/>
          </a:xfrm>
          <a:prstGeom prst="rect">
            <a:avLst/>
          </a:prstGeom>
          <a:solidFill>
            <a:schemeClr val="bg1">
              <a:lumMod val="85000"/>
            </a:schemeClr>
          </a:solid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rPr>
              <a:t>b. aún no fue resuelto, pero se encuentra en proceso ante la jurisdicción </a:t>
            </a: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IOC</a:t>
            </a:r>
            <a:r>
              <a:rPr lang="es-MX" sz="1400" b="1" i="0" u="none" strike="noStrike" baseline="0" dirty="0">
                <a:solidFill>
                  <a:srgbClr val="000000"/>
                </a:solidFill>
                <a:latin typeface="Cambria" panose="02040503050406030204" pitchFamily="18" charset="0"/>
              </a:rPr>
              <a:t> Conflicto de competencias. </a:t>
            </a:r>
            <a:endParaRPr kumimoji="0" lang="es-BO" sz="14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98691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7923CC2-214E-4609-B718-AA21917D26E4}"/>
              </a:ext>
            </a:extLst>
          </p:cNvPr>
          <p:cNvSpPr txBox="1"/>
          <p:nvPr/>
        </p:nvSpPr>
        <p:spPr>
          <a:xfrm>
            <a:off x="89340" y="228500"/>
            <a:ext cx="3436882" cy="1233286"/>
          </a:xfrm>
          <a:prstGeom prst="rect">
            <a:avLst/>
          </a:prstGeom>
          <a:solidFill>
            <a:schemeClr val="bg1">
              <a:lumMod val="85000"/>
            </a:schemeClr>
          </a:solidFill>
        </p:spPr>
        <p:txBody>
          <a:bodyPr wrap="square" rtlCol="0">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s-MX"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rPr>
              <a:t>c. Remisión de antecedentes a la jurisdicción </a:t>
            </a: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IOC </a:t>
            </a:r>
            <a:r>
              <a:rPr kumimoji="0" lang="es-MX"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rPr>
              <a:t>a partir del análisis de los ámbitos de vigencia la autoridad judicial cuando exista la intención de conocer el caso por parte de las autoridades </a:t>
            </a: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IOC</a:t>
            </a:r>
            <a:endParaRPr kumimoji="0" lang="es-BO" sz="14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6" name="CuadroTexto 5">
            <a:extLst>
              <a:ext uri="{FF2B5EF4-FFF2-40B4-BE49-F238E27FC236}">
                <a16:creationId xmlns:a16="http://schemas.microsoft.com/office/drawing/2014/main" id="{43FBCBC0-A506-42C0-9283-1F24272EC265}"/>
              </a:ext>
            </a:extLst>
          </p:cNvPr>
          <p:cNvSpPr txBox="1"/>
          <p:nvPr/>
        </p:nvSpPr>
        <p:spPr>
          <a:xfrm>
            <a:off x="4183117" y="307624"/>
            <a:ext cx="6096000" cy="2308324"/>
          </a:xfrm>
          <a:prstGeom prst="rect">
            <a:avLst/>
          </a:prstGeom>
          <a:noFill/>
          <a:ln>
            <a:solidFill>
              <a:schemeClr val="accent1"/>
            </a:solidFill>
          </a:ln>
        </p:spPr>
        <p:txBody>
          <a:bodyPr wrap="square">
            <a:spAutoFit/>
          </a:bodyPr>
          <a:lstStyle/>
          <a:p>
            <a:pPr algn="just"/>
            <a:r>
              <a:rPr lang="es-MX" sz="1800" b="0" i="0" u="none" strike="noStrike" baseline="0" dirty="0">
                <a:solidFill>
                  <a:srgbClr val="000000"/>
                </a:solidFill>
                <a:latin typeface="Cambria" panose="02040503050406030204" pitchFamily="18" charset="0"/>
              </a:rPr>
              <a:t>Si la autoridad judicial, luego de obtener la información necesaria y analizar los ámbitos de vigencia de la jurisdicción IOC, conforme a los parámetros de favorabilidad y progresividad que han sido señalados precedentemente, llega a la conclusión que el caso debe ser conocido por la jurisdicción IOC, remitirá el caso a dicha jurisdicción, siempre que las autoridades indígenas, hubieren manifestado su intención de conocer </a:t>
            </a:r>
            <a:endParaRPr lang="es-BO" dirty="0"/>
          </a:p>
        </p:txBody>
      </p:sp>
      <p:sp>
        <p:nvSpPr>
          <p:cNvPr id="8" name="CuadroTexto 7">
            <a:extLst>
              <a:ext uri="{FF2B5EF4-FFF2-40B4-BE49-F238E27FC236}">
                <a16:creationId xmlns:a16="http://schemas.microsoft.com/office/drawing/2014/main" id="{0106F70E-590E-45A9-A214-97065241317A}"/>
              </a:ext>
            </a:extLst>
          </p:cNvPr>
          <p:cNvSpPr txBox="1"/>
          <p:nvPr/>
        </p:nvSpPr>
        <p:spPr>
          <a:xfrm>
            <a:off x="4267200" y="3246282"/>
            <a:ext cx="6096000" cy="1754326"/>
          </a:xfrm>
          <a:prstGeom prst="rect">
            <a:avLst/>
          </a:prstGeom>
          <a:noFill/>
          <a:ln>
            <a:solidFill>
              <a:schemeClr val="accent1"/>
            </a:solidFill>
          </a:ln>
        </p:spPr>
        <p:txBody>
          <a:bodyPr wrap="square">
            <a:spAutoFit/>
          </a:bodyPr>
          <a:lstStyle/>
          <a:p>
            <a:r>
              <a:rPr lang="es-MX" sz="1800" b="0" i="0" u="none" strike="noStrike" baseline="0" dirty="0">
                <a:latin typeface="Cambria" panose="02040503050406030204" pitchFamily="18" charset="0"/>
              </a:rPr>
              <a:t>y resolver el caso, pues puede darse la situación que dichas autoridades decidan voluntariamente que el hecho sea resuelto por la jurisdicción ordinaria o agroambiental; supuesto en el cual, en el marco de la libre determinación, se respetará dicha decisión y la autoridad judicial asumirá el conocimiento del caso. </a:t>
            </a:r>
            <a:endParaRPr lang="es-BO" dirty="0"/>
          </a:p>
        </p:txBody>
      </p:sp>
    </p:spTree>
    <p:extLst>
      <p:ext uri="{BB962C8B-B14F-4D97-AF65-F5344CB8AC3E}">
        <p14:creationId xmlns:p14="http://schemas.microsoft.com/office/powerpoint/2010/main" val="1415232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31A0681-6163-4314-9FD1-B35F70616680}"/>
              </a:ext>
            </a:extLst>
          </p:cNvPr>
          <p:cNvSpPr txBox="1"/>
          <p:nvPr/>
        </p:nvSpPr>
        <p:spPr>
          <a:xfrm>
            <a:off x="210210" y="30261"/>
            <a:ext cx="3436882" cy="997645"/>
          </a:xfrm>
          <a:prstGeom prst="rect">
            <a:avLst/>
          </a:prstGeom>
          <a:solidFill>
            <a:schemeClr val="bg1">
              <a:lumMod val="85000"/>
            </a:schemeClr>
          </a:solidFill>
        </p:spPr>
        <p:txBody>
          <a:bodyPr wrap="square" rtlCol="0">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d. Solicitud de apartamiento del caso por parte de las autoridades de la jurisdicción IOC: Conflicto de competencias.  </a:t>
            </a:r>
            <a:endParaRPr kumimoji="0" lang="es-BO" sz="14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DE70EBD6-0D6A-4854-BF79-8168D3FD223D}"/>
              </a:ext>
            </a:extLst>
          </p:cNvPr>
          <p:cNvSpPr txBox="1"/>
          <p:nvPr/>
        </p:nvSpPr>
        <p:spPr>
          <a:xfrm>
            <a:off x="3941380" y="49344"/>
            <a:ext cx="6096000" cy="1477328"/>
          </a:xfrm>
          <a:prstGeom prst="rect">
            <a:avLst/>
          </a:prstGeom>
          <a:noFill/>
          <a:ln>
            <a:solidFill>
              <a:schemeClr val="accent1"/>
            </a:solidFill>
          </a:ln>
        </p:spPr>
        <p:txBody>
          <a:bodyPr wrap="square">
            <a:spAutoFit/>
          </a:bodyPr>
          <a:lstStyle/>
          <a:p>
            <a:pPr algn="just"/>
            <a:r>
              <a:rPr lang="es-MX" sz="1800" b="0" i="0" u="none" strike="noStrike" baseline="0" dirty="0">
                <a:solidFill>
                  <a:srgbClr val="000000"/>
                </a:solidFill>
                <a:latin typeface="Cambria" panose="02040503050406030204" pitchFamily="18" charset="0"/>
              </a:rPr>
              <a:t>las autoridades indígenas podrán solicitar a la jueza o juez que se aparte del conocimiento del caso, por considerar que está ejerciendo jurisdicción en el ámbito de vigencia personal, territorial o material que le corresponde a las autoridades IOC. </a:t>
            </a:r>
            <a:endParaRPr lang="es-BO" dirty="0"/>
          </a:p>
        </p:txBody>
      </p:sp>
      <p:sp>
        <p:nvSpPr>
          <p:cNvPr id="8" name="CuadroTexto 7">
            <a:extLst>
              <a:ext uri="{FF2B5EF4-FFF2-40B4-BE49-F238E27FC236}">
                <a16:creationId xmlns:a16="http://schemas.microsoft.com/office/drawing/2014/main" id="{EC1D97ED-C6DB-447B-BEE0-A62A73B85DBD}"/>
              </a:ext>
            </a:extLst>
          </p:cNvPr>
          <p:cNvSpPr txBox="1"/>
          <p:nvPr/>
        </p:nvSpPr>
        <p:spPr>
          <a:xfrm>
            <a:off x="4246180" y="1748440"/>
            <a:ext cx="6096000" cy="1754326"/>
          </a:xfrm>
          <a:prstGeom prst="rect">
            <a:avLst/>
          </a:prstGeom>
          <a:noFill/>
          <a:ln w="76200">
            <a:solidFill>
              <a:srgbClr val="FF0000"/>
            </a:solidFill>
          </a:ln>
        </p:spPr>
        <p:txBody>
          <a:bodyPr wrap="square">
            <a:spAutoFit/>
          </a:bodyPr>
          <a:lstStyle/>
          <a:p>
            <a:pPr algn="just"/>
            <a:r>
              <a:rPr lang="es-MX" sz="1800" b="0" i="0" u="none" strike="noStrike" baseline="0" dirty="0">
                <a:solidFill>
                  <a:srgbClr val="000000"/>
                </a:solidFill>
                <a:latin typeface="Cambria" panose="02040503050406030204" pitchFamily="18" charset="0"/>
              </a:rPr>
              <a:t>Esta solicitud puede ser presentada a través de un memorial (que es la forma occidental de presentar las peticiones) pero también puede ser presentada a través de una carta o una nota e inclusive de manera oral, atendiendo a las normas y procedimientos de las NPIOC: sin que la solicitad pueda ser rechazada por cuestiones formales. </a:t>
            </a:r>
            <a:endParaRPr lang="es-BO" dirty="0"/>
          </a:p>
        </p:txBody>
      </p:sp>
      <p:sp>
        <p:nvSpPr>
          <p:cNvPr id="10" name="CuadroTexto 9">
            <a:extLst>
              <a:ext uri="{FF2B5EF4-FFF2-40B4-BE49-F238E27FC236}">
                <a16:creationId xmlns:a16="http://schemas.microsoft.com/office/drawing/2014/main" id="{89991D71-B777-4570-A26E-2505F6EDEAAC}"/>
              </a:ext>
            </a:extLst>
          </p:cNvPr>
          <p:cNvSpPr txBox="1"/>
          <p:nvPr/>
        </p:nvSpPr>
        <p:spPr>
          <a:xfrm>
            <a:off x="536026" y="3986242"/>
            <a:ext cx="10615449" cy="2646878"/>
          </a:xfrm>
          <a:prstGeom prst="rect">
            <a:avLst/>
          </a:prstGeom>
          <a:noFill/>
          <a:ln>
            <a:solidFill>
              <a:srgbClr val="00B050"/>
            </a:solidFill>
          </a:ln>
        </p:spPr>
        <p:txBody>
          <a:bodyPr wrap="square">
            <a:spAutoFit/>
          </a:bodyPr>
          <a:lstStyle/>
          <a:p>
            <a:pPr algn="just"/>
            <a:r>
              <a:rPr lang="es-MX" sz="1800" b="0" i="0" u="none" strike="noStrike" baseline="0" dirty="0">
                <a:solidFill>
                  <a:srgbClr val="000000"/>
                </a:solidFill>
                <a:latin typeface="Cambria" panose="02040503050406030204" pitchFamily="18" charset="0"/>
              </a:rPr>
              <a:t>El art. 24 del CPP, establece los requisitos comunes para las acciones de inconstitucionalidad, conflictos de competencias y atribuciones, consultas y recursos: </a:t>
            </a:r>
          </a:p>
          <a:p>
            <a:pPr algn="just"/>
            <a:r>
              <a:rPr lang="es-MX" sz="1800" b="1" i="0" u="none" strike="noStrike" baseline="0" dirty="0">
                <a:solidFill>
                  <a:srgbClr val="FF0000"/>
                </a:solidFill>
                <a:latin typeface="Cambria" panose="02040503050406030204" pitchFamily="18" charset="0"/>
              </a:rPr>
              <a:t>Nombre, apellido y generales de ley de la autoridad que interpone el conflicto, acreditando su personería, requisito que puede ser cumplido por los pueblos indígenas a través de sus propias normas y procedimientos, por ejemplo a través de actas de elección o nombramiento; </a:t>
            </a:r>
            <a:r>
              <a:rPr lang="es-MX" sz="2000" b="1" i="1" u="none" strike="noStrike" baseline="0" dirty="0">
                <a:solidFill>
                  <a:schemeClr val="accent6">
                    <a:lumMod val="50000"/>
                  </a:schemeClr>
                </a:solidFill>
                <a:latin typeface="Arial" panose="020B0604020202020204" pitchFamily="34" charset="0"/>
                <a:cs typeface="Arial" panose="020B0604020202020204" pitchFamily="34" charset="0"/>
              </a:rPr>
              <a:t>en ese sentido, no corresponden exigir la acreditación de la personalidad jurídica , </a:t>
            </a:r>
            <a:r>
              <a:rPr lang="es-MX" sz="1800" b="0" i="0" u="none" strike="noStrike" baseline="0" dirty="0">
                <a:solidFill>
                  <a:srgbClr val="000000"/>
                </a:solidFill>
                <a:latin typeface="Cambria" panose="02040503050406030204" pitchFamily="18" charset="0"/>
              </a:rPr>
              <a:t>se HACE hizo referencia a la Autoidentificación, y a la propia jurisprudencia constitucional contenida en la SCP 006/2016. La solicitud deberá exponer los hechos y el petitorio y podrá contener la solicitud de medidas cautelares </a:t>
            </a:r>
            <a:endParaRPr lang="es-BO" dirty="0"/>
          </a:p>
        </p:txBody>
      </p:sp>
    </p:spTree>
    <p:extLst>
      <p:ext uri="{BB962C8B-B14F-4D97-AF65-F5344CB8AC3E}">
        <p14:creationId xmlns:p14="http://schemas.microsoft.com/office/powerpoint/2010/main" val="3281334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7AE50CC-455F-46C2-AF09-BD3ECC348930}"/>
              </a:ext>
            </a:extLst>
          </p:cNvPr>
          <p:cNvSpPr txBox="1"/>
          <p:nvPr/>
        </p:nvSpPr>
        <p:spPr>
          <a:xfrm>
            <a:off x="0" y="258644"/>
            <a:ext cx="3436882" cy="997645"/>
          </a:xfrm>
          <a:prstGeom prst="rect">
            <a:avLst/>
          </a:prstGeom>
          <a:solidFill>
            <a:schemeClr val="bg1">
              <a:lumMod val="85000"/>
            </a:schemeClr>
          </a:solidFill>
        </p:spPr>
        <p:txBody>
          <a:bodyPr wrap="square" rtlCol="0">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s-MX" sz="14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e. Si el proceso se inició a consecuencia de una resolución o decisión de la jurisdicción IOC, criminalizándola</a:t>
            </a:r>
            <a:endParaRPr kumimoji="0" lang="es-BO" sz="14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692EF486-2E5F-4C7D-91BA-47E768E73F44}"/>
              </a:ext>
            </a:extLst>
          </p:cNvPr>
          <p:cNvSpPr txBox="1"/>
          <p:nvPr/>
        </p:nvSpPr>
        <p:spPr>
          <a:xfrm>
            <a:off x="278524" y="1566318"/>
            <a:ext cx="10011104" cy="1200329"/>
          </a:xfrm>
          <a:prstGeom prst="rect">
            <a:avLst/>
          </a:prstGeom>
          <a:noFill/>
          <a:ln>
            <a:solidFill>
              <a:srgbClr val="00B050"/>
            </a:solidFill>
          </a:ln>
        </p:spPr>
        <p:txBody>
          <a:bodyPr wrap="square">
            <a:spAutoFit/>
          </a:bodyPr>
          <a:lstStyle/>
          <a:p>
            <a:pPr algn="just"/>
            <a:r>
              <a:rPr lang="es-MX" sz="1800" b="0" i="0" u="none" strike="noStrike" baseline="0" dirty="0">
                <a:solidFill>
                  <a:srgbClr val="000000"/>
                </a:solidFill>
                <a:latin typeface="Cambria" panose="02040503050406030204" pitchFamily="18" charset="0"/>
              </a:rPr>
              <a:t>la reunión informativa que debe desarrollarse con las autoridades IOC es respecto a si el proceso iniciado –en especial en materia penal- emerge con la finalidad de oponerse o contestar una determinación asumida por las autoridades IOC, es decir que el proceso se inicia con la clara intención de criminalizar la justicia IOC. </a:t>
            </a:r>
          </a:p>
        </p:txBody>
      </p:sp>
      <p:sp>
        <p:nvSpPr>
          <p:cNvPr id="8" name="CuadroTexto 7">
            <a:extLst>
              <a:ext uri="{FF2B5EF4-FFF2-40B4-BE49-F238E27FC236}">
                <a16:creationId xmlns:a16="http://schemas.microsoft.com/office/drawing/2014/main" id="{1F84F193-66B2-455A-BD5D-63797BF3C107}"/>
              </a:ext>
            </a:extLst>
          </p:cNvPr>
          <p:cNvSpPr txBox="1"/>
          <p:nvPr/>
        </p:nvSpPr>
        <p:spPr>
          <a:xfrm>
            <a:off x="278524" y="3076676"/>
            <a:ext cx="9916511" cy="923330"/>
          </a:xfrm>
          <a:prstGeom prst="rect">
            <a:avLst/>
          </a:prstGeom>
          <a:noFill/>
          <a:ln>
            <a:solidFill>
              <a:srgbClr val="00B050"/>
            </a:solidFill>
          </a:ln>
        </p:spPr>
        <p:txBody>
          <a:bodyPr wrap="square">
            <a:spAutoFit/>
          </a:bodyPr>
          <a:lstStyle/>
          <a:p>
            <a:pPr algn="just"/>
            <a:r>
              <a:rPr lang="es-MX" sz="1800" b="0" i="0" u="none" strike="noStrike" baseline="0" dirty="0">
                <a:solidFill>
                  <a:srgbClr val="000000"/>
                </a:solidFill>
                <a:latin typeface="Cambria" panose="02040503050406030204" pitchFamily="18" charset="0"/>
              </a:rPr>
              <a:t>Si la respuesta es afirmativa, porque el denunciante o demandante interpuso la demanda a consecuencia de alguna decisión o resolución de la jurisdicción indígena, la autoridad jurisdiccional deberá declararse incompetente para conocer el caso, </a:t>
            </a:r>
            <a:endParaRPr lang="es-BO" dirty="0"/>
          </a:p>
        </p:txBody>
      </p:sp>
      <p:sp>
        <p:nvSpPr>
          <p:cNvPr id="10" name="CuadroTexto 9">
            <a:extLst>
              <a:ext uri="{FF2B5EF4-FFF2-40B4-BE49-F238E27FC236}">
                <a16:creationId xmlns:a16="http://schemas.microsoft.com/office/drawing/2014/main" id="{F8BFA364-73B2-475E-841C-3FB63A0C19F0}"/>
              </a:ext>
            </a:extLst>
          </p:cNvPr>
          <p:cNvSpPr txBox="1"/>
          <p:nvPr/>
        </p:nvSpPr>
        <p:spPr>
          <a:xfrm>
            <a:off x="383626" y="4310035"/>
            <a:ext cx="9906001" cy="1754326"/>
          </a:xfrm>
          <a:prstGeom prst="rect">
            <a:avLst/>
          </a:prstGeom>
          <a:noFill/>
          <a:ln w="76200">
            <a:solidFill>
              <a:srgbClr val="FF0000"/>
            </a:solidFill>
          </a:ln>
        </p:spPr>
        <p:txBody>
          <a:bodyPr wrap="square">
            <a:spAutoFit/>
          </a:bodyPr>
          <a:lstStyle/>
          <a:p>
            <a:pPr algn="just"/>
            <a:r>
              <a:rPr lang="es-MX" sz="1800" b="0" i="0" u="none" strike="noStrike" baseline="0" dirty="0">
                <a:solidFill>
                  <a:srgbClr val="000000"/>
                </a:solidFill>
                <a:latin typeface="Cambria" panose="02040503050406030204" pitchFamily="18" charset="0"/>
              </a:rPr>
              <a:t>en virtud a lo dispuesto por el art. 192.I de la CPE que señala que toda autoridad pública o persona acatará las decisiones de la jurisdicción IOC</a:t>
            </a:r>
            <a:r>
              <a:rPr lang="es-MX" sz="1800" b="1" i="0" u="none" strike="noStrike" baseline="0" dirty="0">
                <a:solidFill>
                  <a:srgbClr val="000000"/>
                </a:solidFill>
                <a:latin typeface="Cambria" panose="02040503050406030204" pitchFamily="18" charset="0"/>
              </a:rPr>
              <a:t>; </a:t>
            </a:r>
            <a:r>
              <a:rPr lang="es-MX" sz="1800" b="0" i="0" u="none" strike="noStrike" baseline="0" dirty="0">
                <a:solidFill>
                  <a:srgbClr val="000000"/>
                </a:solidFill>
                <a:latin typeface="Cambria" panose="02040503050406030204" pitchFamily="18" charset="0"/>
              </a:rPr>
              <a:t>salvando los derechos del denunciante o demandante a acudir a la vía constitucional, a través de las acciones de defensa, si considera que con la resolución o decisión de la jurisdicción indígena originaria campesina se lesionaron derechos o garantías constitucionales. </a:t>
            </a:r>
          </a:p>
          <a:p>
            <a:pPr algn="just"/>
            <a:r>
              <a:rPr lang="es-MX" sz="1800" b="0" i="0" u="none" strike="noStrike" baseline="0" dirty="0">
                <a:solidFill>
                  <a:srgbClr val="000000"/>
                </a:solidFill>
                <a:latin typeface="Cambria" panose="02040503050406030204" pitchFamily="18" charset="0"/>
              </a:rPr>
              <a:t>}Lo anotado precedentemente no aplica en el caso excepcional de la pena de muerte, </a:t>
            </a:r>
            <a:endParaRPr lang="es-BO" dirty="0"/>
          </a:p>
        </p:txBody>
      </p:sp>
    </p:spTree>
    <p:extLst>
      <p:ext uri="{BB962C8B-B14F-4D97-AF65-F5344CB8AC3E}">
        <p14:creationId xmlns:p14="http://schemas.microsoft.com/office/powerpoint/2010/main" val="965970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C063B9A5-5006-495B-81B3-BCD834B269EB}"/>
              </a:ext>
            </a:extLst>
          </p:cNvPr>
          <p:cNvGrpSpPr/>
          <p:nvPr/>
        </p:nvGrpSpPr>
        <p:grpSpPr>
          <a:xfrm>
            <a:off x="90194" y="95548"/>
            <a:ext cx="1648413" cy="932358"/>
            <a:chOff x="7372984" y="689239"/>
            <a:chExt cx="1648413" cy="932358"/>
          </a:xfrm>
        </p:grpSpPr>
        <p:sp>
          <p:nvSpPr>
            <p:cNvPr id="5" name="Rectángulo 4">
              <a:extLst>
                <a:ext uri="{FF2B5EF4-FFF2-40B4-BE49-F238E27FC236}">
                  <a16:creationId xmlns:a16="http://schemas.microsoft.com/office/drawing/2014/main" id="{C780E7CF-8876-42A5-B61A-425A4878D86B}"/>
                </a:ext>
              </a:extLst>
            </p:cNvPr>
            <p:cNvSpPr/>
            <p:nvPr/>
          </p:nvSpPr>
          <p:spPr>
            <a:xfrm>
              <a:off x="7372984" y="689239"/>
              <a:ext cx="1648413" cy="932358"/>
            </a:xfrm>
            <a:prstGeom prst="rect">
              <a:avLst/>
            </a:prstGeom>
            <a:solidFill>
              <a:srgbClr val="FFFF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CuadroTexto 5">
              <a:extLst>
                <a:ext uri="{FF2B5EF4-FFF2-40B4-BE49-F238E27FC236}">
                  <a16:creationId xmlns:a16="http://schemas.microsoft.com/office/drawing/2014/main" id="{99B0ADF4-6E02-454C-A546-F691E4C8C653}"/>
                </a:ext>
              </a:extLst>
            </p:cNvPr>
            <p:cNvSpPr txBox="1"/>
            <p:nvPr/>
          </p:nvSpPr>
          <p:spPr>
            <a:xfrm>
              <a:off x="7372984" y="689239"/>
              <a:ext cx="1648413" cy="93235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b="1" kern="1200" dirty="0">
                  <a:solidFill>
                    <a:sysClr val="windowText" lastClr="000000"/>
                  </a:solidFill>
                  <a:latin typeface="Arial" panose="020B0604020202020204" pitchFamily="34" charset="0"/>
                  <a:cs typeface="Arial" panose="020B0604020202020204" pitchFamily="34" charset="0"/>
                </a:rPr>
                <a:t>II.3.2. Acceso a la justicia plural </a:t>
              </a:r>
              <a:endParaRPr lang="es-BO" sz="1800" kern="1200" dirty="0"/>
            </a:p>
          </p:txBody>
        </p:sp>
      </p:grpSp>
    </p:spTree>
    <p:extLst>
      <p:ext uri="{BB962C8B-B14F-4D97-AF65-F5344CB8AC3E}">
        <p14:creationId xmlns:p14="http://schemas.microsoft.com/office/powerpoint/2010/main" val="2085772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2" descr="Convenio 169 de la OIT">
            <a:extLst>
              <a:ext uri="{FF2B5EF4-FFF2-40B4-BE49-F238E27FC236}">
                <a16:creationId xmlns:a16="http://schemas.microsoft.com/office/drawing/2014/main" id="{26332425-A373-4230-BB63-24A64A98D5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BO"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21" name="AutoShape 4" descr="72 años de la Declaración Universal de Derechos Humanos – COPROFAM">
            <a:extLst>
              <a:ext uri="{FF2B5EF4-FFF2-40B4-BE49-F238E27FC236}">
                <a16:creationId xmlns:a16="http://schemas.microsoft.com/office/drawing/2014/main" id="{C41EF523-BD46-48CD-A969-BC07D23672F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BO"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30" name="CuadroTexto 29">
            <a:extLst>
              <a:ext uri="{FF2B5EF4-FFF2-40B4-BE49-F238E27FC236}">
                <a16:creationId xmlns:a16="http://schemas.microsoft.com/office/drawing/2014/main" id="{17837942-478D-4BF6-BF4B-CF69C3922E90}"/>
              </a:ext>
            </a:extLst>
          </p:cNvPr>
          <p:cNvSpPr txBox="1"/>
          <p:nvPr/>
        </p:nvSpPr>
        <p:spPr>
          <a:xfrm>
            <a:off x="3940963" y="1598474"/>
            <a:ext cx="4078015" cy="1169551"/>
          </a:xfrm>
          <a:prstGeom prst="rect">
            <a:avLst/>
          </a:prstGeom>
          <a:noFill/>
        </p:spPr>
        <p:txBody>
          <a:bodyPr wrap="square">
            <a:spAutoFit/>
          </a:bodyPr>
          <a:lstStyle/>
          <a:p>
            <a:pPr algn="just"/>
            <a:r>
              <a:rPr lang="es-BO" sz="1400" b="0" i="0" u="none" strike="noStrike" baseline="0" dirty="0">
                <a:solidFill>
                  <a:srgbClr val="FF0000"/>
                </a:solidFill>
                <a:latin typeface="Arial Black" panose="020B0A04020102020204" pitchFamily="34" charset="0"/>
              </a:rPr>
              <a:t>   Artículo 35                             </a:t>
            </a:r>
            <a:r>
              <a:rPr lang="es-BO" sz="1400" b="1" i="0" dirty="0">
                <a:solidFill>
                  <a:srgbClr val="FF0000"/>
                </a:solidFill>
                <a:effectLst/>
                <a:latin typeface="Arial Black" panose="020B0A04020102020204" pitchFamily="34" charset="0"/>
              </a:rPr>
              <a:t>DNUDPI</a:t>
            </a:r>
            <a:endParaRPr lang="es-BO" sz="1400" b="0" i="0" u="none" strike="noStrike" baseline="0" dirty="0">
              <a:solidFill>
                <a:srgbClr val="FF0000"/>
              </a:solidFill>
              <a:latin typeface="Arial Black" panose="020B0A04020102020204" pitchFamily="34" charset="0"/>
            </a:endParaRPr>
          </a:p>
          <a:p>
            <a:pPr algn="ctr"/>
            <a:r>
              <a:rPr lang="es-MX" sz="1400" b="0" i="0" u="none" strike="noStrike" baseline="0" dirty="0">
                <a:latin typeface="Arial Black" panose="020B0A04020102020204" pitchFamily="34" charset="0"/>
              </a:rPr>
              <a:t>Los pueblos indígenas tienen derecho</a:t>
            </a:r>
          </a:p>
          <a:p>
            <a:pPr algn="ctr"/>
            <a:r>
              <a:rPr lang="es-MX" sz="1400" b="0" i="0" u="none" strike="noStrike" baseline="0" dirty="0">
                <a:latin typeface="Arial Black" panose="020B0A04020102020204" pitchFamily="34" charset="0"/>
              </a:rPr>
              <a:t> a determinar las responsabilidades de los individuos para con sus comunidades.</a:t>
            </a:r>
            <a:endParaRPr lang="es-BO" sz="1400" dirty="0">
              <a:latin typeface="Arial Black" panose="020B0A04020102020204" pitchFamily="34" charset="0"/>
            </a:endParaRPr>
          </a:p>
        </p:txBody>
      </p:sp>
      <p:pic>
        <p:nvPicPr>
          <p:cNvPr id="9" name="Imagen 8">
            <a:extLst>
              <a:ext uri="{FF2B5EF4-FFF2-40B4-BE49-F238E27FC236}">
                <a16:creationId xmlns:a16="http://schemas.microsoft.com/office/drawing/2014/main" id="{6CD58141-7B01-4782-AD13-D5DDECE8EADB}"/>
              </a:ext>
            </a:extLst>
          </p:cNvPr>
          <p:cNvPicPr>
            <a:picLocks noChangeAspect="1"/>
          </p:cNvPicPr>
          <p:nvPr/>
        </p:nvPicPr>
        <p:blipFill>
          <a:blip r:embed="rId2"/>
          <a:stretch>
            <a:fillRect/>
          </a:stretch>
        </p:blipFill>
        <p:spPr>
          <a:xfrm>
            <a:off x="5472014" y="779593"/>
            <a:ext cx="1247971" cy="1038697"/>
          </a:xfrm>
          <a:prstGeom prst="rect">
            <a:avLst/>
          </a:prstGeom>
        </p:spPr>
      </p:pic>
      <p:sp>
        <p:nvSpPr>
          <p:cNvPr id="31" name="CuadroTexto 30">
            <a:extLst>
              <a:ext uri="{FF2B5EF4-FFF2-40B4-BE49-F238E27FC236}">
                <a16:creationId xmlns:a16="http://schemas.microsoft.com/office/drawing/2014/main" id="{C6882517-C0E6-4B55-B8E9-50A7FB18262F}"/>
              </a:ext>
            </a:extLst>
          </p:cNvPr>
          <p:cNvSpPr txBox="1"/>
          <p:nvPr/>
        </p:nvSpPr>
        <p:spPr>
          <a:xfrm>
            <a:off x="3888827" y="2623051"/>
            <a:ext cx="4719145" cy="1815882"/>
          </a:xfrm>
          <a:prstGeom prst="rect">
            <a:avLst/>
          </a:prstGeom>
          <a:noFill/>
        </p:spPr>
        <p:txBody>
          <a:bodyPr wrap="square">
            <a:spAutoFit/>
          </a:bodyPr>
          <a:lstStyle/>
          <a:p>
            <a:r>
              <a:rPr lang="es-MX" sz="1400" b="1" i="0" dirty="0">
                <a:solidFill>
                  <a:srgbClr val="FF0000"/>
                </a:solidFill>
                <a:effectLst/>
                <a:latin typeface="Arial Black" panose="020B0A04020102020204" pitchFamily="34" charset="0"/>
              </a:rPr>
              <a:t>Artículo 10                          Declaración DDHH</a:t>
            </a:r>
          </a:p>
          <a:p>
            <a:pPr algn="ctr"/>
            <a:r>
              <a:rPr lang="es-MX" sz="1400" b="0" i="0" dirty="0">
                <a:solidFill>
                  <a:srgbClr val="454545"/>
                </a:solidFill>
                <a:effectLst/>
                <a:latin typeface="Arial Black" panose="020B0A04020102020204" pitchFamily="34" charset="0"/>
              </a:rPr>
              <a:t>Toda persona tiene derecho, en condiciones de plena igualdad, a ser oída públicamente y con justicia por un </a:t>
            </a:r>
          </a:p>
          <a:p>
            <a:pPr algn="ctr"/>
            <a:r>
              <a:rPr lang="es-MX" sz="1400" b="0" i="1" u="sng" dirty="0">
                <a:solidFill>
                  <a:schemeClr val="accent2">
                    <a:lumMod val="50000"/>
                  </a:schemeClr>
                </a:solidFill>
                <a:effectLst/>
                <a:latin typeface="Arial Black" panose="020B0A04020102020204" pitchFamily="34" charset="0"/>
              </a:rPr>
              <a:t>tribunal independiente e imparcial</a:t>
            </a:r>
            <a:r>
              <a:rPr lang="es-MX" sz="1400" b="0" i="1" u="sng" dirty="0">
                <a:solidFill>
                  <a:srgbClr val="454545"/>
                </a:solidFill>
                <a:effectLst/>
                <a:latin typeface="Arial Black" panose="020B0A04020102020204" pitchFamily="34" charset="0"/>
              </a:rPr>
              <a:t>,</a:t>
            </a:r>
            <a:r>
              <a:rPr lang="es-MX" sz="1400" b="0" i="0" dirty="0">
                <a:solidFill>
                  <a:srgbClr val="454545"/>
                </a:solidFill>
                <a:effectLst/>
                <a:latin typeface="Arial Black" panose="020B0A04020102020204" pitchFamily="34" charset="0"/>
              </a:rPr>
              <a:t> </a:t>
            </a:r>
          </a:p>
          <a:p>
            <a:pPr algn="ctr"/>
            <a:r>
              <a:rPr lang="es-MX" sz="1400" b="0" i="0" dirty="0">
                <a:solidFill>
                  <a:srgbClr val="454545"/>
                </a:solidFill>
                <a:effectLst/>
                <a:latin typeface="Arial Black" panose="020B0A04020102020204" pitchFamily="34" charset="0"/>
              </a:rPr>
              <a:t>para la determinación de sus derechos y obligaciones o para el examen de cualquier acusación contra ella en materia penal.</a:t>
            </a:r>
          </a:p>
        </p:txBody>
      </p:sp>
      <p:sp>
        <p:nvSpPr>
          <p:cNvPr id="34" name="CuadroTexto 33">
            <a:extLst>
              <a:ext uri="{FF2B5EF4-FFF2-40B4-BE49-F238E27FC236}">
                <a16:creationId xmlns:a16="http://schemas.microsoft.com/office/drawing/2014/main" id="{EBB4D44C-446E-4277-B7A2-60FF2157CFEE}"/>
              </a:ext>
            </a:extLst>
          </p:cNvPr>
          <p:cNvSpPr txBox="1"/>
          <p:nvPr/>
        </p:nvSpPr>
        <p:spPr>
          <a:xfrm>
            <a:off x="4291191" y="4316351"/>
            <a:ext cx="3914415" cy="1384995"/>
          </a:xfrm>
          <a:prstGeom prst="rect">
            <a:avLst/>
          </a:prstGeom>
          <a:noFill/>
        </p:spPr>
        <p:txBody>
          <a:bodyPr wrap="square">
            <a:spAutoFit/>
          </a:bodyPr>
          <a:lstStyle/>
          <a:p>
            <a:pPr algn="ctr"/>
            <a:r>
              <a:rPr lang="es-MX" sz="1400" b="1" i="0" dirty="0">
                <a:solidFill>
                  <a:srgbClr val="FF0000"/>
                </a:solidFill>
                <a:effectLst/>
                <a:latin typeface="Arial Black" panose="020B0A04020102020204" pitchFamily="34" charset="0"/>
              </a:rPr>
              <a:t>Artículo 29</a:t>
            </a:r>
          </a:p>
          <a:p>
            <a:pPr algn="ctr"/>
            <a:r>
              <a:rPr lang="es-MX" sz="1400" b="0" i="0" dirty="0">
                <a:solidFill>
                  <a:srgbClr val="454545"/>
                </a:solidFill>
                <a:effectLst/>
                <a:latin typeface="Arial Black" panose="020B0A04020102020204" pitchFamily="34" charset="0"/>
              </a:rPr>
              <a:t>1.Toda persona tiene deberes respecto a la comunidad, puesto que sólo en ella puede desarrollar            libre y plenamente </a:t>
            </a:r>
          </a:p>
          <a:p>
            <a:pPr algn="just"/>
            <a:r>
              <a:rPr lang="es-MX" sz="1400" dirty="0">
                <a:solidFill>
                  <a:srgbClr val="454545"/>
                </a:solidFill>
                <a:latin typeface="Arial Black" panose="020B0A04020102020204" pitchFamily="34" charset="0"/>
              </a:rPr>
              <a:t>               </a:t>
            </a:r>
            <a:r>
              <a:rPr lang="es-MX" sz="1400" b="0" i="0" dirty="0">
                <a:solidFill>
                  <a:srgbClr val="454545"/>
                </a:solidFill>
                <a:effectLst/>
                <a:latin typeface="Arial Black" panose="020B0A04020102020204" pitchFamily="34" charset="0"/>
              </a:rPr>
              <a:t>su personalidad.</a:t>
            </a:r>
          </a:p>
        </p:txBody>
      </p:sp>
    </p:spTree>
    <p:extLst>
      <p:ext uri="{BB962C8B-B14F-4D97-AF65-F5344CB8AC3E}">
        <p14:creationId xmlns:p14="http://schemas.microsoft.com/office/powerpoint/2010/main" val="495746816"/>
      </p:ext>
    </p:extLst>
  </p:cSld>
  <p:clrMapOvr>
    <a:masterClrMapping/>
  </p:clrMapOvr>
</p:sld>
</file>

<file path=ppt/theme/_rels/theme5.xml.rels><?xml version="1.0" encoding="UTF-8" standalone="yes"?>
<Relationships xmlns="http://schemas.openxmlformats.org/package/2006/relationships"><Relationship Id="rId1" Type="http://schemas.openxmlformats.org/officeDocument/2006/relationships/image" Target="../media/image2.jpeg"/></Relationships>
</file>

<file path=ppt/theme/_rels/theme9.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2_Distintivo">
  <a:themeElements>
    <a:clrScheme name="Distintivo">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Distintivo">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stintivo">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Galería">
  <a:themeElements>
    <a:clrScheme name="Galería">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ía">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4.xml><?xml version="1.0" encoding="utf-8"?>
<a:theme xmlns:a="http://schemas.openxmlformats.org/drawingml/2006/main" name="Recorte">
  <a:themeElements>
    <a:clrScheme name="Recorte">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Recort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cort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ppt/theme/theme5.xml><?xml version="1.0" encoding="utf-8"?>
<a:theme xmlns:a="http://schemas.openxmlformats.org/drawingml/2006/main" name="Letras en madera">
  <a:themeElements>
    <a:clrScheme name="Letras en madera">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Letras en madera">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Borde con banda">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17779" dir="5400000" rotWithShape="0">
              <a:srgbClr val="000000">
                <a:alpha val="4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6.xml><?xml version="1.0" encoding="utf-8"?>
<a:theme xmlns:a="http://schemas.openxmlformats.org/drawingml/2006/main" name="Base">
  <a:themeElements>
    <a:clrScheme name="Base">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e">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e">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7.xml><?xml version="1.0" encoding="utf-8"?>
<a:theme xmlns:a="http://schemas.openxmlformats.org/drawingml/2006/main" name="1_Base">
  <a:themeElements>
    <a:clrScheme name="Base">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Base">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e">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D9D01AC2-EE7D-4E49-99EE-8E62E4E7E8A7}"/>
    </a:ext>
  </a:extLst>
</a:theme>
</file>

<file path=ppt/theme/theme8.xml><?xml version="1.0" encoding="utf-8"?>
<a:theme xmlns:a="http://schemas.openxmlformats.org/drawingml/2006/main" name="Sector">
  <a:themeElements>
    <a:clrScheme name="Secto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o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9.xml><?xml version="1.0" encoding="utf-8"?>
<a:theme xmlns:a="http://schemas.openxmlformats.org/drawingml/2006/main" name="Con bandas">
  <a:themeElements>
    <a:clrScheme name="Con bandas">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Con banda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Con bandas">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10.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3340</TotalTime>
  <Words>5289</Words>
  <Application>Microsoft Office PowerPoint</Application>
  <PresentationFormat>Panorámica</PresentationFormat>
  <Paragraphs>223</Paragraphs>
  <Slides>22</Slides>
  <Notes>2</Notes>
  <HiddenSlides>0</HiddenSlides>
  <MMClips>0</MMClips>
  <ScaleCrop>false</ScaleCrop>
  <HeadingPairs>
    <vt:vector size="6" baseType="variant">
      <vt:variant>
        <vt:lpstr>Fuentes usadas</vt:lpstr>
      </vt:variant>
      <vt:variant>
        <vt:i4>19</vt:i4>
      </vt:variant>
      <vt:variant>
        <vt:lpstr>Tema</vt:lpstr>
      </vt:variant>
      <vt:variant>
        <vt:i4>9</vt:i4>
      </vt:variant>
      <vt:variant>
        <vt:lpstr>Títulos de diapositiva</vt:lpstr>
      </vt:variant>
      <vt:variant>
        <vt:i4>22</vt:i4>
      </vt:variant>
    </vt:vector>
  </HeadingPairs>
  <TitlesOfParts>
    <vt:vector size="50" baseType="lpstr">
      <vt:lpstr>Arial</vt:lpstr>
      <vt:lpstr>Arial</vt:lpstr>
      <vt:lpstr>Arial Black</vt:lpstr>
      <vt:lpstr>Calibri</vt:lpstr>
      <vt:lpstr>Calibri Light</vt:lpstr>
      <vt:lpstr>Cambria</vt:lpstr>
      <vt:lpstr>Century Gothic</vt:lpstr>
      <vt:lpstr>Corbel</vt:lpstr>
      <vt:lpstr>Franklin Gothic Book</vt:lpstr>
      <vt:lpstr>Gill Sans MT</vt:lpstr>
      <vt:lpstr>Impact</vt:lpstr>
      <vt:lpstr>Open Sans</vt:lpstr>
      <vt:lpstr>Rockwell</vt:lpstr>
      <vt:lpstr>Rockwell Condensed</vt:lpstr>
      <vt:lpstr>Symbol</vt:lpstr>
      <vt:lpstr>Times New Roman</vt:lpstr>
      <vt:lpstr>Trebuchet MS</vt:lpstr>
      <vt:lpstr>Wingdings</vt:lpstr>
      <vt:lpstr>Wingdings 3</vt:lpstr>
      <vt:lpstr>2_Distintivo</vt:lpstr>
      <vt:lpstr>Tema de Office</vt:lpstr>
      <vt:lpstr>Galería</vt:lpstr>
      <vt:lpstr>Recorte</vt:lpstr>
      <vt:lpstr>Letras en madera</vt:lpstr>
      <vt:lpstr>Base</vt:lpstr>
      <vt:lpstr>1_Base</vt:lpstr>
      <vt:lpstr>Sector</vt:lpstr>
      <vt:lpstr>Con bandas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RENE ALARCON AYALA</dc:creator>
  <cp:lastModifiedBy>RENE ALARCON AYALA</cp:lastModifiedBy>
  <cp:revision>247</cp:revision>
  <dcterms:created xsi:type="dcterms:W3CDTF">2026-04-11T00:21:42Z</dcterms:created>
  <dcterms:modified xsi:type="dcterms:W3CDTF">2026-05-09T17:06:35Z</dcterms:modified>
</cp:coreProperties>
</file>